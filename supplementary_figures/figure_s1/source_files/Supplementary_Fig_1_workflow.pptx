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4.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6858000" cy="8820150"/>
  <p:notesSz cx="6858000" cy="9144000"/>
  <p:custDataLst>
    <p:tags r:id="rId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6FF"/>
    <a:srgbClr val="D2EFFA"/>
    <a:srgbClr val="0465CB"/>
    <a:srgbClr val="0076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330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2.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Reconstructed from the image supplied by the user: E:\可持续发展目标基金\定稿撰写\成图\llm流程图\ChatGPT Image 2026年9月13日 14_25_27.png</a:t>
            </a:r>
          </a:p>
          <a:p>
            <a:r>
              <a:t>All body text and headings have been retyped as editable Times New Roman text. Layout frames, arrows and basic symbols are native editable PowerPoint shapes. Detailed icons and institutional marks are cropped from the supplied source image. Source content and numerical values are retained as provided.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ct val="0"/>
        </a:spcBef>
        <a:buNone/>
        <a:defRPr sz="3005">
          <a:solidFill>
            <a:schemeClr val="tx1"/>
          </a:solidFill>
          <a:latin typeface="+mj-lt"/>
          <a:ea typeface="+mj-lt"/>
          <a:cs typeface="+mj-lt"/>
        </a:defRPr>
      </a:lvl1pPr>
    </p:titleStyle>
    <p:bodyStyle>
      <a:lvl1pPr marL="156210" indent="-156210" algn="l">
        <a:lnSpc>
          <a:spcPct val="90000"/>
        </a:lnSpc>
        <a:spcBef>
          <a:spcPts val="680"/>
        </a:spcBef>
        <a:buChar char="•"/>
        <a:defRPr sz="1910">
          <a:solidFill>
            <a:schemeClr val="tx1"/>
          </a:solidFill>
          <a:latin typeface="+mn-lt"/>
          <a:ea typeface="+mn-lt"/>
          <a:cs typeface="+mn-lt"/>
        </a:defRPr>
      </a:lvl1pPr>
      <a:lvl2pPr marL="467995" indent="-156210" algn="l">
        <a:lnSpc>
          <a:spcPct val="90000"/>
        </a:lnSpc>
        <a:spcBef>
          <a:spcPts val="340"/>
        </a:spcBef>
        <a:buChar char="•"/>
        <a:defRPr sz="1640">
          <a:solidFill>
            <a:schemeClr val="tx1"/>
          </a:solidFill>
          <a:latin typeface="+mn-lt"/>
          <a:ea typeface="+mn-lt"/>
          <a:cs typeface="+mn-lt"/>
        </a:defRPr>
      </a:lvl2pPr>
      <a:lvl3pPr marL="779780" indent="-156210" algn="l">
        <a:lnSpc>
          <a:spcPct val="90000"/>
        </a:lnSpc>
        <a:spcBef>
          <a:spcPts val="340"/>
        </a:spcBef>
        <a:buChar char="•"/>
        <a:defRPr sz="1365">
          <a:solidFill>
            <a:schemeClr val="tx1"/>
          </a:solidFill>
          <a:latin typeface="+mn-lt"/>
          <a:ea typeface="+mn-lt"/>
          <a:cs typeface="+mn-lt"/>
        </a:defRPr>
      </a:lvl3pPr>
      <a:lvl4pPr marL="1092200" indent="-156210" algn="l">
        <a:lnSpc>
          <a:spcPct val="90000"/>
        </a:lnSpc>
        <a:spcBef>
          <a:spcPts val="340"/>
        </a:spcBef>
        <a:buChar char="•"/>
        <a:defRPr sz="1230">
          <a:solidFill>
            <a:schemeClr val="tx1"/>
          </a:solidFill>
          <a:latin typeface="+mn-lt"/>
          <a:ea typeface="+mn-lt"/>
          <a:cs typeface="+mn-lt"/>
        </a:defRPr>
      </a:lvl4pPr>
      <a:lvl5pPr marL="1403985" indent="-156210" algn="l">
        <a:lnSpc>
          <a:spcPct val="90000"/>
        </a:lnSpc>
        <a:spcBef>
          <a:spcPts val="340"/>
        </a:spcBef>
        <a:buChar char="•"/>
        <a:defRPr sz="1230">
          <a:solidFill>
            <a:schemeClr val="tx1"/>
          </a:solidFill>
          <a:latin typeface="+mn-lt"/>
          <a:ea typeface="+mn-lt"/>
          <a:cs typeface="+mn-lt"/>
        </a:defRPr>
      </a:lvl5pPr>
      <a:lvl6pPr marL="1716405" indent="-156210" algn="l">
        <a:lnSpc>
          <a:spcPct val="90000"/>
        </a:lnSpc>
        <a:spcBef>
          <a:spcPts val="340"/>
        </a:spcBef>
        <a:buChar char="•"/>
        <a:defRPr sz="1230">
          <a:solidFill>
            <a:schemeClr val="tx1"/>
          </a:solidFill>
          <a:latin typeface="+mn-lt"/>
          <a:ea typeface="+mn-lt"/>
          <a:cs typeface="+mn-lt"/>
        </a:defRPr>
      </a:lvl6pPr>
      <a:lvl7pPr marL="2028190" indent="-156210" algn="l">
        <a:lnSpc>
          <a:spcPct val="90000"/>
        </a:lnSpc>
        <a:spcBef>
          <a:spcPts val="340"/>
        </a:spcBef>
        <a:buChar char="•"/>
        <a:defRPr sz="1230">
          <a:solidFill>
            <a:schemeClr val="tx1"/>
          </a:solidFill>
          <a:latin typeface="+mn-lt"/>
          <a:ea typeface="+mn-lt"/>
          <a:cs typeface="+mn-lt"/>
        </a:defRPr>
      </a:lvl7pPr>
      <a:lvl8pPr marL="2339975" indent="-156210" algn="l">
        <a:lnSpc>
          <a:spcPct val="90000"/>
        </a:lnSpc>
        <a:spcBef>
          <a:spcPts val="340"/>
        </a:spcBef>
        <a:buChar char="•"/>
        <a:defRPr sz="1230">
          <a:solidFill>
            <a:schemeClr val="tx1"/>
          </a:solidFill>
          <a:latin typeface="+mn-lt"/>
          <a:ea typeface="+mn-lt"/>
          <a:cs typeface="+mn-lt"/>
        </a:defRPr>
      </a:lvl8pPr>
      <a:lvl9pPr marL="2652395" indent="-156210" algn="l">
        <a:lnSpc>
          <a:spcPct val="90000"/>
        </a:lnSpc>
        <a:spcBef>
          <a:spcPts val="340"/>
        </a:spcBef>
        <a:buChar char="•"/>
        <a:defRPr sz="1230">
          <a:solidFill>
            <a:schemeClr val="tx1"/>
          </a:solidFill>
          <a:latin typeface="+mn-lt"/>
          <a:ea typeface="+mn-lt"/>
          <a:cs typeface="+mn-lt"/>
        </a:defRPr>
      </a:lvl9pPr>
    </p:bodyStyle>
    <p:otherStyle>
      <a:lvl1pPr marL="0" algn="l">
        <a:buNone/>
        <a:defRPr sz="1230">
          <a:solidFill>
            <a:schemeClr val="tx1"/>
          </a:solidFill>
          <a:latin typeface="+mn-lt"/>
          <a:ea typeface="+mn-lt"/>
          <a:cs typeface="+mn-lt"/>
        </a:defRPr>
      </a:lvl1pPr>
      <a:lvl2pPr marL="311785" algn="l">
        <a:buNone/>
        <a:defRPr sz="1230">
          <a:solidFill>
            <a:schemeClr val="tx1"/>
          </a:solidFill>
          <a:latin typeface="+mn-lt"/>
          <a:ea typeface="+mn-lt"/>
          <a:cs typeface="+mn-lt"/>
        </a:defRPr>
      </a:lvl2pPr>
      <a:lvl3pPr marL="624205" algn="l">
        <a:buNone/>
        <a:defRPr sz="1230">
          <a:solidFill>
            <a:schemeClr val="tx1"/>
          </a:solidFill>
          <a:latin typeface="+mn-lt"/>
          <a:ea typeface="+mn-lt"/>
          <a:cs typeface="+mn-lt"/>
        </a:defRPr>
      </a:lvl3pPr>
      <a:lvl4pPr marL="935990" algn="l">
        <a:buNone/>
        <a:defRPr sz="1230">
          <a:solidFill>
            <a:schemeClr val="tx1"/>
          </a:solidFill>
          <a:latin typeface="+mn-lt"/>
          <a:ea typeface="+mn-lt"/>
          <a:cs typeface="+mn-lt"/>
        </a:defRPr>
      </a:lvl4pPr>
      <a:lvl5pPr marL="1247775" algn="l">
        <a:buNone/>
        <a:defRPr sz="1230">
          <a:solidFill>
            <a:schemeClr val="tx1"/>
          </a:solidFill>
          <a:latin typeface="+mn-lt"/>
          <a:ea typeface="+mn-lt"/>
          <a:cs typeface="+mn-lt"/>
        </a:defRPr>
      </a:lvl5pPr>
      <a:lvl6pPr marL="1560195" algn="l">
        <a:buNone/>
        <a:defRPr sz="1230">
          <a:solidFill>
            <a:schemeClr val="tx1"/>
          </a:solidFill>
          <a:latin typeface="+mn-lt"/>
          <a:ea typeface="+mn-lt"/>
          <a:cs typeface="+mn-lt"/>
        </a:defRPr>
      </a:lvl6pPr>
      <a:lvl7pPr marL="1871980" algn="l">
        <a:buNone/>
        <a:defRPr sz="1230">
          <a:solidFill>
            <a:schemeClr val="tx1"/>
          </a:solidFill>
          <a:latin typeface="+mn-lt"/>
          <a:ea typeface="+mn-lt"/>
          <a:cs typeface="+mn-lt"/>
        </a:defRPr>
      </a:lvl7pPr>
      <a:lvl8pPr marL="2184400" algn="l">
        <a:buNone/>
        <a:defRPr sz="1230">
          <a:solidFill>
            <a:schemeClr val="tx1"/>
          </a:solidFill>
          <a:latin typeface="+mn-lt"/>
          <a:ea typeface="+mn-lt"/>
          <a:cs typeface="+mn-lt"/>
        </a:defRPr>
      </a:lvl8pPr>
      <a:lvl9pPr marL="2496185" algn="l">
        <a:buNone/>
        <a:defRPr sz="123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9" Type="http://schemas.openxmlformats.org/officeDocument/2006/relationships/image" Target="../media/image98.png"/><Relationship Id="rId98" Type="http://schemas.openxmlformats.org/officeDocument/2006/relationships/image" Target="../media/image97.svg"/><Relationship Id="rId97" Type="http://schemas.openxmlformats.org/officeDocument/2006/relationships/image" Target="../media/image96.png"/><Relationship Id="rId96" Type="http://schemas.openxmlformats.org/officeDocument/2006/relationships/image" Target="../media/image95.svg"/><Relationship Id="rId95" Type="http://schemas.openxmlformats.org/officeDocument/2006/relationships/image" Target="../media/image94.png"/><Relationship Id="rId94" Type="http://schemas.openxmlformats.org/officeDocument/2006/relationships/image" Target="../media/image93.svg"/><Relationship Id="rId93" Type="http://schemas.openxmlformats.org/officeDocument/2006/relationships/image" Target="../media/image92.png"/><Relationship Id="rId92" Type="http://schemas.openxmlformats.org/officeDocument/2006/relationships/image" Target="../media/image91.svg"/><Relationship Id="rId91" Type="http://schemas.openxmlformats.org/officeDocument/2006/relationships/image" Target="../media/image90.png"/><Relationship Id="rId90" Type="http://schemas.openxmlformats.org/officeDocument/2006/relationships/image" Target="../media/image89.svg"/><Relationship Id="rId9" Type="http://schemas.openxmlformats.org/officeDocument/2006/relationships/image" Target="../media/image9.png"/><Relationship Id="rId89" Type="http://schemas.openxmlformats.org/officeDocument/2006/relationships/image" Target="../media/image88.png"/><Relationship Id="rId88" Type="http://schemas.openxmlformats.org/officeDocument/2006/relationships/image" Target="../media/image87.svg"/><Relationship Id="rId87" Type="http://schemas.openxmlformats.org/officeDocument/2006/relationships/image" Target="../media/image86.png"/><Relationship Id="rId86" Type="http://schemas.openxmlformats.org/officeDocument/2006/relationships/image" Target="../media/image85.svg"/><Relationship Id="rId85" Type="http://schemas.openxmlformats.org/officeDocument/2006/relationships/image" Target="../media/image84.svg"/><Relationship Id="rId84" Type="http://schemas.openxmlformats.org/officeDocument/2006/relationships/image" Target="../media/image83.png"/><Relationship Id="rId83" Type="http://schemas.openxmlformats.org/officeDocument/2006/relationships/image" Target="../media/image82.svg"/><Relationship Id="rId82" Type="http://schemas.openxmlformats.org/officeDocument/2006/relationships/image" Target="../media/image81.svg"/><Relationship Id="rId81" Type="http://schemas.openxmlformats.org/officeDocument/2006/relationships/image" Target="../media/image80.png"/><Relationship Id="rId80" Type="http://schemas.openxmlformats.org/officeDocument/2006/relationships/image" Target="../media/image79.svg"/><Relationship Id="rId8" Type="http://schemas.openxmlformats.org/officeDocument/2006/relationships/image" Target="../media/image8.svg"/><Relationship Id="rId79" Type="http://schemas.openxmlformats.org/officeDocument/2006/relationships/image" Target="../media/image78.png"/><Relationship Id="rId78" Type="http://schemas.openxmlformats.org/officeDocument/2006/relationships/image" Target="../media/image77.svg"/><Relationship Id="rId77" Type="http://schemas.openxmlformats.org/officeDocument/2006/relationships/image" Target="../media/image76.png"/><Relationship Id="rId76" Type="http://schemas.openxmlformats.org/officeDocument/2006/relationships/image" Target="../media/image75.svg"/><Relationship Id="rId75" Type="http://schemas.openxmlformats.org/officeDocument/2006/relationships/image" Target="../media/image74.png"/><Relationship Id="rId74" Type="http://schemas.openxmlformats.org/officeDocument/2006/relationships/image" Target="../media/image73.svg"/><Relationship Id="rId73" Type="http://schemas.openxmlformats.org/officeDocument/2006/relationships/image" Target="../media/image72.png"/><Relationship Id="rId72" Type="http://schemas.openxmlformats.org/officeDocument/2006/relationships/image" Target="../media/image71.svg"/><Relationship Id="rId71" Type="http://schemas.openxmlformats.org/officeDocument/2006/relationships/image" Target="../media/image70.png"/><Relationship Id="rId70" Type="http://schemas.openxmlformats.org/officeDocument/2006/relationships/image" Target="../media/image69.svg"/><Relationship Id="rId7" Type="http://schemas.openxmlformats.org/officeDocument/2006/relationships/image" Target="../media/image7.png"/><Relationship Id="rId69" Type="http://schemas.openxmlformats.org/officeDocument/2006/relationships/image" Target="../media/image68.png"/><Relationship Id="rId68" Type="http://schemas.openxmlformats.org/officeDocument/2006/relationships/image" Target="../media/image67.svg"/><Relationship Id="rId67" Type="http://schemas.openxmlformats.org/officeDocument/2006/relationships/image" Target="../media/image66.png"/><Relationship Id="rId66" Type="http://schemas.openxmlformats.org/officeDocument/2006/relationships/image" Target="../media/image65.svg"/><Relationship Id="rId65" Type="http://schemas.openxmlformats.org/officeDocument/2006/relationships/image" Target="../media/image64.png"/><Relationship Id="rId64" Type="http://schemas.openxmlformats.org/officeDocument/2006/relationships/image" Target="../media/image63.svg"/><Relationship Id="rId63" Type="http://schemas.openxmlformats.org/officeDocument/2006/relationships/image" Target="../media/image62.png"/><Relationship Id="rId62" Type="http://schemas.openxmlformats.org/officeDocument/2006/relationships/image" Target="../media/image61.svg"/><Relationship Id="rId61" Type="http://schemas.openxmlformats.org/officeDocument/2006/relationships/image" Target="../media/image60.png"/><Relationship Id="rId60" Type="http://schemas.openxmlformats.org/officeDocument/2006/relationships/image" Target="../media/image59.svg"/><Relationship Id="rId6" Type="http://schemas.openxmlformats.org/officeDocument/2006/relationships/image" Target="../media/image6.png"/><Relationship Id="rId59" Type="http://schemas.openxmlformats.org/officeDocument/2006/relationships/image" Target="../media/image58.png"/><Relationship Id="rId58" Type="http://schemas.openxmlformats.org/officeDocument/2006/relationships/image" Target="../media/image57.svg"/><Relationship Id="rId57" Type="http://schemas.openxmlformats.org/officeDocument/2006/relationships/image" Target="../media/image56.png"/><Relationship Id="rId56" Type="http://schemas.openxmlformats.org/officeDocument/2006/relationships/image" Target="../media/image55.svg"/><Relationship Id="rId55" Type="http://schemas.openxmlformats.org/officeDocument/2006/relationships/image" Target="../media/image54.png"/><Relationship Id="rId54" Type="http://schemas.openxmlformats.org/officeDocument/2006/relationships/image" Target="../media/image53.svg"/><Relationship Id="rId53" Type="http://schemas.openxmlformats.org/officeDocument/2006/relationships/image" Target="../media/image52.png"/><Relationship Id="rId52" Type="http://schemas.openxmlformats.org/officeDocument/2006/relationships/image" Target="../media/image51.svg"/><Relationship Id="rId51" Type="http://schemas.openxmlformats.org/officeDocument/2006/relationships/image" Target="../media/image50.png"/><Relationship Id="rId50" Type="http://schemas.openxmlformats.org/officeDocument/2006/relationships/image" Target="../media/image49.svg"/><Relationship Id="rId5" Type="http://schemas.openxmlformats.org/officeDocument/2006/relationships/image" Target="../media/image5.png"/><Relationship Id="rId49" Type="http://schemas.openxmlformats.org/officeDocument/2006/relationships/image" Target="../media/image48.png"/><Relationship Id="rId48" Type="http://schemas.openxmlformats.org/officeDocument/2006/relationships/image" Target="../media/image47.svg"/><Relationship Id="rId47" Type="http://schemas.openxmlformats.org/officeDocument/2006/relationships/image" Target="../media/image46.png"/><Relationship Id="rId46" Type="http://schemas.openxmlformats.org/officeDocument/2006/relationships/image" Target="../media/image45.svg"/><Relationship Id="rId45" Type="http://schemas.openxmlformats.org/officeDocument/2006/relationships/image" Target="../media/image44.png"/><Relationship Id="rId44" Type="http://schemas.openxmlformats.org/officeDocument/2006/relationships/image" Target="../media/image43.svg"/><Relationship Id="rId43" Type="http://schemas.openxmlformats.org/officeDocument/2006/relationships/image" Target="../media/image42.png"/><Relationship Id="rId42" Type="http://schemas.openxmlformats.org/officeDocument/2006/relationships/image" Target="../media/image41.svg"/><Relationship Id="rId41" Type="http://schemas.openxmlformats.org/officeDocument/2006/relationships/image" Target="../media/image40.png"/><Relationship Id="rId40" Type="http://schemas.openxmlformats.org/officeDocument/2006/relationships/image" Target="../media/image39.svg"/><Relationship Id="rId4" Type="http://schemas.openxmlformats.org/officeDocument/2006/relationships/image" Target="../media/image4.png"/><Relationship Id="rId39" Type="http://schemas.openxmlformats.org/officeDocument/2006/relationships/image" Target="../media/image38.png"/><Relationship Id="rId38" Type="http://schemas.openxmlformats.org/officeDocument/2006/relationships/image" Target="../media/image37.svg"/><Relationship Id="rId37" Type="http://schemas.openxmlformats.org/officeDocument/2006/relationships/image" Target="../media/image36.png"/><Relationship Id="rId36" Type="http://schemas.openxmlformats.org/officeDocument/2006/relationships/image" Target="../media/image35.svg"/><Relationship Id="rId35" Type="http://schemas.openxmlformats.org/officeDocument/2006/relationships/image" Target="../media/image34.png"/><Relationship Id="rId34" Type="http://schemas.openxmlformats.org/officeDocument/2006/relationships/image" Target="../media/image33.svg"/><Relationship Id="rId33" Type="http://schemas.openxmlformats.org/officeDocument/2006/relationships/image" Target="../media/image32.png"/><Relationship Id="rId32" Type="http://schemas.openxmlformats.org/officeDocument/2006/relationships/image" Target="../media/image31.svg"/><Relationship Id="rId31" Type="http://schemas.openxmlformats.org/officeDocument/2006/relationships/image" Target="../media/image30.png"/><Relationship Id="rId30" Type="http://schemas.openxmlformats.org/officeDocument/2006/relationships/image" Target="../media/image29.png"/><Relationship Id="rId3" Type="http://schemas.openxmlformats.org/officeDocument/2006/relationships/image" Target="../media/image3.png"/><Relationship Id="rId29" Type="http://schemas.openxmlformats.org/officeDocument/2006/relationships/tags" Target="../tags/tag1.xml"/><Relationship Id="rId28" Type="http://schemas.openxmlformats.org/officeDocument/2006/relationships/image" Target="../media/image28.svg"/><Relationship Id="rId27" Type="http://schemas.openxmlformats.org/officeDocument/2006/relationships/image" Target="../media/image27.png"/><Relationship Id="rId26" Type="http://schemas.openxmlformats.org/officeDocument/2006/relationships/image" Target="../media/image26.svg"/><Relationship Id="rId25" Type="http://schemas.openxmlformats.org/officeDocument/2006/relationships/image" Target="../media/image25.png"/><Relationship Id="rId24" Type="http://schemas.openxmlformats.org/officeDocument/2006/relationships/image" Target="../media/image24.svg"/><Relationship Id="rId23" Type="http://schemas.openxmlformats.org/officeDocument/2006/relationships/image" Target="../media/image23.svg"/><Relationship Id="rId22" Type="http://schemas.openxmlformats.org/officeDocument/2006/relationships/image" Target="../media/image22.png"/><Relationship Id="rId21" Type="http://schemas.openxmlformats.org/officeDocument/2006/relationships/image" Target="../media/image21.svg"/><Relationship Id="rId20" Type="http://schemas.openxmlformats.org/officeDocument/2006/relationships/image" Target="../media/image20.sv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svg"/><Relationship Id="rId17" Type="http://schemas.openxmlformats.org/officeDocument/2006/relationships/image" Target="../media/image17.png"/><Relationship Id="rId16" Type="http://schemas.openxmlformats.org/officeDocument/2006/relationships/image" Target="../media/image16.svg"/><Relationship Id="rId15" Type="http://schemas.openxmlformats.org/officeDocument/2006/relationships/image" Target="../media/image15.png"/><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2" Type="http://schemas.openxmlformats.org/officeDocument/2006/relationships/notesSlide" Target="../notesSlides/notesSlide1.xml"/><Relationship Id="rId101" Type="http://schemas.openxmlformats.org/officeDocument/2006/relationships/slideLayout" Target="../slideLayouts/slideLayout1.xml"/><Relationship Id="rId100" Type="http://schemas.openxmlformats.org/officeDocument/2006/relationships/image" Target="../media/image99.svg"/><Relationship Id="rId10" Type="http://schemas.openxmlformats.org/officeDocument/2006/relationships/image" Target="../media/image10.sv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shape-74-"/>
          <p:cNvSpPr>
            <a:spLocks noGrp="1"/>
          </p:cNvSpPr>
          <p:nvPr/>
        </p:nvSpPr>
        <p:spPr>
          <a:xfrm>
            <a:off x="1683385" y="2232660"/>
            <a:ext cx="784225" cy="706755"/>
          </a:xfrm>
          <a:prstGeom prst="roundRect">
            <a:avLst>
              <a:gd name="adj" fmla="val 4854"/>
            </a:avLst>
          </a:prstGeom>
          <a:solidFill>
            <a:schemeClr val="bg1">
              <a:lumMod val="95000"/>
            </a:schemeClr>
          </a:solidFill>
          <a:ln w="6668">
            <a:solidFill>
              <a:srgbClr val="CBD4DA"/>
            </a:solidFill>
            <a:prstDash val="solid"/>
          </a:ln>
        </p:spPr>
        <p:txBody>
          <a:bodyPr/>
          <a:lstStyle/>
          <a:p>
            <a:endParaRPr lang="zh-CN" altLang="en-US"/>
          </a:p>
        </p:txBody>
      </p:sp>
      <p:sp>
        <p:nvSpPr>
          <p:cNvPr id="123" name="shape-57-"/>
          <p:cNvSpPr>
            <a:spLocks noGrp="1"/>
          </p:cNvSpPr>
          <p:nvPr/>
        </p:nvSpPr>
        <p:spPr>
          <a:xfrm>
            <a:off x="53975" y="89535"/>
            <a:ext cx="6699250" cy="182880"/>
          </a:xfrm>
          <a:prstGeom prst="round2SameRect">
            <a:avLst/>
          </a:prstGeom>
          <a:solidFill>
            <a:schemeClr val="bg1">
              <a:lumMod val="95000"/>
            </a:schemeClr>
          </a:solidFill>
          <a:ln w="6668">
            <a:solidFill>
              <a:srgbClr val="E8EEF2"/>
            </a:solidFill>
            <a:prstDash val="solid"/>
          </a:ln>
        </p:spPr>
        <p:txBody>
          <a:bodyPr/>
          <a:lstStyle/>
          <a:p>
            <a:endParaRPr lang="zh-CN" altLang="en-US"/>
          </a:p>
        </p:txBody>
      </p:sp>
      <p:sp>
        <p:nvSpPr>
          <p:cNvPr id="5" name="path-4-"/>
          <p:cNvSpPr>
            <a:spLocks noGrp="1"/>
          </p:cNvSpPr>
          <p:nvPr/>
        </p:nvSpPr>
        <p:spPr>
          <a:xfrm>
            <a:off x="55880" y="268847"/>
            <a:ext cx="6705600" cy="78740"/>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7" name="text-6-1"/>
          <p:cNvSpPr>
            <a:spLocks noGrp="1"/>
          </p:cNvSpPr>
          <p:nvPr/>
        </p:nvSpPr>
        <p:spPr>
          <a:xfrm>
            <a:off x="94615" y="99302"/>
            <a:ext cx="154305" cy="154940"/>
          </a:xfrm>
          <a:prstGeom prst="rect">
            <a:avLst/>
          </a:prstGeom>
          <a:noFill/>
          <a:ln w="0">
            <a:noFill/>
          </a:ln>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1</a:t>
            </a:r>
            <a:endParaRPr lang="en-US" sz="1600" b="1">
              <a:solidFill>
                <a:srgbClr val="334B5C"/>
              </a:solidFill>
              <a:latin typeface="Times New Roman" panose="02020603050405020304"/>
              <a:ea typeface="Times New Roman" panose="02020603050405020304"/>
              <a:cs typeface="Times New Roman" panose="02020603050405020304"/>
            </a:endParaRPr>
          </a:p>
        </p:txBody>
      </p:sp>
      <p:sp>
        <p:nvSpPr>
          <p:cNvPr id="8" name="text-7-Public project data collection"/>
          <p:cNvSpPr>
            <a:spLocks noGrp="1"/>
          </p:cNvSpPr>
          <p:nvPr/>
        </p:nvSpPr>
        <p:spPr>
          <a:xfrm>
            <a:off x="321310" y="90412"/>
            <a:ext cx="2153920" cy="16383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200" b="1">
                <a:solidFill>
                  <a:srgbClr val="334B5C"/>
                </a:solidFill>
                <a:latin typeface="Times New Roman" panose="02020603050405020304"/>
                <a:ea typeface="Times New Roman" panose="02020603050405020304"/>
                <a:cs typeface="Times New Roman" panose="02020603050405020304"/>
              </a:rPr>
              <a:t>Public project data collection</a:t>
            </a:r>
            <a:endParaRPr sz="1200" b="1">
              <a:solidFill>
                <a:srgbClr val="334B5C"/>
              </a:solidFill>
              <a:latin typeface="Times New Roman" panose="02020603050405020304"/>
              <a:ea typeface="Times New Roman" panose="02020603050405020304"/>
              <a:cs typeface="Times New Roman" panose="02020603050405020304"/>
            </a:endParaRPr>
          </a:p>
        </p:txBody>
      </p:sp>
      <p:pic>
        <p:nvPicPr>
          <p:cNvPr id="357" name="图片 356"/>
          <p:cNvPicPr>
            <a:picLocks noChangeAspect="1"/>
          </p:cNvPicPr>
          <p:nvPr/>
        </p:nvPicPr>
        <p:blipFill>
          <a:blip r:embed="rId1"/>
          <a:stretch>
            <a:fillRect/>
          </a:stretch>
        </p:blipFill>
        <p:spPr>
          <a:xfrm>
            <a:off x="108107" y="306120"/>
            <a:ext cx="331269" cy="392115"/>
          </a:xfrm>
          <a:prstGeom prst="rect">
            <a:avLst/>
          </a:prstGeom>
        </p:spPr>
      </p:pic>
      <p:pic>
        <p:nvPicPr>
          <p:cNvPr id="358" name="图片 357"/>
          <p:cNvPicPr>
            <a:picLocks noChangeAspect="1"/>
          </p:cNvPicPr>
          <p:nvPr/>
        </p:nvPicPr>
        <p:blipFill>
          <a:blip r:embed="rId2"/>
          <a:stretch>
            <a:fillRect/>
          </a:stretch>
        </p:blipFill>
        <p:spPr>
          <a:xfrm>
            <a:off x="467054" y="326440"/>
            <a:ext cx="317748" cy="344791"/>
          </a:xfrm>
          <a:prstGeom prst="rect">
            <a:avLst/>
          </a:prstGeom>
        </p:spPr>
      </p:pic>
      <p:sp>
        <p:nvSpPr>
          <p:cNvPr id="11" name="text-10-NSF&#10;Award Search"/>
          <p:cNvSpPr>
            <a:spLocks noGrp="1"/>
          </p:cNvSpPr>
          <p:nvPr/>
        </p:nvSpPr>
        <p:spPr>
          <a:xfrm>
            <a:off x="805180" y="442202"/>
            <a:ext cx="459105" cy="195580"/>
          </a:xfrm>
          <a:prstGeom prst="rect">
            <a:avLst/>
          </a:prstGeom>
          <a:noFill/>
          <a:ln w="0">
            <a:noFill/>
          </a:ln>
        </p:spPr>
        <p:txBody>
          <a:bodyPr wrap="none" lIns="0" tIns="0" rIns="0" bIns="0" anchor="ctr">
            <a:noAutofit/>
          </a:bodyPr>
          <a:lstStyle/>
          <a:p>
            <a:pPr algn="l">
              <a:defRPr sz="1125" b="1">
                <a:solidFill>
                  <a:srgbClr val="080967"/>
                </a:solidFill>
                <a:latin typeface="Times New Roman" panose="02020603050405020304"/>
                <a:ea typeface="Times New Roman" panose="02020603050405020304"/>
                <a:cs typeface="Times New Roman" panose="02020603050405020304"/>
              </a:defRPr>
            </a:pPr>
            <a:endParaRPr sz="1250" b="1">
              <a:solidFill>
                <a:srgbClr val="080967"/>
              </a:solidFill>
              <a:latin typeface="Times New Roman" panose="02020603050405020304"/>
              <a:ea typeface="Times New Roman" panose="02020603050405020304"/>
              <a:cs typeface="Times New Roman" panose="02020603050405020304"/>
            </a:endParaRPr>
          </a:p>
        </p:txBody>
      </p:sp>
      <p:pic>
        <p:nvPicPr>
          <p:cNvPr id="360" name="图片 359"/>
          <p:cNvPicPr>
            <a:picLocks noChangeAspect="1"/>
          </p:cNvPicPr>
          <p:nvPr/>
        </p:nvPicPr>
        <p:blipFill>
          <a:blip r:embed="rId3"/>
          <a:stretch>
            <a:fillRect/>
          </a:stretch>
        </p:blipFill>
        <p:spPr>
          <a:xfrm>
            <a:off x="107248" y="830759"/>
            <a:ext cx="317748" cy="412397"/>
          </a:xfrm>
          <a:prstGeom prst="rect">
            <a:avLst/>
          </a:prstGeom>
        </p:spPr>
      </p:pic>
      <p:pic>
        <p:nvPicPr>
          <p:cNvPr id="361" name="图片 360"/>
          <p:cNvPicPr>
            <a:picLocks noChangeAspect="1"/>
          </p:cNvPicPr>
          <p:nvPr/>
        </p:nvPicPr>
        <p:blipFill>
          <a:blip r:embed="rId4"/>
          <a:stretch>
            <a:fillRect/>
          </a:stretch>
        </p:blipFill>
        <p:spPr>
          <a:xfrm>
            <a:off x="468100" y="874311"/>
            <a:ext cx="317748" cy="317748"/>
          </a:xfrm>
          <a:prstGeom prst="rect">
            <a:avLst/>
          </a:prstGeom>
        </p:spPr>
      </p:pic>
      <p:sp>
        <p:nvSpPr>
          <p:cNvPr id="16" name="shape-15-"/>
          <p:cNvSpPr>
            <a:spLocks noGrp="1"/>
          </p:cNvSpPr>
          <p:nvPr/>
        </p:nvSpPr>
        <p:spPr>
          <a:xfrm>
            <a:off x="1258570" y="314567"/>
            <a:ext cx="1209040" cy="415925"/>
          </a:xfrm>
          <a:prstGeom prst="roundRect">
            <a:avLst>
              <a:gd name="adj" fmla="val 9231"/>
            </a:avLst>
          </a:prstGeom>
          <a:noFill/>
          <a:ln w="6668">
            <a:solidFill>
              <a:srgbClr val="CBD4DA"/>
            </a:solidFill>
            <a:prstDash val="dash"/>
          </a:ln>
          <a:extLst>
            <a:ext uri="{909E8E84-426E-40DD-AFC4-6F175D3DCCD1}">
              <a14:hiddenFill xmlns:a14="http://schemas.microsoft.com/office/drawing/2010/main">
                <a:solidFill>
                  <a:srgbClr val="EAF2F7"/>
                </a:solidFill>
              </a14:hiddenFill>
            </a:ext>
          </a:extLst>
        </p:spPr>
        <p:txBody>
          <a:bodyPr/>
          <a:lstStyle/>
          <a:p>
            <a:endParaRPr lang="zh-CN" altLang="en-US"/>
          </a:p>
        </p:txBody>
      </p:sp>
      <p:sp>
        <p:nvSpPr>
          <p:cNvPr id="17" name="text-16-25,782"/>
          <p:cNvSpPr>
            <a:spLocks noGrp="1"/>
          </p:cNvSpPr>
          <p:nvPr/>
        </p:nvSpPr>
        <p:spPr>
          <a:xfrm>
            <a:off x="1636638" y="314849"/>
            <a:ext cx="784230" cy="155494"/>
          </a:xfrm>
          <a:prstGeom prst="rect">
            <a:avLst/>
          </a:prstGeom>
          <a:noFill/>
          <a:ln w="0">
            <a:noFill/>
          </a:ln>
        </p:spPr>
        <p:txBody>
          <a:bodyPr wrap="none" lIns="0" tIns="0" rIns="0" bIns="0" anchor="ctr">
            <a:noAutofit/>
          </a:bodyPr>
          <a:lstStyle/>
          <a:p>
            <a:pPr algn="l">
              <a:defRPr sz="1500" b="1">
                <a:solidFill>
                  <a:srgbClr val="080967"/>
                </a:solidFill>
                <a:latin typeface="Times New Roman" panose="02020603050405020304"/>
                <a:ea typeface="Times New Roman" panose="02020603050405020304"/>
                <a:cs typeface="Times New Roman" panose="02020603050405020304"/>
              </a:defRPr>
            </a:pPr>
            <a:r>
              <a:rPr sz="1000" b="1">
                <a:solidFill>
                  <a:srgbClr val="080967"/>
                </a:solidFill>
                <a:latin typeface="Times New Roman" panose="02020603050405020304"/>
                <a:ea typeface="Times New Roman" panose="02020603050405020304"/>
                <a:cs typeface="Times New Roman" panose="02020603050405020304"/>
              </a:rPr>
              <a:t>25,782</a:t>
            </a:r>
            <a:endParaRPr sz="1000" b="1">
              <a:solidFill>
                <a:srgbClr val="080967"/>
              </a:solidFill>
              <a:latin typeface="Times New Roman" panose="02020603050405020304"/>
              <a:ea typeface="Times New Roman" panose="02020603050405020304"/>
              <a:cs typeface="Times New Roman" panose="02020603050405020304"/>
            </a:endParaRPr>
          </a:p>
        </p:txBody>
      </p:sp>
      <p:sp>
        <p:nvSpPr>
          <p:cNvPr id="18" name="text-17-candidate records&#10;(2015–2025)"/>
          <p:cNvSpPr>
            <a:spLocks noGrp="1"/>
          </p:cNvSpPr>
          <p:nvPr/>
        </p:nvSpPr>
        <p:spPr>
          <a:xfrm>
            <a:off x="1433105" y="454794"/>
            <a:ext cx="851836" cy="256903"/>
          </a:xfrm>
          <a:prstGeom prst="rect">
            <a:avLst/>
          </a:prstGeom>
          <a:noFill/>
          <a:ln w="0">
            <a:noFill/>
          </a:ln>
        </p:spPr>
        <p:txBody>
          <a:bodyPr wrap="none" lIns="0" tIns="0" rIns="0" bIns="0" anchor="ctr">
            <a:noAutofit/>
          </a:bodyPr>
          <a:lstStyle/>
          <a:p>
            <a:pPr algn="ctr">
              <a:defRPr sz="1200"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candidate records</a:t>
            </a:r>
            <a:endParaRPr sz="800" b="0">
              <a:solidFill>
                <a:srgbClr val="080967"/>
              </a:solidFill>
              <a:latin typeface="Times New Roman" panose="02020603050405020304"/>
              <a:ea typeface="Times New Roman" panose="02020603050405020304"/>
              <a:cs typeface="Times New Roman" panose="02020603050405020304"/>
            </a:endParaRPr>
          </a:p>
          <a:p>
            <a:pPr algn="ctr">
              <a:defRPr sz="1200"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(2015–2025)</a:t>
            </a:r>
            <a:endParaRPr sz="800" b="0">
              <a:solidFill>
                <a:srgbClr val="080967"/>
              </a:solidFill>
              <a:latin typeface="Times New Roman" panose="02020603050405020304"/>
              <a:ea typeface="Times New Roman" panose="02020603050405020304"/>
              <a:cs typeface="Times New Roman" panose="02020603050405020304"/>
            </a:endParaRPr>
          </a:p>
        </p:txBody>
      </p:sp>
      <p:sp>
        <p:nvSpPr>
          <p:cNvPr id="19" name="shape-18-"/>
          <p:cNvSpPr>
            <a:spLocks noGrp="1"/>
          </p:cNvSpPr>
          <p:nvPr/>
        </p:nvSpPr>
        <p:spPr>
          <a:xfrm>
            <a:off x="1274445" y="828282"/>
            <a:ext cx="1193800" cy="446405"/>
          </a:xfrm>
          <a:prstGeom prst="roundRect">
            <a:avLst>
              <a:gd name="adj" fmla="val 9836"/>
            </a:avLst>
          </a:prstGeom>
          <a:noFill/>
          <a:ln w="6668">
            <a:solidFill>
              <a:srgbClr val="CBD4DA"/>
            </a:solidFill>
            <a:prstDash val="dash"/>
          </a:ln>
          <a:extLst>
            <a:ext uri="{909E8E84-426E-40DD-AFC4-6F175D3DCCD1}">
              <a14:hiddenFill xmlns:a14="http://schemas.microsoft.com/office/drawing/2010/main">
                <a:solidFill>
                  <a:srgbClr val="F7ECEA"/>
                </a:solidFill>
              </a14:hiddenFill>
            </a:ext>
          </a:extLst>
        </p:spPr>
        <p:txBody>
          <a:bodyPr/>
          <a:lstStyle/>
          <a:p>
            <a:endParaRPr lang="zh-CN" altLang="en-US"/>
          </a:p>
        </p:txBody>
      </p:sp>
      <p:sp>
        <p:nvSpPr>
          <p:cNvPr id="20" name="text-19-9,982"/>
          <p:cNvSpPr>
            <a:spLocks noGrp="1"/>
          </p:cNvSpPr>
          <p:nvPr/>
        </p:nvSpPr>
        <p:spPr>
          <a:xfrm>
            <a:off x="1710933" y="874311"/>
            <a:ext cx="784230" cy="155494"/>
          </a:xfrm>
          <a:prstGeom prst="rect">
            <a:avLst/>
          </a:prstGeom>
          <a:noFill/>
          <a:ln w="0">
            <a:noFill/>
          </a:ln>
        </p:spPr>
        <p:txBody>
          <a:bodyPr wrap="none" lIns="0" tIns="0" rIns="0" bIns="0" anchor="ctr">
            <a:noAutofit/>
          </a:bodyPr>
          <a:lstStyle/>
          <a:p>
            <a:pPr algn="l">
              <a:defRPr sz="1500" b="1">
                <a:solidFill>
                  <a:srgbClr val="080967"/>
                </a:solidFill>
                <a:latin typeface="Times New Roman" panose="02020603050405020304"/>
                <a:ea typeface="Times New Roman" panose="02020603050405020304"/>
                <a:cs typeface="Times New Roman" panose="02020603050405020304"/>
              </a:defRPr>
            </a:pPr>
            <a:r>
              <a:rPr sz="1000" b="1">
                <a:solidFill>
                  <a:srgbClr val="080967"/>
                </a:solidFill>
                <a:latin typeface="Times New Roman" panose="02020603050405020304"/>
                <a:ea typeface="Times New Roman" panose="02020603050405020304"/>
                <a:cs typeface="Times New Roman" panose="02020603050405020304"/>
              </a:rPr>
              <a:t>9,982</a:t>
            </a:r>
            <a:endParaRPr sz="1000" b="1">
              <a:solidFill>
                <a:srgbClr val="080967"/>
              </a:solidFill>
              <a:latin typeface="Times New Roman" panose="02020603050405020304"/>
              <a:ea typeface="Times New Roman" panose="02020603050405020304"/>
              <a:cs typeface="Times New Roman" panose="02020603050405020304"/>
            </a:endParaRPr>
          </a:p>
        </p:txBody>
      </p:sp>
      <p:sp>
        <p:nvSpPr>
          <p:cNvPr id="21" name="text-20-candidate records&#10;(2015–2025)"/>
          <p:cNvSpPr>
            <a:spLocks noGrp="1"/>
          </p:cNvSpPr>
          <p:nvPr/>
        </p:nvSpPr>
        <p:spPr>
          <a:xfrm>
            <a:off x="1308701" y="1012789"/>
            <a:ext cx="1087036" cy="229823"/>
          </a:xfrm>
          <a:prstGeom prst="rect">
            <a:avLst/>
          </a:prstGeom>
          <a:noFill/>
          <a:ln w="0">
            <a:noFill/>
          </a:ln>
        </p:spPr>
        <p:txBody>
          <a:bodyPr wrap="none" lIns="0" tIns="0" rIns="0" bIns="0" anchor="ctr">
            <a:noAutofit/>
          </a:bodyPr>
          <a:lstStyle/>
          <a:p>
            <a:pPr algn="ctr">
              <a:defRPr sz="1125"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candidate records</a:t>
            </a:r>
            <a:endParaRPr sz="800" b="0">
              <a:solidFill>
                <a:srgbClr val="080967"/>
              </a:solidFill>
              <a:latin typeface="Times New Roman" panose="02020603050405020304"/>
              <a:ea typeface="Times New Roman" panose="02020603050405020304"/>
              <a:cs typeface="Times New Roman" panose="02020603050405020304"/>
            </a:endParaRPr>
          </a:p>
          <a:p>
            <a:pPr algn="ctr">
              <a:defRPr sz="1125" b="0">
                <a:solidFill>
                  <a:srgbClr val="080967"/>
                </a:solidFill>
                <a:latin typeface="Times New Roman" panose="02020603050405020304"/>
                <a:ea typeface="Times New Roman" panose="02020603050405020304"/>
                <a:cs typeface="Times New Roman" panose="02020603050405020304"/>
              </a:defRPr>
            </a:pPr>
            <a:r>
              <a:rPr sz="800" b="0">
                <a:solidFill>
                  <a:srgbClr val="080967"/>
                </a:solidFill>
                <a:latin typeface="Times New Roman" panose="02020603050405020304"/>
                <a:ea typeface="Times New Roman" panose="02020603050405020304"/>
                <a:cs typeface="Times New Roman" panose="02020603050405020304"/>
              </a:rPr>
              <a:t>(2015–2025)</a:t>
            </a:r>
            <a:endParaRPr sz="800" b="0">
              <a:solidFill>
                <a:srgbClr val="080967"/>
              </a:solidFill>
              <a:latin typeface="Times New Roman" panose="02020603050405020304"/>
              <a:ea typeface="Times New Roman" panose="02020603050405020304"/>
              <a:cs typeface="Times New Roman" panose="02020603050405020304"/>
            </a:endParaRPr>
          </a:p>
        </p:txBody>
      </p:sp>
      <p:sp>
        <p:nvSpPr>
          <p:cNvPr id="22" name="shape-21-"/>
          <p:cNvSpPr>
            <a:spLocks noGrp="1"/>
          </p:cNvSpPr>
          <p:nvPr/>
        </p:nvSpPr>
        <p:spPr>
          <a:xfrm>
            <a:off x="142240" y="1306437"/>
            <a:ext cx="2326005" cy="270510"/>
          </a:xfrm>
          <a:prstGeom prst="roundRect">
            <a:avLst>
              <a:gd name="adj" fmla="val 15556"/>
            </a:avLst>
          </a:prstGeom>
          <a:solidFill>
            <a:srgbClr val="F5F7F8"/>
          </a:solidFill>
          <a:ln w="6668">
            <a:noFill/>
            <a:prstDash val="solid"/>
          </a:ln>
        </p:spPr>
        <p:txBody>
          <a:bodyPr/>
          <a:lstStyle/>
          <a:p>
            <a:endParaRPr lang="zh-CN" altLang="en-US"/>
          </a:p>
        </p:txBody>
      </p:sp>
      <p:sp>
        <p:nvSpPr>
          <p:cNvPr id="24" name="text-23-Paired Chinese–English search lexicon&#10;Batch collection by Python"/>
          <p:cNvSpPr>
            <a:spLocks noGrp="1"/>
          </p:cNvSpPr>
          <p:nvPr/>
        </p:nvSpPr>
        <p:spPr>
          <a:xfrm>
            <a:off x="361950" y="1320407"/>
            <a:ext cx="2155190" cy="236855"/>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Paired Chinese–English search lexicon</a:t>
            </a:r>
            <a:endParaRPr sz="775" b="0">
              <a:solidFill>
                <a:srgbClr val="080967"/>
              </a:solidFill>
              <a:latin typeface="Times New Roman" panose="02020603050405020304"/>
              <a:ea typeface="Times New Roman" panose="02020603050405020304"/>
              <a:cs typeface="Times New Roman" panose="02020603050405020304"/>
            </a:endParaRPr>
          </a:p>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Batch collection by Python</a:t>
            </a:r>
            <a:endParaRPr sz="775" b="0">
              <a:solidFill>
                <a:srgbClr val="080967"/>
              </a:solidFill>
              <a:latin typeface="Times New Roman" panose="02020603050405020304"/>
              <a:ea typeface="Times New Roman" panose="02020603050405020304"/>
              <a:cs typeface="Times New Roman" panose="02020603050405020304"/>
            </a:endParaRPr>
          </a:p>
        </p:txBody>
      </p:sp>
      <p:sp>
        <p:nvSpPr>
          <p:cNvPr id="29" name="text-28-Collected project records"/>
          <p:cNvSpPr>
            <a:spLocks noGrp="1"/>
          </p:cNvSpPr>
          <p:nvPr/>
        </p:nvSpPr>
        <p:spPr>
          <a:xfrm>
            <a:off x="2533015" y="1373112"/>
            <a:ext cx="1236345" cy="155575"/>
          </a:xfrm>
          <a:prstGeom prst="rect">
            <a:avLst/>
          </a:prstGeom>
          <a:noFill/>
          <a:ln w="0">
            <a:noFill/>
          </a:ln>
        </p:spPr>
        <p:txBody>
          <a:bodyPr wrap="none" lIns="0" tIns="0" rIns="0" bIns="0" anchor="ctr">
            <a:noAutofit/>
          </a:bodyPr>
          <a:lstStyle/>
          <a:p>
            <a:pPr algn="ctr">
              <a:defRPr sz="1130" b="1">
                <a:solidFill>
                  <a:srgbClr val="080967"/>
                </a:solidFill>
                <a:latin typeface="Times New Roman" panose="02020603050405020304"/>
                <a:ea typeface="Times New Roman" panose="02020603050405020304"/>
                <a:cs typeface="Times New Roman" panose="02020603050405020304"/>
              </a:defRPr>
            </a:pPr>
            <a:r>
              <a:rPr sz="800" b="1">
                <a:solidFill>
                  <a:srgbClr val="080967"/>
                </a:solidFill>
                <a:latin typeface="Times New Roman" panose="02020603050405020304"/>
                <a:ea typeface="Times New Roman" panose="02020603050405020304"/>
                <a:cs typeface="Times New Roman" panose="02020603050405020304"/>
              </a:rPr>
              <a:t> project records</a:t>
            </a:r>
            <a:endParaRPr sz="800" b="1">
              <a:solidFill>
                <a:srgbClr val="080967"/>
              </a:solidFill>
              <a:latin typeface="Times New Roman" panose="02020603050405020304"/>
              <a:ea typeface="Times New Roman" panose="02020603050405020304"/>
              <a:cs typeface="Times New Roman" panose="02020603050405020304"/>
            </a:endParaRPr>
          </a:p>
        </p:txBody>
      </p:sp>
      <p:sp>
        <p:nvSpPr>
          <p:cNvPr id="32" name="shape-31-"/>
          <p:cNvSpPr>
            <a:spLocks noGrp="1"/>
          </p:cNvSpPr>
          <p:nvPr/>
        </p:nvSpPr>
        <p:spPr>
          <a:xfrm>
            <a:off x="3935095" y="340602"/>
            <a:ext cx="1297940" cy="1210310"/>
          </a:xfrm>
          <a:prstGeom prst="roundRect">
            <a:avLst>
              <a:gd name="adj" fmla="val 3352"/>
            </a:avLst>
          </a:prstGeom>
          <a:solidFill>
            <a:srgbClr val="FFFFFF"/>
          </a:solidFill>
          <a:ln w="6668">
            <a:solidFill>
              <a:srgbClr val="CBD4DA"/>
            </a:solidFill>
            <a:prstDash val="dash"/>
          </a:ln>
        </p:spPr>
        <p:txBody>
          <a:bodyPr/>
          <a:lstStyle/>
          <a:p>
            <a:endParaRPr lang="zh-CN" altLang="en-US"/>
          </a:p>
        </p:txBody>
      </p:sp>
      <p:sp>
        <p:nvSpPr>
          <p:cNvPr id="33" name="shape-32-"/>
          <p:cNvSpPr>
            <a:spLocks noGrp="1"/>
          </p:cNvSpPr>
          <p:nvPr/>
        </p:nvSpPr>
        <p:spPr>
          <a:xfrm>
            <a:off x="3942080" y="347587"/>
            <a:ext cx="1285240" cy="182245"/>
          </a:xfrm>
          <a:prstGeom prst="roundRect">
            <a:avLst>
              <a:gd name="adj" fmla="val 18519"/>
            </a:avLst>
          </a:prstGeom>
          <a:solidFill>
            <a:srgbClr val="E8EEF2"/>
          </a:solidFill>
          <a:ln w="6668">
            <a:noFill/>
            <a:prstDash val="solid"/>
          </a:ln>
        </p:spPr>
        <p:txBody>
          <a:bodyPr/>
          <a:lstStyle/>
          <a:p>
            <a:endParaRPr lang="zh-CN" altLang="en-US"/>
          </a:p>
        </p:txBody>
      </p:sp>
      <p:sp>
        <p:nvSpPr>
          <p:cNvPr id="34" name="text-33-Project text fields for coding"/>
          <p:cNvSpPr>
            <a:spLocks noGrp="1"/>
          </p:cNvSpPr>
          <p:nvPr/>
        </p:nvSpPr>
        <p:spPr>
          <a:xfrm>
            <a:off x="3942715" y="367907"/>
            <a:ext cx="1263650" cy="135255"/>
          </a:xfrm>
          <a:prstGeom prst="rect">
            <a:avLst/>
          </a:prstGeom>
          <a:noFill/>
          <a:ln w="0">
            <a:noFill/>
          </a:ln>
        </p:spPr>
        <p:txBody>
          <a:bodyPr wrap="none" lIns="0" tIns="0" rIns="0" bIns="0" anchor="ctr">
            <a:noAutofit/>
          </a:bodyPr>
          <a:lstStyle/>
          <a:p>
            <a:pPr algn="ctr">
              <a:defRPr sz="1165" b="1">
                <a:solidFill>
                  <a:srgbClr val="334B5C"/>
                </a:solidFill>
                <a:latin typeface="Times New Roman" panose="02020603050405020304"/>
                <a:ea typeface="Times New Roman" panose="02020603050405020304"/>
                <a:cs typeface="Times New Roman" panose="02020603050405020304"/>
              </a:defRPr>
            </a:pPr>
            <a:r>
              <a:rPr sz="800" b="1">
                <a:solidFill>
                  <a:srgbClr val="334B5C"/>
                </a:solidFill>
                <a:latin typeface="Times New Roman" panose="02020603050405020304"/>
                <a:ea typeface="Times New Roman" panose="02020603050405020304"/>
                <a:cs typeface="Times New Roman" panose="02020603050405020304"/>
              </a:rPr>
              <a:t>Project text fields for coding</a:t>
            </a:r>
            <a:endParaRPr sz="800" b="1">
              <a:solidFill>
                <a:srgbClr val="334B5C"/>
              </a:solidFill>
              <a:latin typeface="Times New Roman" panose="02020603050405020304"/>
              <a:ea typeface="Times New Roman" panose="02020603050405020304"/>
              <a:cs typeface="Times New Roman" panose="02020603050405020304"/>
            </a:endParaRPr>
          </a:p>
        </p:txBody>
      </p:sp>
      <p:sp>
        <p:nvSpPr>
          <p:cNvPr id="35" name="polygon-34-"/>
          <p:cNvSpPr>
            <a:spLocks noGrp="1"/>
          </p:cNvSpPr>
          <p:nvPr/>
        </p:nvSpPr>
        <p:spPr>
          <a:xfrm>
            <a:off x="4077364" y="590738"/>
            <a:ext cx="189297" cy="223100"/>
          </a:xfrm>
          <a:custGeom>
            <a:avLst/>
            <a:gdLst/>
            <a:ahLst/>
            <a:cxnLst/>
            <a:rect l="0" t="0" r="0" b="0"/>
            <a:pathLst>
              <a:path w="266700" h="314325">
                <a:moveTo>
                  <a:pt x="0" y="0"/>
                </a:moveTo>
                <a:lnTo>
                  <a:pt x="180975" y="0"/>
                </a:lnTo>
                <a:lnTo>
                  <a:pt x="266700" y="85725"/>
                </a:lnTo>
                <a:lnTo>
                  <a:pt x="266700" y="314325"/>
                </a:lnTo>
                <a:lnTo>
                  <a:pt x="0" y="31432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36" name="path-35-"/>
          <p:cNvSpPr>
            <a:spLocks noGrp="1"/>
          </p:cNvSpPr>
          <p:nvPr/>
        </p:nvSpPr>
        <p:spPr>
          <a:xfrm>
            <a:off x="4205815" y="590738"/>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37" name="path-36-"/>
          <p:cNvSpPr>
            <a:spLocks noGrp="1"/>
          </p:cNvSpPr>
          <p:nvPr/>
        </p:nvSpPr>
        <p:spPr>
          <a:xfrm>
            <a:off x="4117927" y="671865"/>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38" name="path-37-"/>
          <p:cNvSpPr>
            <a:spLocks noGrp="1"/>
          </p:cNvSpPr>
          <p:nvPr/>
        </p:nvSpPr>
        <p:spPr>
          <a:xfrm>
            <a:off x="4117927" y="712429"/>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39" name="path-38-"/>
          <p:cNvSpPr>
            <a:spLocks noGrp="1"/>
          </p:cNvSpPr>
          <p:nvPr/>
        </p:nvSpPr>
        <p:spPr>
          <a:xfrm>
            <a:off x="4117927" y="752993"/>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40" name="polygon-39-"/>
          <p:cNvSpPr>
            <a:spLocks noGrp="1"/>
          </p:cNvSpPr>
          <p:nvPr/>
        </p:nvSpPr>
        <p:spPr>
          <a:xfrm>
            <a:off x="4077364" y="888205"/>
            <a:ext cx="189297" cy="223100"/>
          </a:xfrm>
          <a:custGeom>
            <a:avLst/>
            <a:gdLst/>
            <a:ahLst/>
            <a:cxnLst/>
            <a:rect l="0" t="0" r="0" b="0"/>
            <a:pathLst>
              <a:path w="266700" h="314325">
                <a:moveTo>
                  <a:pt x="0" y="0"/>
                </a:moveTo>
                <a:lnTo>
                  <a:pt x="180975" y="0"/>
                </a:lnTo>
                <a:lnTo>
                  <a:pt x="266700" y="85725"/>
                </a:lnTo>
                <a:lnTo>
                  <a:pt x="266700" y="314325"/>
                </a:lnTo>
                <a:lnTo>
                  <a:pt x="0" y="31432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41" name="path-40-"/>
          <p:cNvSpPr>
            <a:spLocks noGrp="1"/>
          </p:cNvSpPr>
          <p:nvPr/>
        </p:nvSpPr>
        <p:spPr>
          <a:xfrm>
            <a:off x="4205815" y="888205"/>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42" name="path-41-"/>
          <p:cNvSpPr>
            <a:spLocks noGrp="1"/>
          </p:cNvSpPr>
          <p:nvPr/>
        </p:nvSpPr>
        <p:spPr>
          <a:xfrm>
            <a:off x="4117927" y="969332"/>
            <a:ext cx="108170" cy="67"/>
          </a:xfrm>
          <a:custGeom>
            <a:avLst/>
            <a:gdLst/>
            <a:ahLst/>
            <a:cxnLst/>
            <a:rect l="0" t="0" r="0" b="0"/>
            <a:pathLst>
              <a:path w="152400" h="95">
                <a:moveTo>
                  <a:pt x="0" y="0"/>
                </a:moveTo>
                <a:lnTo>
                  <a:pt x="152400" y="0"/>
                </a:lnTo>
              </a:path>
            </a:pathLst>
          </a:custGeom>
          <a:solidFill>
            <a:srgbClr val="0076D9"/>
          </a:solidFill>
          <a:ln w="17145">
            <a:solidFill>
              <a:srgbClr val="0076D9"/>
            </a:solidFill>
            <a:prstDash val="solid"/>
          </a:ln>
        </p:spPr>
        <p:txBody>
          <a:bodyPr/>
          <a:lstStyle/>
          <a:p>
            <a:endParaRPr lang="zh-CN" altLang="en-US"/>
          </a:p>
        </p:txBody>
      </p:sp>
      <p:sp>
        <p:nvSpPr>
          <p:cNvPr id="43" name="path-42-"/>
          <p:cNvSpPr>
            <a:spLocks noGrp="1"/>
          </p:cNvSpPr>
          <p:nvPr/>
        </p:nvSpPr>
        <p:spPr>
          <a:xfrm>
            <a:off x="4117927" y="1009895"/>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44" name="path-43-"/>
          <p:cNvSpPr>
            <a:spLocks noGrp="1"/>
          </p:cNvSpPr>
          <p:nvPr/>
        </p:nvSpPr>
        <p:spPr>
          <a:xfrm>
            <a:off x="4117927" y="1050459"/>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46" name="text-45-Project title"/>
          <p:cNvSpPr>
            <a:spLocks noGrp="1"/>
          </p:cNvSpPr>
          <p:nvPr/>
        </p:nvSpPr>
        <p:spPr>
          <a:xfrm>
            <a:off x="4334524" y="611020"/>
            <a:ext cx="885639" cy="182536"/>
          </a:xfrm>
          <a:prstGeom prst="rect">
            <a:avLst/>
          </a:prstGeom>
          <a:noFill/>
          <a:ln w="0">
            <a:noFill/>
          </a:ln>
        </p:spPr>
        <p:txBody>
          <a:bodyPr wrap="none" lIns="0" tIns="0" rIns="0" bIns="0" anchor="ctr">
            <a:noAutofit/>
          </a:bodyPr>
          <a:lstStyle/>
          <a:p>
            <a:pPr algn="l">
              <a:defRPr sz="1275" b="0">
                <a:solidFill>
                  <a:srgbClr val="080967"/>
                </a:solidFill>
                <a:latin typeface="Times New Roman" panose="02020603050405020304"/>
                <a:ea typeface="Times New Roman" panose="02020603050405020304"/>
                <a:cs typeface="Times New Roman" panose="02020603050405020304"/>
              </a:defRPr>
            </a:pPr>
            <a:r>
              <a:rPr sz="905" b="0">
                <a:solidFill>
                  <a:srgbClr val="080967"/>
                </a:solidFill>
                <a:latin typeface="Times New Roman" panose="02020603050405020304"/>
                <a:ea typeface="Times New Roman" panose="02020603050405020304"/>
                <a:cs typeface="Times New Roman" panose="02020603050405020304"/>
              </a:rPr>
              <a:t>Project title</a:t>
            </a:r>
            <a:endParaRPr sz="905" b="0">
              <a:solidFill>
                <a:srgbClr val="080967"/>
              </a:solidFill>
              <a:latin typeface="Times New Roman" panose="02020603050405020304"/>
              <a:ea typeface="Times New Roman" panose="02020603050405020304"/>
              <a:cs typeface="Times New Roman" panose="02020603050405020304"/>
            </a:endParaRPr>
          </a:p>
        </p:txBody>
      </p:sp>
      <p:sp>
        <p:nvSpPr>
          <p:cNvPr id="47" name="text-46-Public abstract"/>
          <p:cNvSpPr>
            <a:spLocks noGrp="1"/>
          </p:cNvSpPr>
          <p:nvPr/>
        </p:nvSpPr>
        <p:spPr>
          <a:xfrm>
            <a:off x="4347859" y="908711"/>
            <a:ext cx="892399" cy="182536"/>
          </a:xfrm>
          <a:prstGeom prst="rect">
            <a:avLst/>
          </a:prstGeom>
          <a:noFill/>
          <a:ln w="0">
            <a:noFill/>
          </a:ln>
        </p:spPr>
        <p:txBody>
          <a:bodyPr wrap="none" lIns="0" tIns="0" rIns="0" bIns="0" anchor="ctr">
            <a:noAutofit/>
          </a:bodyPr>
          <a:lstStyle/>
          <a:p>
            <a:pPr algn="l">
              <a:defRPr sz="1275" b="0">
                <a:solidFill>
                  <a:srgbClr val="080967"/>
                </a:solidFill>
                <a:latin typeface="Times New Roman" panose="02020603050405020304"/>
                <a:ea typeface="Times New Roman" panose="02020603050405020304"/>
                <a:cs typeface="Times New Roman" panose="02020603050405020304"/>
              </a:defRPr>
            </a:pPr>
            <a:r>
              <a:rPr sz="905" b="0">
                <a:solidFill>
                  <a:srgbClr val="080967"/>
                </a:solidFill>
                <a:latin typeface="Times New Roman" panose="02020603050405020304"/>
                <a:ea typeface="Times New Roman" panose="02020603050405020304"/>
                <a:cs typeface="Times New Roman" panose="02020603050405020304"/>
              </a:rPr>
              <a:t>Public abstract</a:t>
            </a:r>
            <a:endParaRPr sz="905" b="0">
              <a:solidFill>
                <a:srgbClr val="080967"/>
              </a:solidFill>
              <a:latin typeface="Times New Roman" panose="02020603050405020304"/>
              <a:ea typeface="Times New Roman" panose="02020603050405020304"/>
              <a:cs typeface="Times New Roman" panose="02020603050405020304"/>
            </a:endParaRPr>
          </a:p>
        </p:txBody>
      </p:sp>
      <p:sp>
        <p:nvSpPr>
          <p:cNvPr id="48" name="text-47-Available keywords"/>
          <p:cNvSpPr>
            <a:spLocks noGrp="1"/>
          </p:cNvSpPr>
          <p:nvPr/>
        </p:nvSpPr>
        <p:spPr>
          <a:xfrm>
            <a:off x="4334524" y="1225676"/>
            <a:ext cx="905921" cy="182536"/>
          </a:xfrm>
          <a:prstGeom prst="rect">
            <a:avLst/>
          </a:prstGeom>
          <a:noFill/>
          <a:ln w="0">
            <a:noFill/>
          </a:ln>
        </p:spPr>
        <p:txBody>
          <a:bodyPr wrap="none" lIns="0" tIns="0" rIns="0" bIns="0" anchor="ctr">
            <a:noAutofit/>
          </a:bodyPr>
          <a:lstStyle/>
          <a:p>
            <a:pPr algn="l">
              <a:defRPr sz="1200" b="0">
                <a:solidFill>
                  <a:srgbClr val="080967"/>
                </a:solidFill>
                <a:latin typeface="Times New Roman" panose="02020603050405020304"/>
                <a:ea typeface="Times New Roman" panose="02020603050405020304"/>
                <a:cs typeface="Times New Roman" panose="02020603050405020304"/>
              </a:defRPr>
            </a:pPr>
            <a:r>
              <a:rPr sz="855" b="0">
                <a:solidFill>
                  <a:srgbClr val="080967"/>
                </a:solidFill>
                <a:latin typeface="Times New Roman" panose="02020603050405020304"/>
                <a:ea typeface="Times New Roman" panose="02020603050405020304"/>
                <a:cs typeface="Times New Roman" panose="02020603050405020304"/>
              </a:rPr>
              <a:t>Available keywords</a:t>
            </a:r>
            <a:endParaRPr sz="855" b="0">
              <a:solidFill>
                <a:srgbClr val="080967"/>
              </a:solidFill>
              <a:latin typeface="Times New Roman" panose="02020603050405020304"/>
              <a:ea typeface="Times New Roman" panose="02020603050405020304"/>
              <a:cs typeface="Times New Roman" panose="02020603050405020304"/>
            </a:endParaRPr>
          </a:p>
        </p:txBody>
      </p:sp>
      <p:sp>
        <p:nvSpPr>
          <p:cNvPr id="49" name="shape-48-"/>
          <p:cNvSpPr>
            <a:spLocks noGrp="1"/>
          </p:cNvSpPr>
          <p:nvPr/>
        </p:nvSpPr>
        <p:spPr>
          <a:xfrm>
            <a:off x="5334000" y="326632"/>
            <a:ext cx="1291590" cy="601980"/>
          </a:xfrm>
          <a:prstGeom prst="roundRect">
            <a:avLst>
              <a:gd name="adj" fmla="val 6742"/>
            </a:avLst>
          </a:prstGeom>
          <a:solidFill>
            <a:srgbClr val="F5F7F8"/>
          </a:solidFill>
          <a:ln w="6668">
            <a:solidFill>
              <a:srgbClr val="CBD4DA"/>
            </a:solidFill>
            <a:prstDash val="solid"/>
          </a:ln>
        </p:spPr>
        <p:txBody>
          <a:bodyPr/>
          <a:lstStyle/>
          <a:p>
            <a:endParaRPr lang="zh-CN" altLang="en-US"/>
          </a:p>
        </p:txBody>
      </p:sp>
      <p:pic>
        <p:nvPicPr>
          <p:cNvPr id="398" name="图片 397"/>
          <p:cNvPicPr>
            <a:picLocks noChangeAspect="1"/>
          </p:cNvPicPr>
          <p:nvPr/>
        </p:nvPicPr>
        <p:blipFill>
          <a:blip r:embed="rId5"/>
          <a:stretch>
            <a:fillRect/>
          </a:stretch>
        </p:blipFill>
        <p:spPr>
          <a:xfrm>
            <a:off x="5388319" y="455077"/>
            <a:ext cx="270424" cy="290706"/>
          </a:xfrm>
          <a:prstGeom prst="rect">
            <a:avLst/>
          </a:prstGeom>
        </p:spPr>
      </p:pic>
      <p:sp>
        <p:nvSpPr>
          <p:cNvPr id="51" name="text-50-Retained metadata"/>
          <p:cNvSpPr>
            <a:spLocks noGrp="1"/>
          </p:cNvSpPr>
          <p:nvPr/>
        </p:nvSpPr>
        <p:spPr>
          <a:xfrm>
            <a:off x="5692508" y="522316"/>
            <a:ext cx="987048" cy="141973"/>
          </a:xfrm>
          <a:prstGeom prst="rect">
            <a:avLst/>
          </a:prstGeom>
          <a:noFill/>
          <a:ln w="0">
            <a:noFill/>
          </a:ln>
        </p:spPr>
        <p:txBody>
          <a:bodyPr wrap="none" lIns="0" tIns="0" rIns="0" bIns="0" anchor="ctr">
            <a:noAutofit/>
          </a:bodyPr>
          <a:lstStyle/>
          <a:p>
            <a:pPr algn="l">
              <a:defRPr sz="1165" b="1">
                <a:solidFill>
                  <a:srgbClr val="080967"/>
                </a:solidFill>
                <a:latin typeface="Times New Roman" panose="02020603050405020304"/>
                <a:ea typeface="Times New Roman" panose="02020603050405020304"/>
                <a:cs typeface="Times New Roman" panose="02020603050405020304"/>
              </a:defRPr>
            </a:pPr>
            <a:r>
              <a:rPr sz="825" b="1">
                <a:solidFill>
                  <a:srgbClr val="080967"/>
                </a:solidFill>
                <a:latin typeface="Times New Roman" panose="02020603050405020304"/>
                <a:ea typeface="Times New Roman" panose="02020603050405020304"/>
                <a:cs typeface="Times New Roman" panose="02020603050405020304"/>
              </a:rPr>
              <a:t>Retained metadata</a:t>
            </a:r>
            <a:endParaRPr sz="825" b="1">
              <a:solidFill>
                <a:srgbClr val="080967"/>
              </a:solidFill>
              <a:latin typeface="Times New Roman" panose="02020603050405020304"/>
              <a:ea typeface="Times New Roman" panose="02020603050405020304"/>
              <a:cs typeface="Times New Roman" panose="02020603050405020304"/>
            </a:endParaRPr>
          </a:p>
        </p:txBody>
      </p:sp>
      <p:sp>
        <p:nvSpPr>
          <p:cNvPr id="52" name="text-51-(for analysis, not for coding)&#10;Institution, award year,&#10;amount, c"/>
          <p:cNvSpPr>
            <a:spLocks noGrp="1"/>
          </p:cNvSpPr>
          <p:nvPr/>
        </p:nvSpPr>
        <p:spPr>
          <a:xfrm>
            <a:off x="5787123" y="529444"/>
            <a:ext cx="987048" cy="344791"/>
          </a:xfrm>
          <a:prstGeom prst="rect">
            <a:avLst/>
          </a:prstGeom>
          <a:noFill/>
          <a:ln w="0">
            <a:noFill/>
          </a:ln>
        </p:spPr>
        <p:txBody>
          <a:bodyPr wrap="none" lIns="0" tIns="0" rIns="0" bIns="0" anchor="ctr">
            <a:noAutofit/>
          </a:bodyPr>
          <a:lstStyle/>
          <a:p>
            <a:pPr algn="l">
              <a:defRPr sz="935" b="0">
                <a:solidFill>
                  <a:srgbClr val="080967"/>
                </a:solidFill>
                <a:latin typeface="Times New Roman" panose="02020603050405020304"/>
                <a:ea typeface="Times New Roman" panose="02020603050405020304"/>
                <a:cs typeface="Times New Roman" panose="02020603050405020304"/>
              </a:defRPr>
            </a:pPr>
            <a:endParaRPr sz="665" b="0">
              <a:solidFill>
                <a:srgbClr val="080967"/>
              </a:solidFill>
              <a:latin typeface="Times New Roman" panose="02020603050405020304"/>
              <a:ea typeface="Times New Roman" panose="02020603050405020304"/>
              <a:cs typeface="Times New Roman" panose="02020603050405020304"/>
            </a:endParaRPr>
          </a:p>
        </p:txBody>
      </p:sp>
      <p:sp>
        <p:nvSpPr>
          <p:cNvPr id="53" name="shape-52-"/>
          <p:cNvSpPr>
            <a:spLocks noGrp="1"/>
          </p:cNvSpPr>
          <p:nvPr/>
        </p:nvSpPr>
        <p:spPr>
          <a:xfrm>
            <a:off x="5334000" y="1036562"/>
            <a:ext cx="1291590" cy="500380"/>
          </a:xfrm>
          <a:prstGeom prst="roundRect">
            <a:avLst>
              <a:gd name="adj" fmla="val 8108"/>
            </a:avLst>
          </a:prstGeom>
          <a:solidFill>
            <a:srgbClr val="F5F7F8"/>
          </a:solidFill>
          <a:ln w="6668">
            <a:solidFill>
              <a:srgbClr val="CBD4DA"/>
            </a:solidFill>
            <a:prstDash val="solid"/>
          </a:ln>
        </p:spPr>
        <p:txBody>
          <a:bodyPr/>
          <a:lstStyle/>
          <a:p>
            <a:endParaRPr lang="zh-CN" altLang="en-US"/>
          </a:p>
        </p:txBody>
      </p:sp>
      <p:pic>
        <p:nvPicPr>
          <p:cNvPr id="402" name="图片 401"/>
          <p:cNvPicPr>
            <a:picLocks noChangeAspect="1"/>
          </p:cNvPicPr>
          <p:nvPr/>
        </p:nvPicPr>
        <p:blipFill>
          <a:blip r:embed="rId6"/>
          <a:stretch>
            <a:fillRect/>
          </a:stretch>
        </p:blipFill>
        <p:spPr>
          <a:xfrm>
            <a:off x="5381892" y="1117616"/>
            <a:ext cx="344791" cy="351551"/>
          </a:xfrm>
          <a:prstGeom prst="rect">
            <a:avLst/>
          </a:prstGeom>
        </p:spPr>
      </p:pic>
      <p:sp>
        <p:nvSpPr>
          <p:cNvPr id="55" name="text-54-Search window"/>
          <p:cNvSpPr>
            <a:spLocks noGrp="1"/>
          </p:cNvSpPr>
          <p:nvPr/>
        </p:nvSpPr>
        <p:spPr>
          <a:xfrm>
            <a:off x="5746626" y="1151419"/>
            <a:ext cx="851836" cy="148733"/>
          </a:xfrm>
          <a:prstGeom prst="rect">
            <a:avLst/>
          </a:prstGeom>
          <a:noFill/>
          <a:ln w="0">
            <a:noFill/>
          </a:ln>
        </p:spPr>
        <p:txBody>
          <a:bodyPr wrap="none" lIns="0" tIns="0" rIns="0" bIns="0" anchor="ctr">
            <a:noAutofit/>
          </a:bodyPr>
          <a:lstStyle/>
          <a:p>
            <a:pPr algn="l">
              <a:defRPr sz="1275" b="1">
                <a:solidFill>
                  <a:srgbClr val="080967"/>
                </a:solidFill>
                <a:latin typeface="Times New Roman" panose="02020603050405020304"/>
                <a:ea typeface="Times New Roman" panose="02020603050405020304"/>
                <a:cs typeface="Times New Roman" panose="02020603050405020304"/>
              </a:defRPr>
            </a:pPr>
            <a:r>
              <a:rPr sz="905" b="1">
                <a:solidFill>
                  <a:srgbClr val="080967"/>
                </a:solidFill>
                <a:latin typeface="Times New Roman" panose="02020603050405020304"/>
                <a:ea typeface="Times New Roman" panose="02020603050405020304"/>
                <a:cs typeface="Times New Roman" panose="02020603050405020304"/>
              </a:rPr>
              <a:t>Search window</a:t>
            </a:r>
            <a:endParaRPr sz="905" b="1">
              <a:solidFill>
                <a:srgbClr val="080967"/>
              </a:solidFill>
              <a:latin typeface="Times New Roman" panose="02020603050405020304"/>
              <a:ea typeface="Times New Roman" panose="02020603050405020304"/>
              <a:cs typeface="Times New Roman" panose="02020603050405020304"/>
            </a:endParaRPr>
          </a:p>
        </p:txBody>
      </p:sp>
      <p:sp>
        <p:nvSpPr>
          <p:cNvPr id="56" name="text-55-2015–2025"/>
          <p:cNvSpPr>
            <a:spLocks noGrp="1"/>
          </p:cNvSpPr>
          <p:nvPr/>
        </p:nvSpPr>
        <p:spPr>
          <a:xfrm>
            <a:off x="5770756" y="1306913"/>
            <a:ext cx="845075" cy="169015"/>
          </a:xfrm>
          <a:prstGeom prst="rect">
            <a:avLst/>
          </a:prstGeom>
          <a:noFill/>
          <a:ln w="0">
            <a:noFill/>
          </a:ln>
        </p:spPr>
        <p:txBody>
          <a:bodyPr wrap="none" lIns="0" tIns="0" rIns="0" bIns="0" anchor="ctr">
            <a:noAutofit/>
          </a:bodyPr>
          <a:lstStyle/>
          <a:p>
            <a:pPr algn="l">
              <a:defRPr sz="1425" b="0">
                <a:solidFill>
                  <a:srgbClr val="080967"/>
                </a:solidFill>
                <a:latin typeface="Times New Roman" panose="02020603050405020304"/>
                <a:ea typeface="Times New Roman" panose="02020603050405020304"/>
                <a:cs typeface="Times New Roman" panose="02020603050405020304"/>
              </a:defRPr>
            </a:pPr>
            <a:r>
              <a:rPr sz="1015" b="0">
                <a:solidFill>
                  <a:srgbClr val="080967"/>
                </a:solidFill>
                <a:latin typeface="Times New Roman" panose="02020603050405020304"/>
                <a:ea typeface="Times New Roman" panose="02020603050405020304"/>
                <a:cs typeface="Times New Roman" panose="02020603050405020304"/>
              </a:rPr>
              <a:t>2015–2025</a:t>
            </a:r>
            <a:endParaRPr sz="1015" b="0">
              <a:solidFill>
                <a:srgbClr val="080967"/>
              </a:solidFill>
              <a:latin typeface="Times New Roman" panose="02020603050405020304"/>
              <a:ea typeface="Times New Roman" panose="02020603050405020304"/>
              <a:cs typeface="Times New Roman" panose="02020603050405020304"/>
            </a:endParaRPr>
          </a:p>
        </p:txBody>
      </p:sp>
      <p:sp>
        <p:nvSpPr>
          <p:cNvPr id="58" name="shape-57-"/>
          <p:cNvSpPr>
            <a:spLocks noGrp="1"/>
          </p:cNvSpPr>
          <p:nvPr/>
        </p:nvSpPr>
        <p:spPr>
          <a:xfrm>
            <a:off x="53975" y="1739265"/>
            <a:ext cx="6705600" cy="18224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59" name="path-58-"/>
          <p:cNvSpPr>
            <a:spLocks noGrp="1"/>
          </p:cNvSpPr>
          <p:nvPr/>
        </p:nvSpPr>
        <p:spPr>
          <a:xfrm>
            <a:off x="54610" y="1921752"/>
            <a:ext cx="6718935" cy="111125"/>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62" name="text-61-Corpus preprocessing and relevance screening"/>
          <p:cNvSpPr>
            <a:spLocks noGrp="1"/>
          </p:cNvSpPr>
          <p:nvPr/>
        </p:nvSpPr>
        <p:spPr>
          <a:xfrm>
            <a:off x="321310" y="1726172"/>
            <a:ext cx="6151880" cy="18288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200" b="1">
                <a:solidFill>
                  <a:srgbClr val="334B5C"/>
                </a:solidFill>
                <a:latin typeface="Times New Roman" panose="02020603050405020304"/>
                <a:ea typeface="Times New Roman" panose="02020603050405020304"/>
                <a:cs typeface="Times New Roman" panose="02020603050405020304"/>
              </a:rPr>
              <a:t>Corpus preprocessing and relevance screening</a:t>
            </a:r>
            <a:endParaRPr sz="1200" b="1">
              <a:solidFill>
                <a:srgbClr val="334B5C"/>
              </a:solidFill>
              <a:latin typeface="Times New Roman" panose="02020603050405020304"/>
              <a:ea typeface="Times New Roman" panose="02020603050405020304"/>
              <a:cs typeface="Times New Roman" panose="02020603050405020304"/>
            </a:endParaRPr>
          </a:p>
        </p:txBody>
      </p:sp>
      <p:sp>
        <p:nvSpPr>
          <p:cNvPr id="63" name="shape-62-"/>
          <p:cNvSpPr>
            <a:spLocks noGrp="1"/>
          </p:cNvSpPr>
          <p:nvPr/>
        </p:nvSpPr>
        <p:spPr>
          <a:xfrm>
            <a:off x="114300" y="1992872"/>
            <a:ext cx="3285490" cy="189230"/>
          </a:xfrm>
          <a:prstGeom prst="roundRect">
            <a:avLst>
              <a:gd name="adj" fmla="val 8772"/>
            </a:avLst>
          </a:prstGeom>
          <a:solidFill>
            <a:srgbClr val="F5F7F8"/>
          </a:solidFill>
          <a:ln w="6668">
            <a:solidFill>
              <a:srgbClr val="CBD4DA"/>
            </a:solidFill>
            <a:prstDash val="sysDash"/>
          </a:ln>
        </p:spPr>
        <p:txBody>
          <a:bodyPr/>
          <a:lstStyle/>
          <a:p>
            <a:endParaRPr lang="zh-CN" altLang="en-US"/>
          </a:p>
        </p:txBody>
      </p:sp>
      <p:sp>
        <p:nvSpPr>
          <p:cNvPr id="64" name="text-63-Inclusion criterion:"/>
          <p:cNvSpPr>
            <a:spLocks noGrp="1"/>
          </p:cNvSpPr>
          <p:nvPr/>
        </p:nvSpPr>
        <p:spPr>
          <a:xfrm>
            <a:off x="986790" y="2004302"/>
            <a:ext cx="1595755" cy="76200"/>
          </a:xfrm>
          <a:prstGeom prst="rect">
            <a:avLst/>
          </a:prstGeom>
          <a:noFill/>
          <a:ln w="0">
            <a:noFill/>
          </a:ln>
        </p:spPr>
        <p:txBody>
          <a:bodyPr wrap="none" lIns="0" tIns="0" rIns="0" bIns="0" anchor="ctr">
            <a:noAutofit/>
          </a:bodyPr>
          <a:lstStyle/>
          <a:p>
            <a:pPr algn="ctr">
              <a:defRPr sz="1165" b="1">
                <a:solidFill>
                  <a:srgbClr val="334B5C"/>
                </a:solidFill>
                <a:latin typeface="Times New Roman" panose="02020603050405020304"/>
                <a:ea typeface="Times New Roman" panose="02020603050405020304"/>
                <a:cs typeface="Times New Roman" panose="02020603050405020304"/>
              </a:defRPr>
            </a:pPr>
            <a:r>
              <a:rPr sz="825" b="1">
                <a:solidFill>
                  <a:srgbClr val="334B5C"/>
                </a:solidFill>
                <a:latin typeface="Times New Roman" panose="02020603050405020304"/>
                <a:ea typeface="Times New Roman" panose="02020603050405020304"/>
                <a:cs typeface="Times New Roman" panose="02020603050405020304"/>
              </a:rPr>
              <a:t>Inclusion criterion:</a:t>
            </a:r>
            <a:endParaRPr sz="825" b="1">
              <a:solidFill>
                <a:srgbClr val="334B5C"/>
              </a:solidFill>
              <a:latin typeface="Times New Roman" panose="02020603050405020304"/>
              <a:ea typeface="Times New Roman" panose="02020603050405020304"/>
              <a:cs typeface="Times New Roman" panose="02020603050405020304"/>
            </a:endParaRPr>
          </a:p>
        </p:txBody>
      </p:sp>
      <p:sp>
        <p:nvSpPr>
          <p:cNvPr id="65" name="text-64-Urban sustainability problem, urban system,&#10;or urban application "/>
          <p:cNvSpPr>
            <a:spLocks noGrp="1"/>
          </p:cNvSpPr>
          <p:nvPr/>
        </p:nvSpPr>
        <p:spPr>
          <a:xfrm>
            <a:off x="116840" y="2041767"/>
            <a:ext cx="3333115" cy="140335"/>
          </a:xfrm>
          <a:prstGeom prst="rect">
            <a:avLst/>
          </a:prstGeom>
          <a:noFill/>
          <a:ln w="0">
            <a:noFill/>
          </a:ln>
        </p:spPr>
        <p:txBody>
          <a:bodyPr wrap="none" lIns="0" tIns="0" rIns="0" bIns="0" anchor="ctr">
            <a:noAutofit/>
          </a:bodyPr>
          <a:lstStyle/>
          <a:p>
            <a:pPr algn="ctr">
              <a:defRPr sz="995" b="0">
                <a:solidFill>
                  <a:srgbClr val="080967"/>
                </a:solidFill>
                <a:latin typeface="Times New Roman" panose="02020603050405020304"/>
                <a:ea typeface="Times New Roman" panose="02020603050405020304"/>
                <a:cs typeface="Times New Roman" panose="02020603050405020304"/>
              </a:defRPr>
            </a:pPr>
            <a:r>
              <a:rPr sz="705" b="0">
                <a:solidFill>
                  <a:srgbClr val="080967"/>
                </a:solidFill>
                <a:latin typeface="Times New Roman" panose="02020603050405020304"/>
                <a:ea typeface="Times New Roman" panose="02020603050405020304"/>
                <a:cs typeface="Times New Roman" panose="02020603050405020304"/>
              </a:rPr>
              <a:t>Urban sustainability problem, urban system,</a:t>
            </a:r>
            <a:r>
              <a:rPr lang="en-US" sz="705" b="0">
                <a:solidFill>
                  <a:srgbClr val="080967"/>
                </a:solidFill>
                <a:latin typeface="Times New Roman" panose="02020603050405020304"/>
                <a:ea typeface="Times New Roman" panose="02020603050405020304"/>
                <a:cs typeface="Times New Roman" panose="02020603050405020304"/>
              </a:rPr>
              <a:t> </a:t>
            </a:r>
            <a:r>
              <a:rPr sz="705" b="0">
                <a:solidFill>
                  <a:srgbClr val="080967"/>
                </a:solidFill>
                <a:latin typeface="Times New Roman" panose="02020603050405020304"/>
                <a:ea typeface="Times New Roman" panose="02020603050405020304"/>
                <a:cs typeface="Times New Roman" panose="02020603050405020304"/>
              </a:rPr>
              <a:t>or urban application as the research focus.</a:t>
            </a:r>
            <a:endParaRPr sz="705" b="0">
              <a:solidFill>
                <a:srgbClr val="080967"/>
              </a:solidFill>
              <a:latin typeface="Times New Roman" panose="02020603050405020304"/>
              <a:ea typeface="Times New Roman" panose="02020603050405020304"/>
              <a:cs typeface="Times New Roman" panose="02020603050405020304"/>
            </a:endParaRPr>
          </a:p>
        </p:txBody>
      </p:sp>
      <p:sp>
        <p:nvSpPr>
          <p:cNvPr id="67" name="text-66-Collected&#10;project records"/>
          <p:cNvSpPr>
            <a:spLocks noGrp="1"/>
          </p:cNvSpPr>
          <p:nvPr/>
        </p:nvSpPr>
        <p:spPr>
          <a:xfrm>
            <a:off x="67993" y="2855086"/>
            <a:ext cx="628736" cy="216339"/>
          </a:xfrm>
          <a:prstGeom prst="rect">
            <a:avLst/>
          </a:prstGeom>
          <a:noFill/>
          <a:ln w="0">
            <a:noFill/>
          </a:ln>
        </p:spPr>
        <p:txBody>
          <a:bodyPr wrap="none" lIns="0" tIns="0" rIns="0" bIns="0" anchor="ctr">
            <a:noAutofit/>
          </a:bodyPr>
          <a:lstStyle/>
          <a:p>
            <a:pPr algn="ctr">
              <a:defRPr sz="1040" b="1">
                <a:solidFill>
                  <a:srgbClr val="080967"/>
                </a:solidFill>
                <a:latin typeface="Times New Roman" panose="02020603050405020304"/>
                <a:ea typeface="Times New Roman" panose="02020603050405020304"/>
                <a:cs typeface="Times New Roman" panose="02020603050405020304"/>
              </a:defRPr>
            </a:pPr>
            <a:r>
              <a:rPr sz="740" b="1">
                <a:solidFill>
                  <a:srgbClr val="080967"/>
                </a:solidFill>
                <a:latin typeface="Times New Roman" panose="02020603050405020304"/>
                <a:ea typeface="Times New Roman" panose="02020603050405020304"/>
                <a:cs typeface="Times New Roman" panose="02020603050405020304"/>
              </a:rPr>
              <a:t>Collected</a:t>
            </a:r>
            <a:endParaRPr sz="740" b="1">
              <a:solidFill>
                <a:srgbClr val="080967"/>
              </a:solidFill>
              <a:latin typeface="Times New Roman" panose="02020603050405020304"/>
              <a:ea typeface="Times New Roman" panose="02020603050405020304"/>
              <a:cs typeface="Times New Roman" panose="02020603050405020304"/>
            </a:endParaRPr>
          </a:p>
          <a:p>
            <a:pPr algn="ctr">
              <a:defRPr sz="1040" b="1">
                <a:solidFill>
                  <a:srgbClr val="080967"/>
                </a:solidFill>
                <a:latin typeface="Times New Roman" panose="02020603050405020304"/>
                <a:ea typeface="Times New Roman" panose="02020603050405020304"/>
                <a:cs typeface="Times New Roman" panose="02020603050405020304"/>
              </a:defRPr>
            </a:pPr>
            <a:r>
              <a:rPr sz="740" b="1">
                <a:solidFill>
                  <a:srgbClr val="080967"/>
                </a:solidFill>
                <a:latin typeface="Times New Roman" panose="02020603050405020304"/>
                <a:ea typeface="Times New Roman" panose="02020603050405020304"/>
                <a:cs typeface="Times New Roman" panose="02020603050405020304"/>
              </a:rPr>
              <a:t>project records</a:t>
            </a:r>
            <a:endParaRPr sz="740" b="1">
              <a:solidFill>
                <a:srgbClr val="080967"/>
              </a:solidFill>
              <a:latin typeface="Times New Roman" panose="02020603050405020304"/>
              <a:ea typeface="Times New Roman" panose="02020603050405020304"/>
              <a:cs typeface="Times New Roman" panose="02020603050405020304"/>
            </a:endParaRPr>
          </a:p>
        </p:txBody>
      </p:sp>
      <p:sp>
        <p:nvSpPr>
          <p:cNvPr id="68" name="path-67-"/>
          <p:cNvSpPr>
            <a:spLocks noGrp="1"/>
          </p:cNvSpPr>
          <p:nvPr/>
        </p:nvSpPr>
        <p:spPr>
          <a:xfrm>
            <a:off x="623107" y="2490047"/>
            <a:ext cx="182536" cy="67"/>
          </a:xfrm>
          <a:custGeom>
            <a:avLst/>
            <a:gdLst/>
            <a:ahLst/>
            <a:cxnLst/>
            <a:rect l="0" t="0" r="0" b="0"/>
            <a:pathLst>
              <a:path w="257175" h="95">
                <a:moveTo>
                  <a:pt x="0" y="0"/>
                </a:moveTo>
                <a:lnTo>
                  <a:pt x="25717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
        <p:nvSpPr>
          <p:cNvPr id="69" name="polygon-68-"/>
          <p:cNvSpPr>
            <a:spLocks noGrp="1"/>
          </p:cNvSpPr>
          <p:nvPr/>
        </p:nvSpPr>
        <p:spPr>
          <a:xfrm>
            <a:off x="785662" y="2452147"/>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70" name="shape-69-"/>
          <p:cNvSpPr>
            <a:spLocks noGrp="1"/>
          </p:cNvSpPr>
          <p:nvPr/>
        </p:nvSpPr>
        <p:spPr>
          <a:xfrm>
            <a:off x="861222" y="2237179"/>
            <a:ext cx="574651" cy="703103"/>
          </a:xfrm>
          <a:prstGeom prst="roundRect">
            <a:avLst>
              <a:gd name="adj" fmla="val 7059"/>
            </a:avLst>
          </a:prstGeom>
          <a:solidFill>
            <a:srgbClr val="F5F7F8"/>
          </a:solidFill>
          <a:ln w="6668">
            <a:solidFill>
              <a:srgbClr val="CBD4DA"/>
            </a:solidFill>
            <a:prstDash val="solid"/>
          </a:ln>
        </p:spPr>
        <p:txBody>
          <a:bodyPr/>
          <a:lstStyle/>
          <a:p>
            <a:endParaRPr lang="zh-CN" altLang="en-US"/>
          </a:p>
        </p:txBody>
      </p:sp>
      <p:sp>
        <p:nvSpPr>
          <p:cNvPr id="72" name="text-71-Project-ID&#10;deduplication"/>
          <p:cNvSpPr>
            <a:spLocks noGrp="1"/>
          </p:cNvSpPr>
          <p:nvPr/>
        </p:nvSpPr>
        <p:spPr>
          <a:xfrm>
            <a:off x="860773" y="2699888"/>
            <a:ext cx="547609"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00" b="0">
                <a:solidFill>
                  <a:srgbClr val="080967"/>
                </a:solidFill>
                <a:latin typeface="Times New Roman" panose="02020603050405020304"/>
                <a:ea typeface="Times New Roman" panose="02020603050405020304"/>
                <a:cs typeface="Times New Roman" panose="02020603050405020304"/>
              </a:rPr>
              <a:t>Project-ID</a:t>
            </a:r>
            <a:endParaRPr sz="700"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00" b="0">
                <a:solidFill>
                  <a:srgbClr val="080967"/>
                </a:solidFill>
                <a:latin typeface="Times New Roman" panose="02020603050405020304"/>
                <a:ea typeface="Times New Roman" panose="02020603050405020304"/>
                <a:cs typeface="Times New Roman" panose="02020603050405020304"/>
              </a:rPr>
              <a:t>deduplication</a:t>
            </a:r>
            <a:endParaRPr sz="700" b="0">
              <a:solidFill>
                <a:srgbClr val="080967"/>
              </a:solidFill>
              <a:latin typeface="Times New Roman" panose="02020603050405020304"/>
              <a:ea typeface="Times New Roman" panose="02020603050405020304"/>
              <a:cs typeface="Times New Roman" panose="02020603050405020304"/>
            </a:endParaRPr>
          </a:p>
        </p:txBody>
      </p:sp>
      <p:sp>
        <p:nvSpPr>
          <p:cNvPr id="74" name="polygon-73-"/>
          <p:cNvSpPr>
            <a:spLocks noGrp="1"/>
          </p:cNvSpPr>
          <p:nvPr/>
        </p:nvSpPr>
        <p:spPr>
          <a:xfrm>
            <a:off x="1658376" y="2452147"/>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77" name="text-76-GPT-5.5"/>
          <p:cNvSpPr>
            <a:spLocks noGrp="1"/>
          </p:cNvSpPr>
          <p:nvPr/>
        </p:nvSpPr>
        <p:spPr>
          <a:xfrm>
            <a:off x="1746412" y="2679120"/>
            <a:ext cx="662539" cy="121691"/>
          </a:xfrm>
          <a:prstGeom prst="rect">
            <a:avLst/>
          </a:prstGeom>
          <a:noFill/>
          <a:ln w="0">
            <a:noFill/>
          </a:ln>
        </p:spPr>
        <p:txBody>
          <a:bodyPr wrap="none" lIns="0" tIns="0" rIns="0" bIns="0" anchor="ctr">
            <a:noAutofit/>
          </a:bodyPr>
          <a:lstStyle/>
          <a:p>
            <a:pPr algn="ctr">
              <a:defRPr sz="1125" b="1">
                <a:solidFill>
                  <a:srgbClr val="080967"/>
                </a:solidFill>
                <a:latin typeface="Times New Roman" panose="02020603050405020304"/>
                <a:ea typeface="Times New Roman" panose="02020603050405020304"/>
                <a:cs typeface="Times New Roman" panose="02020603050405020304"/>
              </a:defRPr>
            </a:pPr>
            <a:r>
              <a:rPr lang="en-US" altLang="zh-CN" sz="800" b="1">
                <a:solidFill>
                  <a:srgbClr val="080967"/>
                </a:solidFill>
                <a:latin typeface="Times New Roman" panose="02020603050405020304"/>
                <a:ea typeface="Times New Roman" panose="02020603050405020304"/>
                <a:cs typeface="Times New Roman" panose="02020603050405020304"/>
              </a:rPr>
              <a:t>DeepSeekV4-</a:t>
            </a:r>
            <a:r>
              <a:rPr lang="en-US" altLang="zh-CN" sz="800" b="1">
                <a:solidFill>
                  <a:srgbClr val="080967"/>
                </a:solidFill>
                <a:latin typeface="Times New Roman" panose="02020603050405020304"/>
                <a:ea typeface="Times New Roman" panose="02020603050405020304"/>
                <a:cs typeface="Times New Roman" panose="02020603050405020304"/>
              </a:rPr>
              <a:t>pro</a:t>
            </a:r>
            <a:endParaRPr lang="en-US" altLang="zh-CN" sz="800" b="1">
              <a:solidFill>
                <a:srgbClr val="080967"/>
              </a:solidFill>
              <a:latin typeface="Times New Roman" panose="02020603050405020304"/>
              <a:ea typeface="Times New Roman" panose="02020603050405020304"/>
              <a:cs typeface="Times New Roman" panose="02020603050405020304"/>
            </a:endParaRPr>
          </a:p>
        </p:txBody>
      </p:sp>
      <p:sp>
        <p:nvSpPr>
          <p:cNvPr id="78" name="text-77-relevance screening"/>
          <p:cNvSpPr>
            <a:spLocks noGrp="1"/>
          </p:cNvSpPr>
          <p:nvPr/>
        </p:nvSpPr>
        <p:spPr>
          <a:xfrm>
            <a:off x="1732891" y="2787289"/>
            <a:ext cx="682821" cy="121691"/>
          </a:xfrm>
          <a:prstGeom prst="rect">
            <a:avLst/>
          </a:prstGeom>
          <a:noFill/>
          <a:ln w="0">
            <a:noFill/>
          </a:ln>
        </p:spPr>
        <p:txBody>
          <a:bodyPr wrap="none" lIns="0" tIns="0" rIns="0" bIns="0" anchor="ctr">
            <a:noAutofit/>
          </a:bodyPr>
          <a:lstStyle/>
          <a:p>
            <a:pPr algn="ctr">
              <a:defRPr sz="930" b="0">
                <a:solidFill>
                  <a:srgbClr val="080967"/>
                </a:solidFill>
                <a:latin typeface="Times New Roman" panose="02020603050405020304"/>
                <a:ea typeface="Times New Roman" panose="02020603050405020304"/>
                <a:cs typeface="Times New Roman" panose="02020603050405020304"/>
              </a:defRPr>
            </a:pPr>
            <a:r>
              <a:rPr sz="660" b="0">
                <a:solidFill>
                  <a:srgbClr val="080967"/>
                </a:solidFill>
                <a:latin typeface="Times New Roman" panose="02020603050405020304"/>
                <a:ea typeface="Times New Roman" panose="02020603050405020304"/>
                <a:cs typeface="Times New Roman" panose="02020603050405020304"/>
              </a:rPr>
              <a:t>relevance screening</a:t>
            </a:r>
            <a:endParaRPr sz="660" b="0">
              <a:solidFill>
                <a:srgbClr val="080967"/>
              </a:solidFill>
              <a:latin typeface="Times New Roman" panose="02020603050405020304"/>
              <a:ea typeface="Times New Roman" panose="02020603050405020304"/>
              <a:cs typeface="Times New Roman" panose="02020603050405020304"/>
            </a:endParaRPr>
          </a:p>
        </p:txBody>
      </p:sp>
      <p:sp>
        <p:nvSpPr>
          <p:cNvPr id="79" name="path-78-"/>
          <p:cNvSpPr>
            <a:spLocks noGrp="1"/>
          </p:cNvSpPr>
          <p:nvPr/>
        </p:nvSpPr>
        <p:spPr>
          <a:xfrm>
            <a:off x="2447347" y="2483062"/>
            <a:ext cx="223100" cy="67"/>
          </a:xfrm>
          <a:custGeom>
            <a:avLst/>
            <a:gdLst/>
            <a:ahLst/>
            <a:cxnLst/>
            <a:rect l="0" t="0" r="0" b="0"/>
            <a:pathLst>
              <a:path w="314325" h="95">
                <a:moveTo>
                  <a:pt x="0" y="0"/>
                </a:moveTo>
                <a:lnTo>
                  <a:pt x="31432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
        <p:nvSpPr>
          <p:cNvPr id="80" name="polygon-79-"/>
          <p:cNvSpPr>
            <a:spLocks noGrp="1"/>
          </p:cNvSpPr>
          <p:nvPr/>
        </p:nvSpPr>
        <p:spPr>
          <a:xfrm>
            <a:off x="2636496" y="2444527"/>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81" name="shape-80-"/>
          <p:cNvSpPr>
            <a:spLocks noGrp="1"/>
          </p:cNvSpPr>
          <p:nvPr/>
        </p:nvSpPr>
        <p:spPr>
          <a:xfrm>
            <a:off x="2738120" y="2237347"/>
            <a:ext cx="574675" cy="702945"/>
          </a:xfrm>
          <a:prstGeom prst="roundRect">
            <a:avLst>
              <a:gd name="adj" fmla="val 5882"/>
            </a:avLst>
          </a:prstGeom>
          <a:solidFill>
            <a:srgbClr val="F5F7F8"/>
          </a:solidFill>
          <a:ln w="6668">
            <a:solidFill>
              <a:srgbClr val="CBD4DA"/>
            </a:solidFill>
            <a:prstDash val="solid"/>
          </a:ln>
        </p:spPr>
        <p:txBody>
          <a:bodyPr/>
          <a:lstStyle/>
          <a:p>
            <a:endParaRPr lang="zh-CN" altLang="en-US"/>
          </a:p>
        </p:txBody>
      </p:sp>
      <p:sp>
        <p:nvSpPr>
          <p:cNvPr id="83" name="text-82-Field&#10;standardization"/>
          <p:cNvSpPr>
            <a:spLocks noGrp="1"/>
          </p:cNvSpPr>
          <p:nvPr/>
        </p:nvSpPr>
        <p:spPr>
          <a:xfrm>
            <a:off x="2758373" y="2676618"/>
            <a:ext cx="534088" cy="236621"/>
          </a:xfrm>
          <a:prstGeom prst="rect">
            <a:avLst/>
          </a:prstGeom>
          <a:noFill/>
          <a:ln w="0">
            <a:noFill/>
          </a:ln>
        </p:spPr>
        <p:txBody>
          <a:bodyPr wrap="none" lIns="0" tIns="0" rIns="0" bIns="0" anchor="ctr">
            <a:noAutofit/>
          </a:bodyPr>
          <a:lstStyle/>
          <a:p>
            <a:pPr algn="ctr">
              <a:defRPr sz="935"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Field</a:t>
            </a:r>
            <a:endParaRPr sz="665" b="0">
              <a:solidFill>
                <a:srgbClr val="080967"/>
              </a:solidFill>
              <a:latin typeface="Times New Roman" panose="02020603050405020304"/>
              <a:ea typeface="Times New Roman" panose="02020603050405020304"/>
              <a:cs typeface="Times New Roman" panose="02020603050405020304"/>
            </a:endParaRPr>
          </a:p>
          <a:p>
            <a:pPr algn="ctr">
              <a:defRPr sz="935"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standardization</a:t>
            </a:r>
            <a:endParaRPr sz="665" b="0">
              <a:solidFill>
                <a:srgbClr val="080967"/>
              </a:solidFill>
              <a:latin typeface="Times New Roman" panose="02020603050405020304"/>
              <a:ea typeface="Times New Roman" panose="02020603050405020304"/>
              <a:cs typeface="Times New Roman" panose="02020603050405020304"/>
            </a:endParaRPr>
          </a:p>
        </p:txBody>
      </p:sp>
      <p:sp>
        <p:nvSpPr>
          <p:cNvPr id="84" name="path-83-"/>
          <p:cNvSpPr>
            <a:spLocks noGrp="1"/>
          </p:cNvSpPr>
          <p:nvPr/>
        </p:nvSpPr>
        <p:spPr>
          <a:xfrm>
            <a:off x="3333397" y="2483062"/>
            <a:ext cx="182536" cy="67"/>
          </a:xfrm>
          <a:custGeom>
            <a:avLst/>
            <a:gdLst/>
            <a:ahLst/>
            <a:cxnLst/>
            <a:rect l="0" t="0" r="0" b="0"/>
            <a:pathLst>
              <a:path w="257175" h="95">
                <a:moveTo>
                  <a:pt x="0" y="0"/>
                </a:moveTo>
                <a:lnTo>
                  <a:pt x="25717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
        <p:nvSpPr>
          <p:cNvPr id="85" name="polygon-84-"/>
          <p:cNvSpPr>
            <a:spLocks noGrp="1"/>
          </p:cNvSpPr>
          <p:nvPr/>
        </p:nvSpPr>
        <p:spPr>
          <a:xfrm>
            <a:off x="3481982" y="2445162"/>
            <a:ext cx="67606" cy="77071"/>
          </a:xfrm>
          <a:custGeom>
            <a:avLst/>
            <a:gdLst/>
            <a:ahLst/>
            <a:cxnLst/>
            <a:rect l="0" t="0" r="0" b="0"/>
            <a:pathLst>
              <a:path w="95250" h="108585">
                <a:moveTo>
                  <a:pt x="95250" y="54292"/>
                </a:moveTo>
                <a:lnTo>
                  <a:pt x="0" y="0"/>
                </a:lnTo>
                <a:lnTo>
                  <a:pt x="0" y="108585"/>
                </a:lnTo>
                <a:close/>
              </a:path>
            </a:pathLst>
          </a:custGeom>
          <a:solidFill>
            <a:schemeClr val="bg2">
              <a:lumMod val="50000"/>
            </a:schemeClr>
          </a:solidFill>
          <a:ln w="0">
            <a:noFill/>
            <a:prstDash val="solid"/>
          </a:ln>
        </p:spPr>
        <p:txBody>
          <a:bodyPr/>
          <a:lstStyle/>
          <a:p>
            <a:endParaRPr lang="zh-CN" altLang="en-US"/>
          </a:p>
        </p:txBody>
      </p:sp>
      <p:sp>
        <p:nvSpPr>
          <p:cNvPr id="86" name="text-85-Retained corpus"/>
          <p:cNvSpPr>
            <a:spLocks noGrp="1"/>
          </p:cNvSpPr>
          <p:nvPr/>
        </p:nvSpPr>
        <p:spPr>
          <a:xfrm>
            <a:off x="3555747" y="1955845"/>
            <a:ext cx="1392684" cy="141973"/>
          </a:xfrm>
          <a:prstGeom prst="rect">
            <a:avLst/>
          </a:prstGeom>
          <a:noFill/>
          <a:ln w="0">
            <a:noFill/>
          </a:ln>
        </p:spPr>
        <p:txBody>
          <a:bodyPr wrap="none" lIns="0" tIns="0" rIns="0" bIns="0" anchor="ctr">
            <a:noAutofit/>
          </a:bodyPr>
          <a:lstStyle/>
          <a:p>
            <a:pPr algn="ctr">
              <a:defRPr sz="1275" b="1">
                <a:solidFill>
                  <a:srgbClr val="334B5C"/>
                </a:solidFill>
                <a:latin typeface="Times New Roman" panose="02020603050405020304"/>
                <a:ea typeface="Times New Roman" panose="02020603050405020304"/>
                <a:cs typeface="Times New Roman" panose="02020603050405020304"/>
              </a:defRPr>
            </a:pPr>
            <a:r>
              <a:rPr sz="905" b="1">
                <a:solidFill>
                  <a:srgbClr val="334B5C"/>
                </a:solidFill>
                <a:latin typeface="Times New Roman" panose="02020603050405020304"/>
                <a:ea typeface="Times New Roman" panose="02020603050405020304"/>
                <a:cs typeface="Times New Roman" panose="02020603050405020304"/>
              </a:rPr>
              <a:t>Retained corpus</a:t>
            </a:r>
            <a:endParaRPr sz="905" b="1">
              <a:solidFill>
                <a:srgbClr val="334B5C"/>
              </a:solidFill>
              <a:latin typeface="Times New Roman" panose="02020603050405020304"/>
              <a:ea typeface="Times New Roman" panose="02020603050405020304"/>
              <a:cs typeface="Times New Roman" panose="02020603050405020304"/>
            </a:endParaRPr>
          </a:p>
        </p:txBody>
      </p:sp>
      <p:sp>
        <p:nvSpPr>
          <p:cNvPr id="87" name="shape-86-"/>
          <p:cNvSpPr>
            <a:spLocks noGrp="1"/>
          </p:cNvSpPr>
          <p:nvPr/>
        </p:nvSpPr>
        <p:spPr>
          <a:xfrm>
            <a:off x="3562985" y="2157337"/>
            <a:ext cx="1494155" cy="795655"/>
          </a:xfrm>
          <a:prstGeom prst="roundRect">
            <a:avLst>
              <a:gd name="adj" fmla="val 4918"/>
            </a:avLst>
          </a:prstGeom>
          <a:solidFill>
            <a:srgbClr val="FFFFFF"/>
          </a:solidFill>
          <a:ln w="6668">
            <a:solidFill>
              <a:srgbClr val="CBD4DA"/>
            </a:solidFill>
            <a:prstDash val="dash"/>
          </a:ln>
        </p:spPr>
        <p:txBody>
          <a:bodyPr/>
          <a:lstStyle/>
          <a:p>
            <a:endParaRPr lang="zh-CN" altLang="en-US"/>
          </a:p>
        </p:txBody>
      </p:sp>
      <p:sp>
        <p:nvSpPr>
          <p:cNvPr id="88" name="shape-87-"/>
          <p:cNvSpPr>
            <a:spLocks noGrp="1"/>
          </p:cNvSpPr>
          <p:nvPr/>
        </p:nvSpPr>
        <p:spPr>
          <a:xfrm>
            <a:off x="3603625" y="2201152"/>
            <a:ext cx="662305" cy="703580"/>
          </a:xfrm>
          <a:prstGeom prst="roundRect">
            <a:avLst>
              <a:gd name="adj" fmla="val 7143"/>
            </a:avLst>
          </a:prstGeom>
          <a:solidFill>
            <a:schemeClr val="bg1">
              <a:lumMod val="95000"/>
            </a:schemeClr>
          </a:solidFill>
          <a:ln w="6668">
            <a:noFill/>
            <a:prstDash val="solid"/>
          </a:ln>
        </p:spPr>
        <p:txBody>
          <a:bodyPr/>
          <a:lstStyle/>
          <a:p>
            <a:endParaRPr lang="zh-CN" altLang="en-US"/>
          </a:p>
        </p:txBody>
      </p:sp>
      <p:sp>
        <p:nvSpPr>
          <p:cNvPr id="89" name="shape-88-"/>
          <p:cNvSpPr>
            <a:spLocks noGrp="1"/>
          </p:cNvSpPr>
          <p:nvPr/>
        </p:nvSpPr>
        <p:spPr>
          <a:xfrm>
            <a:off x="4326890" y="2201152"/>
            <a:ext cx="689610" cy="703580"/>
          </a:xfrm>
          <a:prstGeom prst="roundRect">
            <a:avLst>
              <a:gd name="adj" fmla="val 6863"/>
            </a:avLst>
          </a:prstGeom>
          <a:solidFill>
            <a:schemeClr val="bg1">
              <a:lumMod val="95000"/>
            </a:schemeClr>
          </a:solidFill>
          <a:ln w="6668">
            <a:noFill/>
            <a:prstDash val="solid"/>
          </a:ln>
        </p:spPr>
        <p:txBody>
          <a:bodyPr/>
          <a:lstStyle/>
          <a:p>
            <a:endParaRPr lang="zh-CN" altLang="en-US"/>
          </a:p>
        </p:txBody>
      </p:sp>
      <p:sp>
        <p:nvSpPr>
          <p:cNvPr id="90" name="polygon-89-"/>
          <p:cNvSpPr>
            <a:spLocks noGrp="1"/>
          </p:cNvSpPr>
          <p:nvPr/>
        </p:nvSpPr>
        <p:spPr>
          <a:xfrm>
            <a:off x="3840069" y="2236018"/>
            <a:ext cx="175776" cy="223100"/>
          </a:xfrm>
          <a:custGeom>
            <a:avLst/>
            <a:gdLst/>
            <a:ahLst/>
            <a:cxnLst/>
            <a:rect l="0" t="0" r="0" b="0"/>
            <a:pathLst>
              <a:path w="247650" h="314325">
                <a:moveTo>
                  <a:pt x="0" y="0"/>
                </a:moveTo>
                <a:lnTo>
                  <a:pt x="161925" y="0"/>
                </a:lnTo>
                <a:lnTo>
                  <a:pt x="247650" y="85725"/>
                </a:lnTo>
                <a:lnTo>
                  <a:pt x="247650" y="314325"/>
                </a:lnTo>
                <a:lnTo>
                  <a:pt x="0" y="31432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91" name="path-90-"/>
          <p:cNvSpPr>
            <a:spLocks noGrp="1"/>
          </p:cNvSpPr>
          <p:nvPr/>
        </p:nvSpPr>
        <p:spPr>
          <a:xfrm>
            <a:off x="3955000" y="2236018"/>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92" name="path-91-"/>
          <p:cNvSpPr>
            <a:spLocks noGrp="1"/>
          </p:cNvSpPr>
          <p:nvPr/>
        </p:nvSpPr>
        <p:spPr>
          <a:xfrm>
            <a:off x="3880633" y="2317146"/>
            <a:ext cx="94648" cy="67"/>
          </a:xfrm>
          <a:custGeom>
            <a:avLst/>
            <a:gdLst/>
            <a:ahLst/>
            <a:cxnLst/>
            <a:rect l="0" t="0" r="0" b="0"/>
            <a:pathLst>
              <a:path w="133350" h="95">
                <a:moveTo>
                  <a:pt x="0" y="0"/>
                </a:moveTo>
                <a:lnTo>
                  <a:pt x="133350" y="0"/>
                </a:lnTo>
              </a:path>
            </a:pathLst>
          </a:custGeom>
          <a:noFill/>
          <a:ln w="17145">
            <a:solidFill>
              <a:srgbClr val="0076D9"/>
            </a:solidFill>
            <a:prstDash val="solid"/>
          </a:ln>
        </p:spPr>
        <p:txBody>
          <a:bodyPr/>
          <a:lstStyle/>
          <a:p>
            <a:endParaRPr lang="zh-CN" altLang="en-US"/>
          </a:p>
        </p:txBody>
      </p:sp>
      <p:sp>
        <p:nvSpPr>
          <p:cNvPr id="93" name="path-92-"/>
          <p:cNvSpPr>
            <a:spLocks noGrp="1"/>
          </p:cNvSpPr>
          <p:nvPr/>
        </p:nvSpPr>
        <p:spPr>
          <a:xfrm>
            <a:off x="3880633" y="2357709"/>
            <a:ext cx="94648" cy="67"/>
          </a:xfrm>
          <a:custGeom>
            <a:avLst/>
            <a:gdLst/>
            <a:ahLst/>
            <a:cxnLst/>
            <a:rect l="0" t="0" r="0" b="0"/>
            <a:pathLst>
              <a:path w="133350" h="95">
                <a:moveTo>
                  <a:pt x="0" y="0"/>
                </a:moveTo>
                <a:lnTo>
                  <a:pt x="133350" y="0"/>
                </a:lnTo>
              </a:path>
            </a:pathLst>
          </a:custGeom>
          <a:noFill/>
          <a:ln w="17145">
            <a:solidFill>
              <a:srgbClr val="0076D9"/>
            </a:solidFill>
            <a:prstDash val="solid"/>
          </a:ln>
        </p:spPr>
        <p:txBody>
          <a:bodyPr/>
          <a:lstStyle/>
          <a:p>
            <a:endParaRPr lang="zh-CN" altLang="en-US"/>
          </a:p>
        </p:txBody>
      </p:sp>
      <p:sp>
        <p:nvSpPr>
          <p:cNvPr id="94" name="path-93-"/>
          <p:cNvSpPr>
            <a:spLocks noGrp="1"/>
          </p:cNvSpPr>
          <p:nvPr/>
        </p:nvSpPr>
        <p:spPr>
          <a:xfrm>
            <a:off x="3880633" y="2398273"/>
            <a:ext cx="94648" cy="67"/>
          </a:xfrm>
          <a:custGeom>
            <a:avLst/>
            <a:gdLst/>
            <a:ahLst/>
            <a:cxnLst/>
            <a:rect l="0" t="0" r="0" b="0"/>
            <a:pathLst>
              <a:path w="133350" h="95">
                <a:moveTo>
                  <a:pt x="0" y="0"/>
                </a:moveTo>
                <a:lnTo>
                  <a:pt x="133350" y="0"/>
                </a:lnTo>
              </a:path>
            </a:pathLst>
          </a:custGeom>
          <a:noFill/>
          <a:ln w="17145">
            <a:solidFill>
              <a:srgbClr val="0076D9"/>
            </a:solidFill>
            <a:prstDash val="solid"/>
          </a:ln>
        </p:spPr>
        <p:txBody>
          <a:bodyPr/>
          <a:lstStyle/>
          <a:p>
            <a:endParaRPr lang="zh-CN" altLang="en-US"/>
          </a:p>
        </p:txBody>
      </p:sp>
      <p:sp>
        <p:nvSpPr>
          <p:cNvPr id="95" name="polygon-94-"/>
          <p:cNvSpPr>
            <a:spLocks noGrp="1"/>
          </p:cNvSpPr>
          <p:nvPr/>
        </p:nvSpPr>
        <p:spPr>
          <a:xfrm>
            <a:off x="4583736" y="2236018"/>
            <a:ext cx="182536" cy="223100"/>
          </a:xfrm>
          <a:custGeom>
            <a:avLst/>
            <a:gdLst/>
            <a:ahLst/>
            <a:cxnLst/>
            <a:rect l="0" t="0" r="0" b="0"/>
            <a:pathLst>
              <a:path w="257175" h="314325">
                <a:moveTo>
                  <a:pt x="0" y="0"/>
                </a:moveTo>
                <a:lnTo>
                  <a:pt x="171450" y="0"/>
                </a:lnTo>
                <a:lnTo>
                  <a:pt x="257175" y="85725"/>
                </a:lnTo>
                <a:lnTo>
                  <a:pt x="257175" y="314325"/>
                </a:lnTo>
                <a:lnTo>
                  <a:pt x="0" y="314325"/>
                </a:lnTo>
                <a:lnTo>
                  <a:pt x="0" y="0"/>
                </a:lnTo>
                <a:close/>
              </a:path>
            </a:pathLst>
          </a:custGeom>
          <a:solidFill>
            <a:srgbClr val="FFFFFF"/>
          </a:solidFill>
          <a:ln w="21908">
            <a:solidFill>
              <a:srgbClr val="008786"/>
            </a:solidFill>
            <a:prstDash val="solid"/>
          </a:ln>
        </p:spPr>
        <p:txBody>
          <a:bodyPr/>
          <a:lstStyle/>
          <a:p>
            <a:endParaRPr lang="zh-CN" altLang="en-US"/>
          </a:p>
        </p:txBody>
      </p:sp>
      <p:sp>
        <p:nvSpPr>
          <p:cNvPr id="96" name="path-95-"/>
          <p:cNvSpPr>
            <a:spLocks noGrp="1"/>
          </p:cNvSpPr>
          <p:nvPr/>
        </p:nvSpPr>
        <p:spPr>
          <a:xfrm>
            <a:off x="4705426" y="2236018"/>
            <a:ext cx="60845" cy="60845"/>
          </a:xfrm>
          <a:custGeom>
            <a:avLst/>
            <a:gdLst/>
            <a:ahLst/>
            <a:cxnLst/>
            <a:rect l="0" t="0" r="0" b="0"/>
            <a:pathLst>
              <a:path w="85725" h="85725">
                <a:moveTo>
                  <a:pt x="0" y="0"/>
                </a:moveTo>
                <a:lnTo>
                  <a:pt x="0" y="85725"/>
                </a:lnTo>
                <a:lnTo>
                  <a:pt x="85725" y="85725"/>
                </a:lnTo>
              </a:path>
            </a:pathLst>
          </a:custGeom>
          <a:noFill/>
          <a:ln w="15240">
            <a:solidFill>
              <a:srgbClr val="008786"/>
            </a:solidFill>
            <a:prstDash val="solid"/>
          </a:ln>
        </p:spPr>
        <p:txBody>
          <a:bodyPr/>
          <a:lstStyle/>
          <a:p>
            <a:endParaRPr lang="zh-CN" altLang="en-US"/>
          </a:p>
        </p:txBody>
      </p:sp>
      <p:sp>
        <p:nvSpPr>
          <p:cNvPr id="97" name="path-96-"/>
          <p:cNvSpPr>
            <a:spLocks noGrp="1"/>
          </p:cNvSpPr>
          <p:nvPr/>
        </p:nvSpPr>
        <p:spPr>
          <a:xfrm>
            <a:off x="4624299" y="2317146"/>
            <a:ext cx="101409" cy="67"/>
          </a:xfrm>
          <a:custGeom>
            <a:avLst/>
            <a:gdLst/>
            <a:ahLst/>
            <a:cxnLst/>
            <a:rect l="0" t="0" r="0" b="0"/>
            <a:pathLst>
              <a:path w="142875" h="95">
                <a:moveTo>
                  <a:pt x="0" y="0"/>
                </a:moveTo>
                <a:lnTo>
                  <a:pt x="142875" y="0"/>
                </a:lnTo>
              </a:path>
            </a:pathLst>
          </a:custGeom>
          <a:noFill/>
          <a:ln w="17145">
            <a:solidFill>
              <a:srgbClr val="008786"/>
            </a:solidFill>
            <a:prstDash val="solid"/>
          </a:ln>
        </p:spPr>
        <p:txBody>
          <a:bodyPr/>
          <a:lstStyle/>
          <a:p>
            <a:endParaRPr lang="zh-CN" altLang="en-US"/>
          </a:p>
        </p:txBody>
      </p:sp>
      <p:sp>
        <p:nvSpPr>
          <p:cNvPr id="98" name="path-97-"/>
          <p:cNvSpPr>
            <a:spLocks noGrp="1"/>
          </p:cNvSpPr>
          <p:nvPr/>
        </p:nvSpPr>
        <p:spPr>
          <a:xfrm>
            <a:off x="4624299" y="2357709"/>
            <a:ext cx="101409" cy="67"/>
          </a:xfrm>
          <a:custGeom>
            <a:avLst/>
            <a:gdLst/>
            <a:ahLst/>
            <a:cxnLst/>
            <a:rect l="0" t="0" r="0" b="0"/>
            <a:pathLst>
              <a:path w="142875" h="95">
                <a:moveTo>
                  <a:pt x="0" y="0"/>
                </a:moveTo>
                <a:lnTo>
                  <a:pt x="142875" y="0"/>
                </a:lnTo>
              </a:path>
            </a:pathLst>
          </a:custGeom>
          <a:noFill/>
          <a:ln w="17145">
            <a:solidFill>
              <a:srgbClr val="008786"/>
            </a:solidFill>
            <a:prstDash val="solid"/>
          </a:ln>
        </p:spPr>
        <p:txBody>
          <a:bodyPr/>
          <a:lstStyle/>
          <a:p>
            <a:endParaRPr lang="zh-CN" altLang="en-US"/>
          </a:p>
        </p:txBody>
      </p:sp>
      <p:sp>
        <p:nvSpPr>
          <p:cNvPr id="99" name="path-98-"/>
          <p:cNvSpPr>
            <a:spLocks noGrp="1"/>
          </p:cNvSpPr>
          <p:nvPr/>
        </p:nvSpPr>
        <p:spPr>
          <a:xfrm>
            <a:off x="4624299" y="2398273"/>
            <a:ext cx="101409" cy="67"/>
          </a:xfrm>
          <a:custGeom>
            <a:avLst/>
            <a:gdLst/>
            <a:ahLst/>
            <a:cxnLst/>
            <a:rect l="0" t="0" r="0" b="0"/>
            <a:pathLst>
              <a:path w="142875" h="95">
                <a:moveTo>
                  <a:pt x="0" y="0"/>
                </a:moveTo>
                <a:lnTo>
                  <a:pt x="142875" y="0"/>
                </a:lnTo>
              </a:path>
            </a:pathLst>
          </a:custGeom>
          <a:noFill/>
          <a:ln w="17145">
            <a:solidFill>
              <a:srgbClr val="008786"/>
            </a:solidFill>
            <a:prstDash val="solid"/>
          </a:ln>
        </p:spPr>
        <p:txBody>
          <a:bodyPr/>
          <a:lstStyle/>
          <a:p>
            <a:endParaRPr lang="zh-CN" altLang="en-US"/>
          </a:p>
        </p:txBody>
      </p:sp>
      <p:sp>
        <p:nvSpPr>
          <p:cNvPr id="100" name="text-99-NSF:"/>
          <p:cNvSpPr>
            <a:spLocks noGrp="1"/>
          </p:cNvSpPr>
          <p:nvPr/>
        </p:nvSpPr>
        <p:spPr>
          <a:xfrm>
            <a:off x="3623730" y="2506443"/>
            <a:ext cx="621975" cy="128451"/>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NSF:</a:t>
            </a:r>
            <a:endParaRPr sz="855" b="1">
              <a:solidFill>
                <a:srgbClr val="080967"/>
              </a:solidFill>
              <a:latin typeface="Times New Roman" panose="02020603050405020304"/>
              <a:ea typeface="Times New Roman" panose="02020603050405020304"/>
              <a:cs typeface="Times New Roman" panose="02020603050405020304"/>
            </a:endParaRPr>
          </a:p>
        </p:txBody>
      </p:sp>
      <p:sp>
        <p:nvSpPr>
          <p:cNvPr id="101" name="text-100-6,207 records&#10;2015–2025"/>
          <p:cNvSpPr>
            <a:spLocks noGrp="1"/>
          </p:cNvSpPr>
          <p:nvPr/>
        </p:nvSpPr>
        <p:spPr>
          <a:xfrm>
            <a:off x="3616970" y="2634894"/>
            <a:ext cx="635497" cy="229860"/>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6,207 records</a:t>
            </a:r>
            <a:endParaRPr sz="775" b="0">
              <a:solidFill>
                <a:srgbClr val="080967"/>
              </a:solidFill>
              <a:latin typeface="Times New Roman" panose="02020603050405020304"/>
              <a:ea typeface="Times New Roman" panose="02020603050405020304"/>
              <a:cs typeface="Times New Roman" panose="02020603050405020304"/>
            </a:endParaRPr>
          </a:p>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2015–2025</a:t>
            </a:r>
            <a:endParaRPr sz="775" b="0">
              <a:solidFill>
                <a:srgbClr val="080967"/>
              </a:solidFill>
              <a:latin typeface="Times New Roman" panose="02020603050405020304"/>
              <a:ea typeface="Times New Roman" panose="02020603050405020304"/>
              <a:cs typeface="Times New Roman" panose="02020603050405020304"/>
            </a:endParaRPr>
          </a:p>
        </p:txBody>
      </p:sp>
      <p:sp>
        <p:nvSpPr>
          <p:cNvPr id="102" name="text-101-NSFC:"/>
          <p:cNvSpPr>
            <a:spLocks noGrp="1"/>
          </p:cNvSpPr>
          <p:nvPr/>
        </p:nvSpPr>
        <p:spPr>
          <a:xfrm>
            <a:off x="4340354" y="2506443"/>
            <a:ext cx="669300" cy="128451"/>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NSFC:</a:t>
            </a:r>
            <a:endParaRPr sz="855" b="1">
              <a:solidFill>
                <a:srgbClr val="080967"/>
              </a:solidFill>
              <a:latin typeface="Times New Roman" panose="02020603050405020304"/>
              <a:ea typeface="Times New Roman" panose="02020603050405020304"/>
              <a:cs typeface="Times New Roman" panose="02020603050405020304"/>
            </a:endParaRPr>
          </a:p>
        </p:txBody>
      </p:sp>
      <p:sp>
        <p:nvSpPr>
          <p:cNvPr id="103" name="text-102-5,546 records&#10;2015–2023"/>
          <p:cNvSpPr>
            <a:spLocks noGrp="1"/>
          </p:cNvSpPr>
          <p:nvPr/>
        </p:nvSpPr>
        <p:spPr>
          <a:xfrm>
            <a:off x="4340354" y="2634894"/>
            <a:ext cx="669300" cy="229860"/>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5,546 records</a:t>
            </a:r>
            <a:endParaRPr sz="775" b="0">
              <a:solidFill>
                <a:srgbClr val="080967"/>
              </a:solidFill>
              <a:latin typeface="Times New Roman" panose="02020603050405020304"/>
              <a:ea typeface="Times New Roman" panose="02020603050405020304"/>
              <a:cs typeface="Times New Roman" panose="02020603050405020304"/>
            </a:endParaRPr>
          </a:p>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2015–2023</a:t>
            </a:r>
            <a:endParaRPr sz="775" b="0">
              <a:solidFill>
                <a:srgbClr val="080967"/>
              </a:solidFill>
              <a:latin typeface="Times New Roman" panose="02020603050405020304"/>
              <a:ea typeface="Times New Roman" panose="02020603050405020304"/>
              <a:cs typeface="Times New Roman" panose="02020603050405020304"/>
            </a:endParaRPr>
          </a:p>
        </p:txBody>
      </p:sp>
      <p:sp>
        <p:nvSpPr>
          <p:cNvPr id="104" name="shape-103-"/>
          <p:cNvSpPr>
            <a:spLocks noGrp="1"/>
          </p:cNvSpPr>
          <p:nvPr/>
        </p:nvSpPr>
        <p:spPr>
          <a:xfrm>
            <a:off x="5090795" y="1956677"/>
            <a:ext cx="1636395" cy="1534795"/>
          </a:xfrm>
          <a:prstGeom prst="roundRect">
            <a:avLst>
              <a:gd name="adj" fmla="val 3182"/>
            </a:avLst>
          </a:prstGeom>
          <a:solidFill>
            <a:srgbClr val="FFFFFF"/>
          </a:solidFill>
          <a:ln w="6668">
            <a:solidFill>
              <a:srgbClr val="CBD4DA"/>
            </a:solidFill>
            <a:prstDash val="dash"/>
          </a:ln>
        </p:spPr>
        <p:txBody>
          <a:bodyPr/>
          <a:lstStyle/>
          <a:p>
            <a:endParaRPr lang="zh-CN" altLang="en-US"/>
          </a:p>
        </p:txBody>
      </p:sp>
      <p:sp>
        <p:nvSpPr>
          <p:cNvPr id="105" name="text-104-Independent screening audit"/>
          <p:cNvSpPr>
            <a:spLocks noGrp="1"/>
          </p:cNvSpPr>
          <p:nvPr/>
        </p:nvSpPr>
        <p:spPr>
          <a:xfrm>
            <a:off x="5177790" y="1956677"/>
            <a:ext cx="1581785" cy="108585"/>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Independent screening audit</a:t>
            </a:r>
            <a:endParaRPr sz="855" b="1">
              <a:solidFill>
                <a:srgbClr val="334B5C"/>
              </a:solidFill>
              <a:latin typeface="Times New Roman" panose="02020603050405020304"/>
              <a:ea typeface="Times New Roman" panose="02020603050405020304"/>
              <a:cs typeface="Times New Roman" panose="02020603050405020304"/>
            </a:endParaRPr>
          </a:p>
        </p:txBody>
      </p:sp>
      <p:sp>
        <p:nvSpPr>
          <p:cNvPr id="108" name="shape-107-"/>
          <p:cNvSpPr>
            <a:spLocks noGrp="1"/>
          </p:cNvSpPr>
          <p:nvPr/>
        </p:nvSpPr>
        <p:spPr>
          <a:xfrm>
            <a:off x="5124918" y="2280440"/>
            <a:ext cx="757187" cy="980287"/>
          </a:xfrm>
          <a:prstGeom prst="roundRect">
            <a:avLst>
              <a:gd name="adj" fmla="val 5357"/>
            </a:avLst>
          </a:prstGeom>
          <a:noFill/>
          <a:ln w="6668">
            <a:solidFill>
              <a:srgbClr val="CBD4DA"/>
            </a:solidFill>
            <a:prstDash val="solid"/>
          </a:ln>
          <a:extLst>
            <a:ext uri="{909E8E84-426E-40DD-AFC4-6F175D3DCCD1}">
              <a14:hiddenFill xmlns:a14="http://schemas.microsoft.com/office/drawing/2010/main">
                <a:solidFill>
                  <a:srgbClr val="EAF2F7"/>
                </a:solidFill>
              </a14:hiddenFill>
            </a:ext>
          </a:extLst>
        </p:spPr>
        <p:txBody>
          <a:bodyPr/>
          <a:lstStyle/>
          <a:p>
            <a:endParaRPr lang="zh-CN" altLang="en-US"/>
          </a:p>
        </p:txBody>
      </p:sp>
      <p:sp>
        <p:nvSpPr>
          <p:cNvPr id="109" name="text-108-NSF"/>
          <p:cNvSpPr>
            <a:spLocks noGrp="1"/>
          </p:cNvSpPr>
          <p:nvPr/>
        </p:nvSpPr>
        <p:spPr>
          <a:xfrm>
            <a:off x="5131903" y="2145228"/>
            <a:ext cx="757187" cy="135212"/>
          </a:xfrm>
          <a:prstGeom prst="rect">
            <a:avLst/>
          </a:prstGeom>
          <a:noFill/>
          <a:ln w="0">
            <a:noFill/>
          </a:ln>
        </p:spPr>
        <p:txBody>
          <a:bodyPr wrap="none" lIns="0" tIns="0" rIns="0" bIns="0" anchor="ctr">
            <a:noAutofit/>
          </a:bodyPr>
          <a:lstStyle/>
          <a:p>
            <a:pPr algn="ctr">
              <a:defRPr sz="1200" b="1">
                <a:solidFill>
                  <a:srgbClr val="006EEF"/>
                </a:solidFill>
                <a:latin typeface="Times New Roman" panose="02020603050405020304"/>
                <a:ea typeface="Times New Roman" panose="02020603050405020304"/>
                <a:cs typeface="Times New Roman" panose="02020603050405020304"/>
              </a:defRPr>
            </a:pPr>
            <a:r>
              <a:rPr sz="855" b="1">
                <a:solidFill>
                  <a:srgbClr val="006EEF"/>
                </a:solidFill>
                <a:latin typeface="Times New Roman" panose="02020603050405020304"/>
                <a:ea typeface="Times New Roman" panose="02020603050405020304"/>
                <a:cs typeface="Times New Roman" panose="02020603050405020304"/>
              </a:rPr>
              <a:t>NSF</a:t>
            </a:r>
            <a:endParaRPr sz="855" b="1">
              <a:solidFill>
                <a:srgbClr val="006EEF"/>
              </a:solidFill>
              <a:latin typeface="Times New Roman" panose="02020603050405020304"/>
              <a:ea typeface="Times New Roman" panose="02020603050405020304"/>
              <a:cs typeface="Times New Roman" panose="02020603050405020304"/>
            </a:endParaRPr>
          </a:p>
        </p:txBody>
      </p:sp>
      <p:sp>
        <p:nvSpPr>
          <p:cNvPr id="110" name="shape-109-"/>
          <p:cNvSpPr>
            <a:spLocks noGrp="1"/>
          </p:cNvSpPr>
          <p:nvPr/>
        </p:nvSpPr>
        <p:spPr>
          <a:xfrm>
            <a:off x="5935741" y="2280440"/>
            <a:ext cx="757187" cy="980287"/>
          </a:xfrm>
          <a:prstGeom prst="roundRect">
            <a:avLst>
              <a:gd name="adj" fmla="val 5357"/>
            </a:avLst>
          </a:prstGeom>
          <a:noFill/>
          <a:ln w="6668">
            <a:solidFill>
              <a:srgbClr val="CBD4DA"/>
            </a:solidFill>
            <a:prstDash val="solid"/>
          </a:ln>
          <a:extLst>
            <a:ext uri="{909E8E84-426E-40DD-AFC4-6F175D3DCCD1}">
              <a14:hiddenFill xmlns:a14="http://schemas.microsoft.com/office/drawing/2010/main">
                <a:solidFill>
                  <a:srgbClr val="F7ECEA"/>
                </a:solidFill>
              </a14:hiddenFill>
            </a:ext>
          </a:extLst>
        </p:spPr>
        <p:txBody>
          <a:bodyPr/>
          <a:lstStyle/>
          <a:p>
            <a:endParaRPr lang="zh-CN" altLang="en-US"/>
          </a:p>
        </p:txBody>
      </p:sp>
      <p:sp>
        <p:nvSpPr>
          <p:cNvPr id="111" name="text-110-NSFC"/>
          <p:cNvSpPr>
            <a:spLocks noGrp="1"/>
          </p:cNvSpPr>
          <p:nvPr/>
        </p:nvSpPr>
        <p:spPr>
          <a:xfrm>
            <a:off x="5908436" y="2157293"/>
            <a:ext cx="757187" cy="135212"/>
          </a:xfrm>
          <a:prstGeom prst="rect">
            <a:avLst/>
          </a:prstGeom>
          <a:noFill/>
          <a:ln w="0">
            <a:noFill/>
          </a:ln>
        </p:spPr>
        <p:txBody>
          <a:bodyPr wrap="none" lIns="0" tIns="0" rIns="0" bIns="0" anchor="ctr">
            <a:noAutofit/>
          </a:bodyPr>
          <a:lstStyle/>
          <a:p>
            <a:pPr algn="ctr">
              <a:defRPr sz="1200" b="1">
                <a:solidFill>
                  <a:srgbClr val="D90C2A"/>
                </a:solidFill>
                <a:latin typeface="Times New Roman" panose="02020603050405020304"/>
                <a:ea typeface="Times New Roman" panose="02020603050405020304"/>
                <a:cs typeface="Times New Roman" panose="02020603050405020304"/>
              </a:defRPr>
            </a:pPr>
            <a:r>
              <a:rPr sz="855" b="1">
                <a:solidFill>
                  <a:srgbClr val="D90C2A"/>
                </a:solidFill>
                <a:latin typeface="Times New Roman" panose="02020603050405020304"/>
                <a:ea typeface="Times New Roman" panose="02020603050405020304"/>
                <a:cs typeface="Times New Roman" panose="02020603050405020304"/>
              </a:rPr>
              <a:t>NSFC</a:t>
            </a:r>
            <a:endParaRPr sz="855" b="1">
              <a:solidFill>
                <a:srgbClr val="D90C2A"/>
              </a:solidFill>
              <a:latin typeface="Times New Roman" panose="02020603050405020304"/>
              <a:ea typeface="Times New Roman" panose="02020603050405020304"/>
              <a:cs typeface="Times New Roman" panose="02020603050405020304"/>
            </a:endParaRPr>
          </a:p>
        </p:txBody>
      </p:sp>
      <p:sp>
        <p:nvSpPr>
          <p:cNvPr id="116" name="text-115-Two blinded reviewers&#10;High accuracy"/>
          <p:cNvSpPr>
            <a:spLocks noGrp="1"/>
          </p:cNvSpPr>
          <p:nvPr/>
        </p:nvSpPr>
        <p:spPr>
          <a:xfrm>
            <a:off x="5132089" y="3030867"/>
            <a:ext cx="743666" cy="209579"/>
          </a:xfrm>
          <a:prstGeom prst="rect">
            <a:avLst/>
          </a:prstGeom>
          <a:noFill/>
          <a:ln w="0">
            <a:noFill/>
          </a:ln>
        </p:spPr>
        <p:txBody>
          <a:bodyPr wrap="none" lIns="0" tIns="0" rIns="0" bIns="0" anchor="ctr">
            <a:noAutofit/>
          </a:bodyPr>
          <a:lstStyle/>
          <a:p>
            <a:pPr algn="ctr">
              <a:defRPr sz="875" b="0">
                <a:solidFill>
                  <a:srgbClr val="080967"/>
                </a:solidFill>
                <a:latin typeface="Times New Roman" panose="02020603050405020304"/>
                <a:ea typeface="Times New Roman" panose="02020603050405020304"/>
                <a:cs typeface="Times New Roman" panose="02020603050405020304"/>
              </a:defRPr>
            </a:pPr>
            <a:r>
              <a:rPr sz="620" b="0">
                <a:solidFill>
                  <a:srgbClr val="080967"/>
                </a:solidFill>
                <a:latin typeface="Times New Roman" panose="02020603050405020304"/>
                <a:ea typeface="Times New Roman" panose="02020603050405020304"/>
                <a:cs typeface="Times New Roman" panose="02020603050405020304"/>
              </a:rPr>
              <a:t>Two blinded reviewers</a:t>
            </a:r>
            <a:endParaRPr sz="620" b="0">
              <a:solidFill>
                <a:srgbClr val="080967"/>
              </a:solidFill>
              <a:latin typeface="Times New Roman" panose="02020603050405020304"/>
              <a:ea typeface="Times New Roman" panose="02020603050405020304"/>
              <a:cs typeface="Times New Roman" panose="02020603050405020304"/>
            </a:endParaRPr>
          </a:p>
          <a:p>
            <a:pPr algn="ctr">
              <a:defRPr sz="875" b="0">
                <a:solidFill>
                  <a:srgbClr val="080967"/>
                </a:solidFill>
                <a:latin typeface="Times New Roman" panose="02020603050405020304"/>
                <a:ea typeface="Times New Roman" panose="02020603050405020304"/>
                <a:cs typeface="Times New Roman" panose="02020603050405020304"/>
              </a:defRPr>
            </a:pPr>
            <a:r>
              <a:rPr sz="620" b="0">
                <a:solidFill>
                  <a:srgbClr val="080967"/>
                </a:solidFill>
                <a:latin typeface="Times New Roman" panose="02020603050405020304"/>
                <a:ea typeface="Times New Roman" panose="02020603050405020304"/>
                <a:cs typeface="Times New Roman" panose="02020603050405020304"/>
              </a:rPr>
              <a:t>High accuracy</a:t>
            </a:r>
            <a:endParaRPr sz="620" b="0">
              <a:solidFill>
                <a:srgbClr val="080967"/>
              </a:solidFill>
              <a:latin typeface="Times New Roman" panose="02020603050405020304"/>
              <a:ea typeface="Times New Roman" panose="02020603050405020304"/>
              <a:cs typeface="Times New Roman" panose="02020603050405020304"/>
            </a:endParaRPr>
          </a:p>
        </p:txBody>
      </p:sp>
      <p:sp>
        <p:nvSpPr>
          <p:cNvPr id="117" name="text-116-Two blinded reviewers&#10;High accuracy"/>
          <p:cNvSpPr>
            <a:spLocks noGrp="1"/>
          </p:cNvSpPr>
          <p:nvPr/>
        </p:nvSpPr>
        <p:spPr>
          <a:xfrm>
            <a:off x="5929167" y="3051187"/>
            <a:ext cx="750427" cy="209579"/>
          </a:xfrm>
          <a:prstGeom prst="rect">
            <a:avLst/>
          </a:prstGeom>
          <a:noFill/>
          <a:ln w="0">
            <a:noFill/>
          </a:ln>
        </p:spPr>
        <p:txBody>
          <a:bodyPr wrap="none" lIns="0" tIns="0" rIns="0" bIns="0" anchor="ctr">
            <a:noAutofit/>
          </a:bodyPr>
          <a:lstStyle/>
          <a:p>
            <a:pPr algn="ctr">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Two blinded reviewers</a:t>
            </a:r>
            <a:endParaRPr sz="630" b="0">
              <a:solidFill>
                <a:srgbClr val="080967"/>
              </a:solidFill>
              <a:latin typeface="Times New Roman" panose="02020603050405020304"/>
              <a:ea typeface="Times New Roman" panose="02020603050405020304"/>
              <a:cs typeface="Times New Roman" panose="02020603050405020304"/>
            </a:endParaRPr>
          </a:p>
          <a:p>
            <a:pPr algn="ctr">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High accuracy</a:t>
            </a:r>
            <a:endParaRPr sz="630" b="0">
              <a:solidFill>
                <a:srgbClr val="080967"/>
              </a:solidFill>
              <a:latin typeface="Times New Roman" panose="02020603050405020304"/>
              <a:ea typeface="Times New Roman" panose="02020603050405020304"/>
              <a:cs typeface="Times New Roman" panose="02020603050405020304"/>
            </a:endParaRPr>
          </a:p>
        </p:txBody>
      </p:sp>
      <p:sp>
        <p:nvSpPr>
          <p:cNvPr id="118" name="path-117-"/>
          <p:cNvSpPr>
            <a:spLocks noGrp="1"/>
          </p:cNvSpPr>
          <p:nvPr/>
        </p:nvSpPr>
        <p:spPr>
          <a:xfrm>
            <a:off x="2141220" y="2957437"/>
            <a:ext cx="76200" cy="78740"/>
          </a:xfrm>
          <a:custGeom>
            <a:avLst/>
            <a:gdLst/>
            <a:ahLst/>
            <a:cxnLst/>
            <a:rect l="0" t="0" r="0" b="0"/>
            <a:pathLst>
              <a:path w="95" h="247650">
                <a:moveTo>
                  <a:pt x="0" y="0"/>
                </a:moveTo>
                <a:lnTo>
                  <a:pt x="0" y="247650"/>
                </a:lnTo>
              </a:path>
            </a:pathLst>
          </a:custGeom>
          <a:noFill/>
          <a:ln w="23813">
            <a:solidFill>
              <a:srgbClr val="A3B9CC"/>
            </a:solidFill>
            <a:prstDash val="solid"/>
          </a:ln>
        </p:spPr>
        <p:txBody>
          <a:bodyPr/>
          <a:lstStyle/>
          <a:p>
            <a:endParaRPr lang="zh-CN" altLang="en-US"/>
          </a:p>
        </p:txBody>
      </p:sp>
      <p:sp>
        <p:nvSpPr>
          <p:cNvPr id="119" name="polygon-118-"/>
          <p:cNvSpPr>
            <a:spLocks noGrp="1"/>
          </p:cNvSpPr>
          <p:nvPr/>
        </p:nvSpPr>
        <p:spPr>
          <a:xfrm>
            <a:off x="2101229" y="3036348"/>
            <a:ext cx="77071" cy="67606"/>
          </a:xfrm>
          <a:custGeom>
            <a:avLst/>
            <a:gdLst/>
            <a:ahLst/>
            <a:cxnLst/>
            <a:rect l="0" t="0" r="0" b="0"/>
            <a:pathLst>
              <a:path w="108585" h="95250">
                <a:moveTo>
                  <a:pt x="54292" y="95250"/>
                </a:moveTo>
                <a:lnTo>
                  <a:pt x="108585" y="0"/>
                </a:lnTo>
                <a:lnTo>
                  <a:pt x="0" y="0"/>
                </a:lnTo>
                <a:close/>
              </a:path>
            </a:pathLst>
          </a:custGeom>
          <a:solidFill>
            <a:srgbClr val="A3B9CC"/>
          </a:solidFill>
          <a:ln w="0">
            <a:noFill/>
            <a:prstDash val="solid"/>
          </a:ln>
        </p:spPr>
        <p:txBody>
          <a:bodyPr/>
          <a:lstStyle/>
          <a:p>
            <a:endParaRPr lang="zh-CN" altLang="en-US"/>
          </a:p>
        </p:txBody>
      </p:sp>
      <p:sp>
        <p:nvSpPr>
          <p:cNvPr id="122" name="shape-121-"/>
          <p:cNvSpPr>
            <a:spLocks noGrp="1"/>
          </p:cNvSpPr>
          <p:nvPr/>
        </p:nvSpPr>
        <p:spPr>
          <a:xfrm>
            <a:off x="107950" y="3131427"/>
            <a:ext cx="1209675" cy="331470"/>
          </a:xfrm>
          <a:prstGeom prst="roundRect">
            <a:avLst>
              <a:gd name="adj" fmla="val 7317"/>
            </a:avLst>
          </a:prstGeom>
          <a:solidFill>
            <a:srgbClr val="F5F7F8"/>
          </a:solidFill>
          <a:ln w="6668">
            <a:solidFill>
              <a:srgbClr val="CBD4DA"/>
            </a:solidFill>
            <a:prstDash val="dash"/>
          </a:ln>
        </p:spPr>
        <p:txBody>
          <a:bodyPr/>
          <a:lstStyle/>
          <a:p>
            <a:endParaRPr lang="zh-CN" altLang="en-US"/>
          </a:p>
        </p:txBody>
      </p:sp>
      <p:sp>
        <p:nvSpPr>
          <p:cNvPr id="124" name="text-123-Exclude background-only&#10;and non-urban records"/>
          <p:cNvSpPr>
            <a:spLocks noGrp="1"/>
          </p:cNvSpPr>
          <p:nvPr/>
        </p:nvSpPr>
        <p:spPr>
          <a:xfrm>
            <a:off x="432435" y="3153652"/>
            <a:ext cx="873760" cy="290830"/>
          </a:xfrm>
          <a:prstGeom prst="rect">
            <a:avLst/>
          </a:prstGeom>
          <a:noFill/>
          <a:ln w="0">
            <a:noFill/>
          </a:ln>
        </p:spPr>
        <p:txBody>
          <a:bodyPr wrap="none" lIns="0" tIns="0" rIns="0" bIns="0" anchor="ctr">
            <a:noAutofit/>
          </a:bodyPr>
          <a:lstStyle/>
          <a:p>
            <a:pPr algn="l">
              <a:defRPr sz="1035" b="1">
                <a:solidFill>
                  <a:srgbClr val="080967"/>
                </a:solidFill>
                <a:latin typeface="Times New Roman" panose="02020603050405020304"/>
                <a:ea typeface="Times New Roman" panose="02020603050405020304"/>
                <a:cs typeface="Times New Roman" panose="02020603050405020304"/>
              </a:defRPr>
            </a:pPr>
            <a:r>
              <a:rPr sz="600" b="1">
                <a:solidFill>
                  <a:srgbClr val="080967"/>
                </a:solidFill>
                <a:latin typeface="Times New Roman" panose="02020603050405020304"/>
                <a:ea typeface="Times New Roman" panose="02020603050405020304"/>
                <a:cs typeface="Times New Roman" panose="02020603050405020304"/>
              </a:rPr>
              <a:t>Exclude background-only</a:t>
            </a:r>
            <a:endParaRPr sz="600" b="1">
              <a:solidFill>
                <a:srgbClr val="080967"/>
              </a:solidFill>
              <a:latin typeface="Times New Roman" panose="02020603050405020304"/>
              <a:ea typeface="Times New Roman" panose="02020603050405020304"/>
              <a:cs typeface="Times New Roman" panose="02020603050405020304"/>
            </a:endParaRPr>
          </a:p>
          <a:p>
            <a:pPr algn="l">
              <a:defRPr sz="1035" b="1">
                <a:solidFill>
                  <a:srgbClr val="080967"/>
                </a:solidFill>
                <a:latin typeface="Times New Roman" panose="02020603050405020304"/>
                <a:ea typeface="Times New Roman" panose="02020603050405020304"/>
                <a:cs typeface="Times New Roman" panose="02020603050405020304"/>
              </a:defRPr>
            </a:pPr>
            <a:r>
              <a:rPr sz="600" b="1">
                <a:solidFill>
                  <a:srgbClr val="080967"/>
                </a:solidFill>
                <a:latin typeface="Times New Roman" panose="02020603050405020304"/>
                <a:ea typeface="Times New Roman" panose="02020603050405020304"/>
                <a:cs typeface="Times New Roman" panose="02020603050405020304"/>
              </a:rPr>
              <a:t>and non-urban records</a:t>
            </a:r>
            <a:endParaRPr sz="600" b="1">
              <a:solidFill>
                <a:srgbClr val="080967"/>
              </a:solidFill>
              <a:latin typeface="Times New Roman" panose="02020603050405020304"/>
              <a:ea typeface="Times New Roman" panose="02020603050405020304"/>
              <a:cs typeface="Times New Roman" panose="02020603050405020304"/>
            </a:endParaRPr>
          </a:p>
        </p:txBody>
      </p:sp>
      <p:sp>
        <p:nvSpPr>
          <p:cNvPr id="125" name="shape-124-"/>
          <p:cNvSpPr>
            <a:spLocks noGrp="1"/>
          </p:cNvSpPr>
          <p:nvPr/>
        </p:nvSpPr>
        <p:spPr>
          <a:xfrm>
            <a:off x="1338580" y="3076817"/>
            <a:ext cx="3718560" cy="414655"/>
          </a:xfrm>
          <a:prstGeom prst="roundRect">
            <a:avLst>
              <a:gd name="adj" fmla="val 7317"/>
            </a:avLst>
          </a:prstGeom>
          <a:solidFill>
            <a:srgbClr val="F5F7F8"/>
          </a:solidFill>
          <a:ln w="6668">
            <a:solidFill>
              <a:srgbClr val="CBD4DA"/>
            </a:solidFill>
            <a:prstDash val="dash"/>
          </a:ln>
        </p:spPr>
        <p:txBody>
          <a:bodyPr/>
          <a:lstStyle/>
          <a:p>
            <a:endParaRPr lang="zh-CN" altLang="en-US"/>
          </a:p>
        </p:txBody>
      </p:sp>
      <p:sp>
        <p:nvSpPr>
          <p:cNvPr id="126" name="text-125-Typical examples of excluded records"/>
          <p:cNvSpPr>
            <a:spLocks noGrp="1"/>
          </p:cNvSpPr>
          <p:nvPr/>
        </p:nvSpPr>
        <p:spPr>
          <a:xfrm>
            <a:off x="1547495" y="3112377"/>
            <a:ext cx="1684020" cy="76200"/>
          </a:xfrm>
          <a:prstGeom prst="rect">
            <a:avLst/>
          </a:prstGeom>
          <a:noFill/>
          <a:ln w="0">
            <a:noFill/>
          </a:ln>
        </p:spPr>
        <p:txBody>
          <a:bodyPr wrap="none" lIns="0" tIns="0" rIns="0" bIns="0" anchor="ctr">
            <a:noAutofit/>
          </a:bodyPr>
          <a:lstStyle/>
          <a:p>
            <a:pPr algn="l">
              <a:defRPr sz="1125" b="1">
                <a:solidFill>
                  <a:srgbClr val="334B5C"/>
                </a:solidFill>
                <a:latin typeface="Times New Roman" panose="02020603050405020304"/>
                <a:ea typeface="Times New Roman" panose="02020603050405020304"/>
                <a:cs typeface="Times New Roman" panose="02020603050405020304"/>
              </a:defRPr>
            </a:pPr>
            <a:r>
              <a:rPr sz="800" b="1">
                <a:solidFill>
                  <a:srgbClr val="334B5C"/>
                </a:solidFill>
                <a:latin typeface="Times New Roman" panose="02020603050405020304"/>
                <a:ea typeface="Times New Roman" panose="02020603050405020304"/>
                <a:cs typeface="Times New Roman" panose="02020603050405020304"/>
              </a:rPr>
              <a:t>Typical examples of excluded records</a:t>
            </a:r>
            <a:endParaRPr sz="800" b="1">
              <a:solidFill>
                <a:srgbClr val="334B5C"/>
              </a:solidFill>
              <a:latin typeface="Times New Roman" panose="02020603050405020304"/>
              <a:ea typeface="Times New Roman" panose="02020603050405020304"/>
              <a:cs typeface="Times New Roman" panose="02020603050405020304"/>
            </a:endParaRPr>
          </a:p>
        </p:txBody>
      </p:sp>
      <p:sp>
        <p:nvSpPr>
          <p:cNvPr id="127" name="shape-126-"/>
          <p:cNvSpPr>
            <a:spLocks noGrp="1"/>
          </p:cNvSpPr>
          <p:nvPr/>
        </p:nvSpPr>
        <p:spPr>
          <a:xfrm>
            <a:off x="1366520" y="3220720"/>
            <a:ext cx="851535" cy="23368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29" name="text-128-Background-only&#10;city/SDG mentions"/>
          <p:cNvSpPr>
            <a:spLocks noGrp="1"/>
          </p:cNvSpPr>
          <p:nvPr/>
        </p:nvSpPr>
        <p:spPr>
          <a:xfrm>
            <a:off x="1591310" y="3240647"/>
            <a:ext cx="615315" cy="189230"/>
          </a:xfrm>
          <a:prstGeom prst="rect">
            <a:avLst/>
          </a:prstGeom>
          <a:noFill/>
          <a:ln w="0">
            <a:noFill/>
          </a:ln>
        </p:spPr>
        <p:txBody>
          <a:bodyPr wrap="none" lIns="0" tIns="0" rIns="0" bIns="0" anchor="ctr">
            <a:noAutofit/>
          </a:bodyPr>
          <a:lstStyle/>
          <a:p>
            <a:pPr algn="l">
              <a:defRPr sz="86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Background-only</a:t>
            </a:r>
            <a:endParaRPr sz="600" b="0">
              <a:solidFill>
                <a:srgbClr val="080967"/>
              </a:solidFill>
              <a:latin typeface="Times New Roman" panose="02020603050405020304"/>
              <a:ea typeface="Times New Roman" panose="02020603050405020304"/>
              <a:cs typeface="Times New Roman" panose="02020603050405020304"/>
            </a:endParaRPr>
          </a:p>
          <a:p>
            <a:pPr algn="l">
              <a:defRPr sz="86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city/SDG mentions</a:t>
            </a: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30" name="shape-129-"/>
          <p:cNvSpPr>
            <a:spLocks noGrp="1"/>
          </p:cNvSpPr>
          <p:nvPr/>
        </p:nvSpPr>
        <p:spPr>
          <a:xfrm>
            <a:off x="2248535" y="3213977"/>
            <a:ext cx="554355" cy="24130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32" name="text-131-Medicine&#10;(health/clinical)"/>
          <p:cNvSpPr>
            <a:spLocks noGrp="1"/>
          </p:cNvSpPr>
          <p:nvPr/>
        </p:nvSpPr>
        <p:spPr>
          <a:xfrm>
            <a:off x="2447290" y="3241917"/>
            <a:ext cx="567690" cy="250190"/>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Medicine</a:t>
            </a:r>
            <a:endParaRPr sz="600" b="0">
              <a:solidFill>
                <a:srgbClr val="080967"/>
              </a:solidFill>
              <a:latin typeface="Times New Roman" panose="02020603050405020304"/>
              <a:ea typeface="Times New Roman" panose="02020603050405020304"/>
              <a:cs typeface="Times New Roman" panose="02020603050405020304"/>
            </a:endParaRPr>
          </a:p>
          <a:p>
            <a:pPr algn="l">
              <a:defRPr sz="900" b="0">
                <a:solidFill>
                  <a:srgbClr val="080967"/>
                </a:solidFill>
                <a:latin typeface="Times New Roman" panose="02020603050405020304"/>
                <a:ea typeface="Times New Roman" panose="02020603050405020304"/>
                <a:cs typeface="Times New Roman" panose="02020603050405020304"/>
              </a:defRPr>
            </a:pP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33" name="shape-132-"/>
          <p:cNvSpPr>
            <a:spLocks noGrp="1"/>
          </p:cNvSpPr>
          <p:nvPr/>
        </p:nvSpPr>
        <p:spPr>
          <a:xfrm>
            <a:off x="2840990" y="3213342"/>
            <a:ext cx="532130" cy="240665"/>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35" name="text-134-Materials&#10;(nanomaterials)"/>
          <p:cNvSpPr>
            <a:spLocks noGrp="1"/>
          </p:cNvSpPr>
          <p:nvPr/>
        </p:nvSpPr>
        <p:spPr>
          <a:xfrm>
            <a:off x="3044190" y="3288907"/>
            <a:ext cx="301625" cy="142240"/>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Materials</a:t>
            </a:r>
            <a:endParaRPr sz="600" b="0">
              <a:solidFill>
                <a:srgbClr val="080967"/>
              </a:solidFill>
              <a:latin typeface="Times New Roman" panose="02020603050405020304"/>
              <a:ea typeface="Times New Roman" panose="02020603050405020304"/>
              <a:cs typeface="Times New Roman" panose="02020603050405020304"/>
            </a:endParaRPr>
          </a:p>
          <a:p>
            <a:pPr algn="l">
              <a:defRPr sz="900" b="0">
                <a:solidFill>
                  <a:srgbClr val="080967"/>
                </a:solidFill>
                <a:latin typeface="Times New Roman" panose="02020603050405020304"/>
                <a:ea typeface="Times New Roman" panose="02020603050405020304"/>
                <a:cs typeface="Times New Roman" panose="02020603050405020304"/>
              </a:defRPr>
            </a:pP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36" name="shape-135-"/>
          <p:cNvSpPr>
            <a:spLocks noGrp="1"/>
          </p:cNvSpPr>
          <p:nvPr/>
        </p:nvSpPr>
        <p:spPr>
          <a:xfrm>
            <a:off x="3401695" y="3213342"/>
            <a:ext cx="553720" cy="25019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38" name="text-137-Algorithms&#10;(AI/methods)"/>
          <p:cNvSpPr>
            <a:spLocks noGrp="1"/>
          </p:cNvSpPr>
          <p:nvPr/>
        </p:nvSpPr>
        <p:spPr>
          <a:xfrm>
            <a:off x="3594258" y="3220970"/>
            <a:ext cx="486763" cy="250142"/>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Algorithms</a:t>
            </a:r>
            <a:endParaRPr sz="600" b="0">
              <a:solidFill>
                <a:srgbClr val="080967"/>
              </a:solidFill>
              <a:latin typeface="Times New Roman" panose="02020603050405020304"/>
              <a:ea typeface="Times New Roman" panose="02020603050405020304"/>
              <a:cs typeface="Times New Roman" panose="02020603050405020304"/>
            </a:endParaRPr>
          </a:p>
          <a:p>
            <a:pPr algn="l">
              <a:defRPr sz="900" b="0">
                <a:solidFill>
                  <a:srgbClr val="080967"/>
                </a:solidFill>
                <a:latin typeface="Times New Roman" panose="02020603050405020304"/>
                <a:ea typeface="Times New Roman" panose="02020603050405020304"/>
                <a:cs typeface="Times New Roman" panose="02020603050405020304"/>
              </a:defRPr>
            </a:pP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39" name="shape-138-"/>
          <p:cNvSpPr>
            <a:spLocks noGrp="1"/>
          </p:cNvSpPr>
          <p:nvPr/>
        </p:nvSpPr>
        <p:spPr>
          <a:xfrm>
            <a:off x="3995420" y="3213977"/>
            <a:ext cx="454660" cy="25527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41" name="text-140-Basic biology"/>
          <p:cNvSpPr>
            <a:spLocks noGrp="1"/>
          </p:cNvSpPr>
          <p:nvPr/>
        </p:nvSpPr>
        <p:spPr>
          <a:xfrm>
            <a:off x="4180840" y="3219057"/>
            <a:ext cx="286385" cy="250190"/>
          </a:xfrm>
          <a:prstGeom prst="rect">
            <a:avLst/>
          </a:prstGeom>
          <a:noFill/>
          <a:ln w="0">
            <a:noFill/>
          </a:ln>
        </p:spPr>
        <p:txBody>
          <a:bodyPr wrap="none" lIns="0" tIns="0" rIns="0" bIns="0" anchor="ctr">
            <a:noAutofit/>
          </a:bodyPr>
          <a:lstStyle/>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Basic </a:t>
            </a:r>
            <a:endParaRPr sz="600" b="0">
              <a:solidFill>
                <a:srgbClr val="080967"/>
              </a:solidFill>
              <a:latin typeface="Times New Roman" panose="02020603050405020304"/>
              <a:ea typeface="Times New Roman" panose="02020603050405020304"/>
              <a:cs typeface="Times New Roman" panose="02020603050405020304"/>
            </a:endParaRPr>
          </a:p>
          <a:p>
            <a:pPr algn="l">
              <a:defRPr sz="90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biology</a:t>
            </a: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42" name="shape-141-"/>
          <p:cNvSpPr>
            <a:spLocks noGrp="1"/>
          </p:cNvSpPr>
          <p:nvPr/>
        </p:nvSpPr>
        <p:spPr>
          <a:xfrm>
            <a:off x="4485005" y="3213977"/>
            <a:ext cx="538480" cy="250190"/>
          </a:xfrm>
          <a:prstGeom prst="roundRect">
            <a:avLst>
              <a:gd name="adj" fmla="val 10417"/>
            </a:avLst>
          </a:prstGeom>
          <a:solidFill>
            <a:srgbClr val="F5F7F8"/>
          </a:solidFill>
          <a:ln w="6668">
            <a:solidFill>
              <a:srgbClr val="CBD4DA"/>
            </a:solidFill>
            <a:prstDash val="solid"/>
          </a:ln>
        </p:spPr>
        <p:txBody>
          <a:bodyPr/>
          <a:lstStyle/>
          <a:p>
            <a:endParaRPr lang="zh-CN" altLang="en-US"/>
          </a:p>
        </p:txBody>
      </p:sp>
      <p:sp>
        <p:nvSpPr>
          <p:cNvPr id="144" name="text-143-General economics"/>
          <p:cNvSpPr>
            <a:spLocks noGrp="1"/>
          </p:cNvSpPr>
          <p:nvPr/>
        </p:nvSpPr>
        <p:spPr>
          <a:xfrm>
            <a:off x="4679950" y="3212072"/>
            <a:ext cx="305435" cy="279400"/>
          </a:xfrm>
          <a:prstGeom prst="rect">
            <a:avLst/>
          </a:prstGeom>
          <a:noFill/>
          <a:ln w="0">
            <a:noFill/>
          </a:ln>
        </p:spPr>
        <p:txBody>
          <a:bodyPr wrap="none" lIns="0" tIns="0" rIns="0" bIns="0" anchor="ctr">
            <a:noAutofit/>
          </a:bodyPr>
          <a:lstStyle/>
          <a:p>
            <a:pPr algn="l">
              <a:defRPr sz="84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General </a:t>
            </a:r>
            <a:endParaRPr sz="600" b="0">
              <a:solidFill>
                <a:srgbClr val="080967"/>
              </a:solidFill>
              <a:latin typeface="Times New Roman" panose="02020603050405020304"/>
              <a:ea typeface="Times New Roman" panose="02020603050405020304"/>
              <a:cs typeface="Times New Roman" panose="02020603050405020304"/>
            </a:endParaRPr>
          </a:p>
          <a:p>
            <a:pPr algn="l">
              <a:defRPr sz="840"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economics</a:t>
            </a: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46" name="shape-145-"/>
          <p:cNvSpPr>
            <a:spLocks noGrp="1"/>
          </p:cNvSpPr>
          <p:nvPr/>
        </p:nvSpPr>
        <p:spPr>
          <a:xfrm>
            <a:off x="67945" y="3604895"/>
            <a:ext cx="6693535" cy="23685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147" name="path-146-"/>
          <p:cNvSpPr>
            <a:spLocks noGrp="1"/>
          </p:cNvSpPr>
          <p:nvPr/>
        </p:nvSpPr>
        <p:spPr>
          <a:xfrm>
            <a:off x="67945" y="3841992"/>
            <a:ext cx="6713855" cy="76200"/>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150" name="text-149-Codebook and prompt design"/>
          <p:cNvSpPr>
            <a:spLocks noGrp="1"/>
          </p:cNvSpPr>
          <p:nvPr/>
        </p:nvSpPr>
        <p:spPr>
          <a:xfrm>
            <a:off x="338078" y="3605236"/>
            <a:ext cx="6152148" cy="22310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200" b="1">
                <a:solidFill>
                  <a:srgbClr val="334B5C"/>
                </a:solidFill>
                <a:latin typeface="Times New Roman" panose="02020603050405020304"/>
                <a:ea typeface="Times New Roman" panose="02020603050405020304"/>
                <a:cs typeface="Times New Roman" panose="02020603050405020304"/>
              </a:rPr>
              <a:t>Codebook and prompt design</a:t>
            </a:r>
            <a:endParaRPr sz="1200" b="1">
              <a:solidFill>
                <a:srgbClr val="334B5C"/>
              </a:solidFill>
              <a:latin typeface="Times New Roman" panose="02020603050405020304"/>
              <a:ea typeface="Times New Roman" panose="02020603050405020304"/>
              <a:cs typeface="Times New Roman" panose="02020603050405020304"/>
            </a:endParaRPr>
          </a:p>
        </p:txBody>
      </p:sp>
      <p:sp>
        <p:nvSpPr>
          <p:cNvPr id="152" name="text-151-Codebook&#10;(v3.5.2)"/>
          <p:cNvSpPr>
            <a:spLocks noGrp="1"/>
          </p:cNvSpPr>
          <p:nvPr/>
        </p:nvSpPr>
        <p:spPr>
          <a:xfrm>
            <a:off x="122001" y="4476571"/>
            <a:ext cx="615215" cy="250142"/>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Codebook</a:t>
            </a:r>
            <a:endParaRPr sz="855" b="1">
              <a:solidFill>
                <a:srgbClr val="080967"/>
              </a:solidFill>
              <a:latin typeface="Times New Roman" panose="02020603050405020304"/>
              <a:ea typeface="Times New Roman" panose="02020603050405020304"/>
              <a:cs typeface="Times New Roman" panose="02020603050405020304"/>
            </a:endParaRPr>
          </a:p>
          <a:p>
            <a:pPr algn="ctr">
              <a:defRPr sz="1200" b="1">
                <a:solidFill>
                  <a:srgbClr val="080967"/>
                </a:solidFill>
                <a:latin typeface="Times New Roman" panose="02020603050405020304"/>
                <a:ea typeface="Times New Roman" panose="02020603050405020304"/>
                <a:cs typeface="Times New Roman" panose="02020603050405020304"/>
              </a:defRPr>
            </a:pPr>
            <a:endParaRPr sz="855" b="1">
              <a:solidFill>
                <a:srgbClr val="080967"/>
              </a:solidFill>
              <a:latin typeface="Times New Roman" panose="02020603050405020304"/>
              <a:ea typeface="Times New Roman" panose="02020603050405020304"/>
              <a:cs typeface="Times New Roman" panose="02020603050405020304"/>
            </a:endParaRPr>
          </a:p>
        </p:txBody>
      </p:sp>
      <p:sp>
        <p:nvSpPr>
          <p:cNvPr id="154" name="polygon-153-"/>
          <p:cNvSpPr>
            <a:spLocks noGrp="1"/>
          </p:cNvSpPr>
          <p:nvPr/>
        </p:nvSpPr>
        <p:spPr>
          <a:xfrm>
            <a:off x="872242" y="4181467"/>
            <a:ext cx="67606" cy="77071"/>
          </a:xfrm>
          <a:custGeom>
            <a:avLst/>
            <a:gdLst/>
            <a:ahLst/>
            <a:cxnLst/>
            <a:rect l="0" t="0" r="0" b="0"/>
            <a:pathLst>
              <a:path w="95250" h="108585">
                <a:moveTo>
                  <a:pt x="0" y="54293"/>
                </a:moveTo>
                <a:lnTo>
                  <a:pt x="95250" y="108585"/>
                </a:lnTo>
                <a:lnTo>
                  <a:pt x="95250" y="0"/>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155" name="path-154-"/>
          <p:cNvSpPr>
            <a:spLocks noGrp="1"/>
          </p:cNvSpPr>
          <p:nvPr/>
        </p:nvSpPr>
        <p:spPr>
          <a:xfrm>
            <a:off x="939652" y="4220002"/>
            <a:ext cx="297466" cy="67"/>
          </a:xfrm>
          <a:custGeom>
            <a:avLst/>
            <a:gdLst/>
            <a:ahLst/>
            <a:cxnLst/>
            <a:rect l="0" t="0" r="0" b="0"/>
            <a:pathLst>
              <a:path w="419100" h="95">
                <a:moveTo>
                  <a:pt x="0" y="0"/>
                </a:moveTo>
                <a:lnTo>
                  <a:pt x="419100" y="0"/>
                </a:lnTo>
              </a:path>
            </a:pathLst>
          </a:custGeom>
          <a:noFill/>
          <a:ln w="23813">
            <a:solidFill>
              <a:schemeClr val="bg2">
                <a:lumMod val="50000"/>
              </a:schemeClr>
            </a:solidFill>
            <a:prstDash val="solid"/>
          </a:ln>
        </p:spPr>
        <p:txBody>
          <a:bodyPr/>
          <a:lstStyle/>
          <a:p>
            <a:endParaRPr lang="zh-CN" altLang="en-US"/>
          </a:p>
        </p:txBody>
      </p:sp>
      <p:sp>
        <p:nvSpPr>
          <p:cNvPr id="156" name="polygon-155-"/>
          <p:cNvSpPr>
            <a:spLocks noGrp="1"/>
          </p:cNvSpPr>
          <p:nvPr/>
        </p:nvSpPr>
        <p:spPr>
          <a:xfrm>
            <a:off x="1236822" y="4181467"/>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157" name="text-156-Alignment"/>
          <p:cNvSpPr>
            <a:spLocks noGrp="1"/>
          </p:cNvSpPr>
          <p:nvPr/>
        </p:nvSpPr>
        <p:spPr>
          <a:xfrm>
            <a:off x="785060" y="4033059"/>
            <a:ext cx="615215" cy="148733"/>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a:solidFill>
                  <a:srgbClr val="080967"/>
                </a:solidFill>
                <a:latin typeface="Times New Roman" panose="02020603050405020304"/>
                <a:ea typeface="Times New Roman" panose="02020603050405020304"/>
                <a:cs typeface="Times New Roman" panose="02020603050405020304"/>
              </a:rPr>
              <a:t>Alignment</a:t>
            </a:r>
            <a:endParaRPr sz="775" b="0">
              <a:solidFill>
                <a:srgbClr val="080967"/>
              </a:solidFill>
              <a:latin typeface="Times New Roman" panose="02020603050405020304"/>
              <a:ea typeface="Times New Roman" panose="02020603050405020304"/>
              <a:cs typeface="Times New Roman" panose="02020603050405020304"/>
            </a:endParaRPr>
          </a:p>
        </p:txBody>
      </p:sp>
      <p:sp>
        <p:nvSpPr>
          <p:cNvPr id="159" name="text-158-Unified Chinese–English&#10;coding prompt"/>
          <p:cNvSpPr>
            <a:spLocks noGrp="1"/>
          </p:cNvSpPr>
          <p:nvPr/>
        </p:nvSpPr>
        <p:spPr>
          <a:xfrm>
            <a:off x="1167798" y="4388902"/>
            <a:ext cx="973527" cy="236621"/>
          </a:xfrm>
          <a:prstGeom prst="rect">
            <a:avLst/>
          </a:prstGeom>
          <a:noFill/>
          <a:ln w="0">
            <a:noFill/>
          </a:ln>
        </p:spPr>
        <p:txBody>
          <a:bodyPr wrap="none" lIns="0" tIns="0" rIns="0" bIns="0" anchor="ctr">
            <a:noAutofit/>
          </a:bodyPr>
          <a:lstStyle/>
          <a:p>
            <a:pPr algn="ctr">
              <a:defRPr sz="1005" b="1">
                <a:solidFill>
                  <a:srgbClr val="080967"/>
                </a:solidFill>
                <a:latin typeface="Times New Roman" panose="02020603050405020304"/>
                <a:ea typeface="Times New Roman" panose="02020603050405020304"/>
                <a:cs typeface="Times New Roman" panose="02020603050405020304"/>
              </a:defRPr>
            </a:pPr>
            <a:r>
              <a:rPr sz="710" b="1">
                <a:solidFill>
                  <a:srgbClr val="080967"/>
                </a:solidFill>
                <a:latin typeface="Times New Roman" panose="02020603050405020304"/>
                <a:ea typeface="Times New Roman" panose="02020603050405020304"/>
                <a:cs typeface="Times New Roman" panose="02020603050405020304"/>
              </a:rPr>
              <a:t>Unified Chinese–English</a:t>
            </a:r>
            <a:endParaRPr sz="710" b="1">
              <a:solidFill>
                <a:srgbClr val="080967"/>
              </a:solidFill>
              <a:latin typeface="Times New Roman" panose="02020603050405020304"/>
              <a:ea typeface="Times New Roman" panose="02020603050405020304"/>
              <a:cs typeface="Times New Roman" panose="02020603050405020304"/>
            </a:endParaRPr>
          </a:p>
          <a:p>
            <a:pPr algn="ctr">
              <a:defRPr sz="1005" b="1">
                <a:solidFill>
                  <a:srgbClr val="080967"/>
                </a:solidFill>
                <a:latin typeface="Times New Roman" panose="02020603050405020304"/>
                <a:ea typeface="Times New Roman" panose="02020603050405020304"/>
                <a:cs typeface="Times New Roman" panose="02020603050405020304"/>
              </a:defRPr>
            </a:pPr>
            <a:r>
              <a:rPr sz="710" b="1">
                <a:solidFill>
                  <a:srgbClr val="080967"/>
                </a:solidFill>
                <a:latin typeface="Times New Roman" panose="02020603050405020304"/>
                <a:ea typeface="Times New Roman" panose="02020603050405020304"/>
                <a:cs typeface="Times New Roman" panose="02020603050405020304"/>
              </a:rPr>
              <a:t>coding prompt</a:t>
            </a:r>
            <a:endParaRPr sz="710" b="1">
              <a:solidFill>
                <a:srgbClr val="080967"/>
              </a:solidFill>
              <a:latin typeface="Times New Roman" panose="02020603050405020304"/>
              <a:ea typeface="Times New Roman" panose="02020603050405020304"/>
              <a:cs typeface="Times New Roman" panose="02020603050405020304"/>
            </a:endParaRPr>
          </a:p>
        </p:txBody>
      </p:sp>
      <p:sp>
        <p:nvSpPr>
          <p:cNvPr id="160" name="shape-159-"/>
          <p:cNvSpPr>
            <a:spLocks noGrp="1"/>
          </p:cNvSpPr>
          <p:nvPr/>
        </p:nvSpPr>
        <p:spPr>
          <a:xfrm>
            <a:off x="114935" y="4660507"/>
            <a:ext cx="2103120" cy="700405"/>
          </a:xfrm>
          <a:prstGeom prst="roundRect">
            <a:avLst>
              <a:gd name="adj" fmla="val 10000"/>
            </a:avLst>
          </a:prstGeom>
          <a:solidFill>
            <a:srgbClr val="F5F7F8"/>
          </a:solidFill>
          <a:ln w="6668">
            <a:solidFill>
              <a:srgbClr val="CBD4DA"/>
            </a:solidFill>
            <a:prstDash val="solid"/>
          </a:ln>
        </p:spPr>
        <p:txBody>
          <a:bodyPr/>
          <a:lstStyle/>
          <a:p>
            <a:endParaRPr lang="zh-CN" altLang="en-US"/>
          </a:p>
        </p:txBody>
      </p:sp>
      <p:sp>
        <p:nvSpPr>
          <p:cNvPr id="162" name="text-161-12 urban-related SDGs;&#10;121 Targets"/>
          <p:cNvSpPr>
            <a:spLocks noGrp="1"/>
          </p:cNvSpPr>
          <p:nvPr/>
        </p:nvSpPr>
        <p:spPr>
          <a:xfrm>
            <a:off x="666115" y="4815447"/>
            <a:ext cx="1551940" cy="270510"/>
          </a:xfrm>
          <a:prstGeom prst="rect">
            <a:avLst/>
          </a:prstGeom>
          <a:noFill/>
          <a:ln w="0">
            <a:noFill/>
          </a:ln>
        </p:spPr>
        <p:txBody>
          <a:bodyPr wrap="none" lIns="0" tIns="0" rIns="0" bIns="0" anchor="ctr">
            <a:noAutofit/>
          </a:bodyPr>
          <a:lstStyle/>
          <a:p>
            <a:pPr algn="ctr">
              <a:defRPr sz="1165" b="1">
                <a:solidFill>
                  <a:srgbClr val="080967"/>
                </a:solidFill>
                <a:latin typeface="Times New Roman" panose="02020603050405020304"/>
                <a:ea typeface="Times New Roman" panose="02020603050405020304"/>
                <a:cs typeface="Times New Roman" panose="02020603050405020304"/>
              </a:defRPr>
            </a:pPr>
            <a:r>
              <a:rPr sz="825" b="1">
                <a:solidFill>
                  <a:srgbClr val="080967"/>
                </a:solidFill>
                <a:latin typeface="Times New Roman" panose="02020603050405020304"/>
                <a:ea typeface="Times New Roman" panose="02020603050405020304"/>
                <a:cs typeface="Times New Roman" panose="02020603050405020304"/>
              </a:rPr>
              <a:t>12 urban-related SDGs</a:t>
            </a:r>
            <a:endParaRPr sz="825" b="1">
              <a:solidFill>
                <a:srgbClr val="080967"/>
              </a:solidFill>
              <a:latin typeface="Times New Roman" panose="02020603050405020304"/>
              <a:ea typeface="Times New Roman" panose="02020603050405020304"/>
              <a:cs typeface="Times New Roman" panose="02020603050405020304"/>
            </a:endParaRPr>
          </a:p>
          <a:p>
            <a:pPr algn="ctr">
              <a:defRPr sz="1165" b="1">
                <a:solidFill>
                  <a:srgbClr val="080967"/>
                </a:solidFill>
                <a:latin typeface="Times New Roman" panose="02020603050405020304"/>
                <a:ea typeface="Times New Roman" panose="02020603050405020304"/>
                <a:cs typeface="Times New Roman" panose="02020603050405020304"/>
              </a:defRPr>
            </a:pPr>
            <a:r>
              <a:rPr sz="825" b="1">
                <a:solidFill>
                  <a:srgbClr val="080967"/>
                </a:solidFill>
                <a:latin typeface="Times New Roman" panose="02020603050405020304"/>
                <a:ea typeface="Times New Roman" panose="02020603050405020304"/>
                <a:cs typeface="Times New Roman" panose="02020603050405020304"/>
              </a:rPr>
              <a:t>121 Targets</a:t>
            </a:r>
            <a:endParaRPr sz="825" b="1">
              <a:solidFill>
                <a:srgbClr val="080967"/>
              </a:solidFill>
              <a:latin typeface="Times New Roman" panose="02020603050405020304"/>
              <a:ea typeface="Times New Roman" panose="02020603050405020304"/>
              <a:cs typeface="Times New Roman" panose="02020603050405020304"/>
            </a:endParaRPr>
          </a:p>
        </p:txBody>
      </p:sp>
      <p:sp>
        <p:nvSpPr>
          <p:cNvPr id="163" name="text-162-SDG Targets framework"/>
          <p:cNvSpPr>
            <a:spLocks noGrp="1"/>
          </p:cNvSpPr>
          <p:nvPr/>
        </p:nvSpPr>
        <p:spPr>
          <a:xfrm>
            <a:off x="851740" y="5086066"/>
            <a:ext cx="1284514" cy="148733"/>
          </a:xfrm>
          <a:prstGeom prst="rect">
            <a:avLst/>
          </a:prstGeom>
          <a:noFill/>
          <a:ln w="0">
            <a:noFill/>
          </a:ln>
        </p:spPr>
        <p:txBody>
          <a:bodyPr wrap="none" lIns="0" tIns="0" rIns="0" bIns="0" anchor="ctr">
            <a:noAutofit/>
          </a:bodyPr>
          <a:lstStyle/>
          <a:p>
            <a:pPr algn="l">
              <a:defRPr sz="1125" b="1">
                <a:solidFill>
                  <a:srgbClr val="080967"/>
                </a:solidFill>
                <a:latin typeface="Times New Roman" panose="02020603050405020304"/>
                <a:ea typeface="Times New Roman" panose="02020603050405020304"/>
                <a:cs typeface="Times New Roman" panose="02020603050405020304"/>
              </a:defRPr>
            </a:pPr>
            <a:r>
              <a:rPr sz="800" b="1">
                <a:solidFill>
                  <a:srgbClr val="080967"/>
                </a:solidFill>
                <a:latin typeface="Times New Roman" panose="02020603050405020304"/>
                <a:ea typeface="Times New Roman" panose="02020603050405020304"/>
                <a:cs typeface="Times New Roman" panose="02020603050405020304"/>
              </a:rPr>
              <a:t>SDG Targets framework</a:t>
            </a:r>
            <a:endParaRPr sz="800" b="1">
              <a:solidFill>
                <a:srgbClr val="080967"/>
              </a:solidFill>
              <a:latin typeface="Times New Roman" panose="02020603050405020304"/>
              <a:ea typeface="Times New Roman" panose="02020603050405020304"/>
              <a:cs typeface="Times New Roman" panose="02020603050405020304"/>
            </a:endParaRPr>
          </a:p>
        </p:txBody>
      </p:sp>
      <p:sp>
        <p:nvSpPr>
          <p:cNvPr id="164" name="shape-163-"/>
          <p:cNvSpPr>
            <a:spLocks noGrp="1"/>
          </p:cNvSpPr>
          <p:nvPr/>
        </p:nvSpPr>
        <p:spPr>
          <a:xfrm>
            <a:off x="2279268" y="3893440"/>
            <a:ext cx="1926771" cy="1467051"/>
          </a:xfrm>
          <a:prstGeom prst="roundRect">
            <a:avLst>
              <a:gd name="adj" fmla="val 2304"/>
            </a:avLst>
          </a:prstGeom>
          <a:solidFill>
            <a:srgbClr val="FFFFFF"/>
          </a:solidFill>
          <a:ln w="6668">
            <a:solidFill>
              <a:srgbClr val="CBD4DA"/>
            </a:solidFill>
            <a:prstDash val="dash"/>
          </a:ln>
        </p:spPr>
        <p:txBody>
          <a:bodyPr/>
          <a:lstStyle/>
          <a:p>
            <a:endParaRPr lang="zh-CN" altLang="en-US"/>
          </a:p>
        </p:txBody>
      </p:sp>
      <p:sp>
        <p:nvSpPr>
          <p:cNvPr id="165" name="text-164-Six research-content dimensions"/>
          <p:cNvSpPr>
            <a:spLocks noGrp="1"/>
          </p:cNvSpPr>
          <p:nvPr/>
        </p:nvSpPr>
        <p:spPr>
          <a:xfrm>
            <a:off x="2285131" y="3917981"/>
            <a:ext cx="1859165" cy="162254"/>
          </a:xfrm>
          <a:prstGeom prst="rect">
            <a:avLst/>
          </a:prstGeom>
          <a:noFill/>
          <a:ln w="0">
            <a:noFill/>
          </a:ln>
        </p:spPr>
        <p:txBody>
          <a:bodyPr wrap="none" lIns="0" tIns="0" rIns="0" bIns="0" anchor="ctr">
            <a:noAutofit/>
          </a:bodyPr>
          <a:lstStyle/>
          <a:p>
            <a:pPr algn="ctr">
              <a:defRPr sz="1165" b="1">
                <a:solidFill>
                  <a:srgbClr val="334B5C"/>
                </a:solidFill>
                <a:latin typeface="Times New Roman" panose="02020603050405020304"/>
                <a:ea typeface="Times New Roman" panose="02020603050405020304"/>
                <a:cs typeface="Times New Roman" panose="02020603050405020304"/>
              </a:defRPr>
            </a:pPr>
            <a:r>
              <a:rPr sz="825" b="1">
                <a:solidFill>
                  <a:srgbClr val="334B5C"/>
                </a:solidFill>
                <a:latin typeface="Times New Roman" panose="02020603050405020304"/>
                <a:ea typeface="Times New Roman" panose="02020603050405020304"/>
                <a:cs typeface="Times New Roman" panose="02020603050405020304"/>
              </a:rPr>
              <a:t>Six research-content dimensions</a:t>
            </a:r>
            <a:endParaRPr sz="825" b="1">
              <a:solidFill>
                <a:srgbClr val="334B5C"/>
              </a:solidFill>
              <a:latin typeface="Times New Roman" panose="02020603050405020304"/>
              <a:ea typeface="Times New Roman" panose="02020603050405020304"/>
              <a:cs typeface="Times New Roman" panose="02020603050405020304"/>
            </a:endParaRPr>
          </a:p>
        </p:txBody>
      </p:sp>
      <p:sp>
        <p:nvSpPr>
          <p:cNvPr id="166" name="shape-165-"/>
          <p:cNvSpPr>
            <a:spLocks noGrp="1"/>
          </p:cNvSpPr>
          <p:nvPr/>
        </p:nvSpPr>
        <p:spPr>
          <a:xfrm>
            <a:off x="2352813" y="4092300"/>
            <a:ext cx="567891" cy="574651"/>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68" name="text-167-Urban&#10;needs"/>
          <p:cNvSpPr>
            <a:spLocks noGrp="1"/>
          </p:cNvSpPr>
          <p:nvPr/>
        </p:nvSpPr>
        <p:spPr>
          <a:xfrm>
            <a:off x="2366335" y="4423570"/>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Urban</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needs</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169" name="shape-168-"/>
          <p:cNvSpPr>
            <a:spLocks noGrp="1"/>
          </p:cNvSpPr>
          <p:nvPr/>
        </p:nvSpPr>
        <p:spPr>
          <a:xfrm>
            <a:off x="2947746" y="4092300"/>
            <a:ext cx="567891" cy="574651"/>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71" name="text-170-Problem&#10;pressures"/>
          <p:cNvSpPr>
            <a:spLocks noGrp="1"/>
          </p:cNvSpPr>
          <p:nvPr/>
        </p:nvSpPr>
        <p:spPr>
          <a:xfrm>
            <a:off x="2961268" y="4423570"/>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Problem</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pressures</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172" name="shape-171-"/>
          <p:cNvSpPr>
            <a:spLocks noGrp="1"/>
          </p:cNvSpPr>
          <p:nvPr/>
        </p:nvSpPr>
        <p:spPr>
          <a:xfrm>
            <a:off x="3569722" y="4092300"/>
            <a:ext cx="581412" cy="574651"/>
          </a:xfrm>
          <a:prstGeom prst="roundRect">
            <a:avLst>
              <a:gd name="adj" fmla="val 9412"/>
            </a:avLst>
          </a:prstGeom>
          <a:solidFill>
            <a:schemeClr val="bg1"/>
          </a:solidFill>
          <a:ln w="6668">
            <a:solidFill>
              <a:schemeClr val="bg1">
                <a:lumMod val="85000"/>
              </a:schemeClr>
            </a:solidFill>
            <a:prstDash val="sysDash"/>
          </a:ln>
        </p:spPr>
        <p:txBody>
          <a:bodyPr/>
          <a:lstStyle/>
          <a:p>
            <a:endParaRPr lang="zh-CN" altLang="en-US"/>
          </a:p>
        </p:txBody>
      </p:sp>
      <p:sp>
        <p:nvSpPr>
          <p:cNvPr id="174" name="text-173-Urban&#10;systems"/>
          <p:cNvSpPr>
            <a:spLocks noGrp="1"/>
          </p:cNvSpPr>
          <p:nvPr/>
        </p:nvSpPr>
        <p:spPr>
          <a:xfrm>
            <a:off x="3583243" y="4423570"/>
            <a:ext cx="554369"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Urban</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systems</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175" name="shape-174-"/>
          <p:cNvSpPr>
            <a:spLocks noGrp="1"/>
          </p:cNvSpPr>
          <p:nvPr/>
        </p:nvSpPr>
        <p:spPr>
          <a:xfrm>
            <a:off x="2352813" y="4693994"/>
            <a:ext cx="567891" cy="608454"/>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77" name="text-176-Knowledge&#10;tasks"/>
          <p:cNvSpPr>
            <a:spLocks noGrp="1"/>
          </p:cNvSpPr>
          <p:nvPr/>
        </p:nvSpPr>
        <p:spPr>
          <a:xfrm>
            <a:off x="2366335" y="5025263"/>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Knowledge</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tasks</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178" name="shape-177-"/>
          <p:cNvSpPr>
            <a:spLocks noGrp="1"/>
          </p:cNvSpPr>
          <p:nvPr/>
        </p:nvSpPr>
        <p:spPr>
          <a:xfrm>
            <a:off x="2947746" y="4693994"/>
            <a:ext cx="567891" cy="608454"/>
          </a:xfrm>
          <a:prstGeom prst="roundRect">
            <a:avLst>
              <a:gd name="adj" fmla="val 9524"/>
            </a:avLst>
          </a:prstGeom>
          <a:solidFill>
            <a:schemeClr val="bg1"/>
          </a:solidFill>
          <a:ln w="6668">
            <a:solidFill>
              <a:schemeClr val="bg1">
                <a:lumMod val="85000"/>
              </a:schemeClr>
            </a:solidFill>
            <a:prstDash val="sysDash"/>
          </a:ln>
        </p:spPr>
        <p:txBody>
          <a:bodyPr/>
          <a:lstStyle/>
          <a:p>
            <a:endParaRPr lang="zh-CN" altLang="en-US"/>
          </a:p>
        </p:txBody>
      </p:sp>
      <p:sp>
        <p:nvSpPr>
          <p:cNvPr id="180" name="text-179-Intervention&#10;types"/>
          <p:cNvSpPr>
            <a:spLocks noGrp="1"/>
          </p:cNvSpPr>
          <p:nvPr/>
        </p:nvSpPr>
        <p:spPr>
          <a:xfrm>
            <a:off x="2961268" y="5025263"/>
            <a:ext cx="540848"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Intervention</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types</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181" name="shape-180-"/>
          <p:cNvSpPr>
            <a:spLocks noGrp="1"/>
          </p:cNvSpPr>
          <p:nvPr/>
        </p:nvSpPr>
        <p:spPr>
          <a:xfrm>
            <a:off x="3569722" y="4693994"/>
            <a:ext cx="581412" cy="608454"/>
          </a:xfrm>
          <a:prstGeom prst="roundRect">
            <a:avLst>
              <a:gd name="adj" fmla="val 9302"/>
            </a:avLst>
          </a:prstGeom>
          <a:solidFill>
            <a:schemeClr val="bg1"/>
          </a:solidFill>
          <a:ln w="6668">
            <a:solidFill>
              <a:schemeClr val="bg1">
                <a:lumMod val="85000"/>
              </a:schemeClr>
            </a:solidFill>
            <a:prstDash val="sysDash"/>
          </a:ln>
        </p:spPr>
        <p:txBody>
          <a:bodyPr/>
          <a:lstStyle/>
          <a:p>
            <a:endParaRPr lang="zh-CN" altLang="en-US"/>
          </a:p>
        </p:txBody>
      </p:sp>
      <p:sp>
        <p:nvSpPr>
          <p:cNvPr id="183" name="text-182-Research-action&#10;stages"/>
          <p:cNvSpPr>
            <a:spLocks noGrp="1"/>
          </p:cNvSpPr>
          <p:nvPr/>
        </p:nvSpPr>
        <p:spPr>
          <a:xfrm>
            <a:off x="3583243" y="5025263"/>
            <a:ext cx="554369" cy="236621"/>
          </a:xfrm>
          <a:prstGeom prst="rect">
            <a:avLst/>
          </a:prstGeom>
          <a:noFill/>
          <a:ln w="0">
            <a:noFill/>
          </a:ln>
        </p:spPr>
        <p:txBody>
          <a:bodyPr wrap="none" lIns="0" tIns="0" rIns="0" bIns="0" anchor="ctr">
            <a:noAutofit/>
          </a:bodyPr>
          <a:lstStyle/>
          <a:p>
            <a:pPr algn="ctr">
              <a:defRPr sz="920" b="0">
                <a:solidFill>
                  <a:srgbClr val="080967"/>
                </a:solidFill>
                <a:latin typeface="Times New Roman" panose="02020603050405020304"/>
                <a:ea typeface="Times New Roman" panose="02020603050405020304"/>
                <a:cs typeface="Times New Roman" panose="02020603050405020304"/>
              </a:defRPr>
            </a:pPr>
            <a:r>
              <a:rPr sz="655" b="0">
                <a:solidFill>
                  <a:srgbClr val="080967"/>
                </a:solidFill>
                <a:latin typeface="Times New Roman" panose="02020603050405020304"/>
                <a:ea typeface="Times New Roman" panose="02020603050405020304"/>
                <a:cs typeface="Times New Roman" panose="02020603050405020304"/>
              </a:rPr>
              <a:t>Research-action</a:t>
            </a:r>
            <a:endParaRPr sz="655" b="0">
              <a:solidFill>
                <a:srgbClr val="080967"/>
              </a:solidFill>
              <a:latin typeface="Times New Roman" panose="02020603050405020304"/>
              <a:ea typeface="Times New Roman" panose="02020603050405020304"/>
              <a:cs typeface="Times New Roman" panose="02020603050405020304"/>
            </a:endParaRPr>
          </a:p>
          <a:p>
            <a:pPr algn="ctr">
              <a:defRPr sz="920" b="0">
                <a:solidFill>
                  <a:srgbClr val="080967"/>
                </a:solidFill>
                <a:latin typeface="Times New Roman" panose="02020603050405020304"/>
                <a:ea typeface="Times New Roman" panose="02020603050405020304"/>
                <a:cs typeface="Times New Roman" panose="02020603050405020304"/>
              </a:defRPr>
            </a:pPr>
            <a:r>
              <a:rPr sz="655" b="0">
                <a:solidFill>
                  <a:srgbClr val="080967"/>
                </a:solidFill>
                <a:latin typeface="Times New Roman" panose="02020603050405020304"/>
                <a:ea typeface="Times New Roman" panose="02020603050405020304"/>
                <a:cs typeface="Times New Roman" panose="02020603050405020304"/>
              </a:rPr>
              <a:t>stages</a:t>
            </a:r>
            <a:endParaRPr sz="655" b="0">
              <a:solidFill>
                <a:srgbClr val="080967"/>
              </a:solidFill>
              <a:latin typeface="Times New Roman" panose="02020603050405020304"/>
              <a:ea typeface="Times New Roman" panose="02020603050405020304"/>
              <a:cs typeface="Times New Roman" panose="02020603050405020304"/>
            </a:endParaRPr>
          </a:p>
        </p:txBody>
      </p:sp>
      <p:sp>
        <p:nvSpPr>
          <p:cNvPr id="184" name="shape-183-"/>
          <p:cNvSpPr>
            <a:spLocks noGrp="1"/>
          </p:cNvSpPr>
          <p:nvPr/>
        </p:nvSpPr>
        <p:spPr>
          <a:xfrm>
            <a:off x="4232910" y="3876282"/>
            <a:ext cx="2409825" cy="534035"/>
          </a:xfrm>
          <a:prstGeom prst="roundRect">
            <a:avLst>
              <a:gd name="adj" fmla="val 7595"/>
            </a:avLst>
          </a:prstGeom>
          <a:solidFill>
            <a:srgbClr val="FFFFFF"/>
          </a:solidFill>
          <a:ln w="6668">
            <a:solidFill>
              <a:srgbClr val="CBD4DA"/>
            </a:solidFill>
            <a:prstDash val="solid"/>
          </a:ln>
        </p:spPr>
        <p:txBody>
          <a:bodyPr/>
          <a:lstStyle/>
          <a:p>
            <a:endParaRPr lang="zh-CN" altLang="en-US"/>
          </a:p>
        </p:txBody>
      </p:sp>
      <p:sp>
        <p:nvSpPr>
          <p:cNvPr id="185" name="shape-184-"/>
          <p:cNvSpPr>
            <a:spLocks noGrp="1"/>
          </p:cNvSpPr>
          <p:nvPr/>
        </p:nvSpPr>
        <p:spPr>
          <a:xfrm>
            <a:off x="4232910" y="3876282"/>
            <a:ext cx="2409825" cy="189230"/>
          </a:xfrm>
          <a:prstGeom prst="roundRect">
            <a:avLst>
              <a:gd name="adj" fmla="val 20833"/>
            </a:avLst>
          </a:prstGeom>
          <a:solidFill>
            <a:srgbClr val="E8EEF2"/>
          </a:solidFill>
          <a:ln w="6668">
            <a:noFill/>
            <a:prstDash val="solid"/>
          </a:ln>
        </p:spPr>
        <p:txBody>
          <a:bodyPr/>
          <a:lstStyle/>
          <a:p>
            <a:endParaRPr lang="zh-CN" altLang="en-US"/>
          </a:p>
        </p:txBody>
      </p:sp>
      <p:sp>
        <p:nvSpPr>
          <p:cNvPr id="186" name="text-185-Prompt design (role and rules)"/>
          <p:cNvSpPr>
            <a:spLocks noGrp="1"/>
          </p:cNvSpPr>
          <p:nvPr/>
        </p:nvSpPr>
        <p:spPr>
          <a:xfrm>
            <a:off x="4287014" y="3888995"/>
            <a:ext cx="2359450" cy="155494"/>
          </a:xfrm>
          <a:prstGeom prst="rect">
            <a:avLst/>
          </a:prstGeom>
          <a:noFill/>
          <a:ln w="0">
            <a:noFill/>
          </a:ln>
        </p:spPr>
        <p:txBody>
          <a:bodyPr wrap="none" lIns="0" tIns="0" rIns="0" bIns="0" anchor="ctr">
            <a:noAutofit/>
          </a:bodyPr>
          <a:lstStyle/>
          <a:p>
            <a:pPr algn="l">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Prompt design (role and rules)</a:t>
            </a:r>
            <a:endParaRPr sz="855" b="1">
              <a:solidFill>
                <a:srgbClr val="334B5C"/>
              </a:solidFill>
              <a:latin typeface="Times New Roman" panose="02020603050405020304"/>
              <a:ea typeface="Times New Roman" panose="02020603050405020304"/>
              <a:cs typeface="Times New Roman" panose="02020603050405020304"/>
            </a:endParaRPr>
          </a:p>
        </p:txBody>
      </p:sp>
      <p:sp>
        <p:nvSpPr>
          <p:cNvPr id="188" name="text-187-Conservative bilingual coder&#10;Urban sustainability + SDG aware"/>
          <p:cNvSpPr>
            <a:spLocks noGrp="1"/>
          </p:cNvSpPr>
          <p:nvPr/>
        </p:nvSpPr>
        <p:spPr>
          <a:xfrm>
            <a:off x="4651819" y="4105559"/>
            <a:ext cx="1852405" cy="263663"/>
          </a:xfrm>
          <a:prstGeom prst="rect">
            <a:avLst/>
          </a:prstGeom>
          <a:noFill/>
          <a:ln w="0">
            <a:noFill/>
          </a:ln>
        </p:spPr>
        <p:txBody>
          <a:bodyPr wrap="none" lIns="0" tIns="0" rIns="0" bIns="0" anchor="ctr">
            <a:noAutofit/>
          </a:bodyPr>
          <a:lstStyle/>
          <a:p>
            <a:pPr algn="ctr">
              <a:defRPr sz="1200" b="0">
                <a:solidFill>
                  <a:srgbClr val="080967"/>
                </a:solidFill>
                <a:latin typeface="Times New Roman" panose="02020603050405020304"/>
                <a:ea typeface="Times New Roman" panose="02020603050405020304"/>
                <a:cs typeface="Times New Roman" panose="02020603050405020304"/>
              </a:defRPr>
            </a:pPr>
            <a:r>
              <a:rPr sz="855" b="0">
                <a:solidFill>
                  <a:srgbClr val="080967"/>
                </a:solidFill>
                <a:latin typeface="Times New Roman" panose="02020603050405020304"/>
                <a:ea typeface="Times New Roman" panose="02020603050405020304"/>
                <a:cs typeface="Times New Roman" panose="02020603050405020304"/>
              </a:rPr>
              <a:t>Conservative bilingual coder</a:t>
            </a:r>
            <a:endParaRPr sz="855" b="0">
              <a:solidFill>
                <a:srgbClr val="080967"/>
              </a:solidFill>
              <a:latin typeface="Times New Roman" panose="02020603050405020304"/>
              <a:ea typeface="Times New Roman" panose="02020603050405020304"/>
              <a:cs typeface="Times New Roman" panose="02020603050405020304"/>
            </a:endParaRPr>
          </a:p>
          <a:p>
            <a:pPr algn="ctr">
              <a:defRPr sz="1200" b="0">
                <a:solidFill>
                  <a:srgbClr val="080967"/>
                </a:solidFill>
                <a:latin typeface="Times New Roman" panose="02020603050405020304"/>
                <a:ea typeface="Times New Roman" panose="02020603050405020304"/>
                <a:cs typeface="Times New Roman" panose="02020603050405020304"/>
              </a:defRPr>
            </a:pPr>
            <a:r>
              <a:rPr sz="855" b="0">
                <a:solidFill>
                  <a:srgbClr val="080967"/>
                </a:solidFill>
                <a:latin typeface="Times New Roman" panose="02020603050405020304"/>
                <a:ea typeface="Times New Roman" panose="02020603050405020304"/>
                <a:cs typeface="Times New Roman" panose="02020603050405020304"/>
              </a:rPr>
              <a:t>Urban sustainability + SDG aware</a:t>
            </a:r>
            <a:endParaRPr sz="855" b="0">
              <a:solidFill>
                <a:srgbClr val="080967"/>
              </a:solidFill>
              <a:latin typeface="Times New Roman" panose="02020603050405020304"/>
              <a:ea typeface="Times New Roman" panose="02020603050405020304"/>
              <a:cs typeface="Times New Roman" panose="02020603050405020304"/>
            </a:endParaRPr>
          </a:p>
        </p:txBody>
      </p:sp>
      <p:sp>
        <p:nvSpPr>
          <p:cNvPr id="189" name="shape-188-"/>
          <p:cNvSpPr>
            <a:spLocks noGrp="1"/>
          </p:cNvSpPr>
          <p:nvPr/>
        </p:nvSpPr>
        <p:spPr>
          <a:xfrm>
            <a:off x="4261485" y="4447782"/>
            <a:ext cx="1232535" cy="912495"/>
          </a:xfrm>
          <a:prstGeom prst="roundRect">
            <a:avLst>
              <a:gd name="adj" fmla="val 3704"/>
            </a:avLst>
          </a:prstGeom>
          <a:solidFill>
            <a:srgbClr val="FFFFFF"/>
          </a:solidFill>
          <a:ln w="6668">
            <a:solidFill>
              <a:srgbClr val="CBD4DA"/>
            </a:solidFill>
            <a:prstDash val="solid"/>
          </a:ln>
        </p:spPr>
        <p:txBody>
          <a:bodyPr/>
          <a:lstStyle/>
          <a:p>
            <a:endParaRPr lang="zh-CN" altLang="en-US"/>
          </a:p>
        </p:txBody>
      </p:sp>
      <p:sp>
        <p:nvSpPr>
          <p:cNvPr id="190" name="shape-189-"/>
          <p:cNvSpPr>
            <a:spLocks noGrp="1"/>
          </p:cNvSpPr>
          <p:nvPr/>
        </p:nvSpPr>
        <p:spPr>
          <a:xfrm>
            <a:off x="5524500" y="4448417"/>
            <a:ext cx="1121410" cy="912495"/>
          </a:xfrm>
          <a:prstGeom prst="roundRect">
            <a:avLst>
              <a:gd name="adj" fmla="val 3704"/>
            </a:avLst>
          </a:prstGeom>
          <a:solidFill>
            <a:srgbClr val="FFFFFF"/>
          </a:solidFill>
          <a:ln w="6668">
            <a:solidFill>
              <a:srgbClr val="CBD4DA"/>
            </a:solidFill>
            <a:prstDash val="solid"/>
          </a:ln>
        </p:spPr>
        <p:txBody>
          <a:bodyPr/>
          <a:lstStyle/>
          <a:p>
            <a:endParaRPr lang="zh-CN" altLang="en-US"/>
          </a:p>
        </p:txBody>
      </p:sp>
      <p:sp>
        <p:nvSpPr>
          <p:cNvPr id="192" name="text-191-Definitions and boundaries"/>
          <p:cNvSpPr>
            <a:spLocks noGrp="1"/>
          </p:cNvSpPr>
          <p:nvPr/>
        </p:nvSpPr>
        <p:spPr>
          <a:xfrm>
            <a:off x="4549446" y="4495358"/>
            <a:ext cx="912681" cy="155494"/>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Definitions and boundaries</a:t>
            </a:r>
            <a:endParaRPr sz="650" b="0">
              <a:solidFill>
                <a:srgbClr val="080967"/>
              </a:solidFill>
              <a:latin typeface="Times New Roman" panose="02020603050405020304"/>
              <a:ea typeface="Times New Roman" panose="02020603050405020304"/>
              <a:cs typeface="Times New Roman" panose="02020603050405020304"/>
            </a:endParaRPr>
          </a:p>
        </p:txBody>
      </p:sp>
      <p:sp>
        <p:nvSpPr>
          <p:cNvPr id="194" name="text-193-Hierarchy and selection rules"/>
          <p:cNvSpPr>
            <a:spLocks noGrp="1"/>
          </p:cNvSpPr>
          <p:nvPr/>
        </p:nvSpPr>
        <p:spPr>
          <a:xfrm>
            <a:off x="4549446" y="4677894"/>
            <a:ext cx="912681" cy="155494"/>
          </a:xfrm>
          <a:prstGeom prst="rect">
            <a:avLst/>
          </a:prstGeom>
          <a:noFill/>
          <a:ln w="0">
            <a:noFill/>
          </a:ln>
        </p:spPr>
        <p:txBody>
          <a:bodyPr wrap="none" lIns="0" tIns="0" rIns="0" bIns="0" anchor="ctr">
            <a:noAutofit/>
          </a:bodyPr>
          <a:lstStyle/>
          <a:p>
            <a:pPr algn="l">
              <a:defRPr sz="845" b="0">
                <a:solidFill>
                  <a:srgbClr val="080967"/>
                </a:solidFill>
                <a:latin typeface="Times New Roman" panose="02020603050405020304"/>
                <a:ea typeface="Times New Roman" panose="02020603050405020304"/>
                <a:cs typeface="Times New Roman" panose="02020603050405020304"/>
              </a:defRPr>
            </a:pPr>
            <a:r>
              <a:rPr sz="600" b="0">
                <a:solidFill>
                  <a:srgbClr val="080967"/>
                </a:solidFill>
                <a:latin typeface="Times New Roman" panose="02020603050405020304"/>
                <a:ea typeface="Times New Roman" panose="02020603050405020304"/>
                <a:cs typeface="Times New Roman" panose="02020603050405020304"/>
              </a:rPr>
              <a:t>Hierarchy and selection rules</a:t>
            </a:r>
            <a:endParaRPr sz="600" b="0">
              <a:solidFill>
                <a:srgbClr val="080967"/>
              </a:solidFill>
              <a:latin typeface="Times New Roman" panose="02020603050405020304"/>
              <a:ea typeface="Times New Roman" panose="02020603050405020304"/>
              <a:cs typeface="Times New Roman" panose="02020603050405020304"/>
            </a:endParaRPr>
          </a:p>
        </p:txBody>
      </p:sp>
      <p:sp>
        <p:nvSpPr>
          <p:cNvPr id="196" name="text-195-Original-language evidence"/>
          <p:cNvSpPr>
            <a:spLocks noGrp="1"/>
          </p:cNvSpPr>
          <p:nvPr/>
        </p:nvSpPr>
        <p:spPr>
          <a:xfrm>
            <a:off x="4549446" y="4853670"/>
            <a:ext cx="912681" cy="155494"/>
          </a:xfrm>
          <a:prstGeom prst="rect">
            <a:avLst/>
          </a:prstGeom>
          <a:noFill/>
          <a:ln w="0">
            <a:noFill/>
          </a:ln>
        </p:spPr>
        <p:txBody>
          <a:bodyPr wrap="none" lIns="0" tIns="0" rIns="0" bIns="0" anchor="ctr">
            <a:noAutofit/>
          </a:bodyPr>
          <a:lstStyle/>
          <a:p>
            <a:pPr algn="l">
              <a:defRPr sz="895" b="0">
                <a:solidFill>
                  <a:srgbClr val="080967"/>
                </a:solidFill>
                <a:latin typeface="Times New Roman" panose="02020603050405020304"/>
                <a:ea typeface="Times New Roman" panose="02020603050405020304"/>
                <a:cs typeface="Times New Roman" panose="02020603050405020304"/>
              </a:defRPr>
            </a:pPr>
            <a:r>
              <a:rPr sz="635" b="0">
                <a:solidFill>
                  <a:srgbClr val="080967"/>
                </a:solidFill>
                <a:latin typeface="Times New Roman" panose="02020603050405020304"/>
                <a:ea typeface="Times New Roman" panose="02020603050405020304"/>
                <a:cs typeface="Times New Roman" panose="02020603050405020304"/>
              </a:rPr>
              <a:t>Original-language evidence</a:t>
            </a:r>
            <a:endParaRPr sz="635" b="0">
              <a:solidFill>
                <a:srgbClr val="080967"/>
              </a:solidFill>
              <a:latin typeface="Times New Roman" panose="02020603050405020304"/>
              <a:ea typeface="Times New Roman" panose="02020603050405020304"/>
              <a:cs typeface="Times New Roman" panose="02020603050405020304"/>
            </a:endParaRPr>
          </a:p>
        </p:txBody>
      </p:sp>
      <p:sp>
        <p:nvSpPr>
          <p:cNvPr id="198" name="text-197-Structured JSON output"/>
          <p:cNvSpPr>
            <a:spLocks noGrp="1"/>
          </p:cNvSpPr>
          <p:nvPr/>
        </p:nvSpPr>
        <p:spPr>
          <a:xfrm>
            <a:off x="4549446" y="5029446"/>
            <a:ext cx="912681" cy="155494"/>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Structured JSON output</a:t>
            </a:r>
            <a:endParaRPr sz="650" b="0">
              <a:solidFill>
                <a:srgbClr val="080967"/>
              </a:solidFill>
              <a:latin typeface="Times New Roman" panose="02020603050405020304"/>
              <a:ea typeface="Times New Roman" panose="02020603050405020304"/>
              <a:cs typeface="Times New Roman" panose="02020603050405020304"/>
            </a:endParaRPr>
          </a:p>
        </p:txBody>
      </p:sp>
      <p:sp>
        <p:nvSpPr>
          <p:cNvPr id="200" name="text-199-Closed code set"/>
          <p:cNvSpPr>
            <a:spLocks noGrp="1"/>
          </p:cNvSpPr>
          <p:nvPr/>
        </p:nvSpPr>
        <p:spPr>
          <a:xfrm>
            <a:off x="4549446" y="5185947"/>
            <a:ext cx="912681" cy="155494"/>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Closed code set</a:t>
            </a:r>
            <a:endParaRPr sz="650" b="0">
              <a:solidFill>
                <a:srgbClr val="080967"/>
              </a:solidFill>
              <a:latin typeface="Times New Roman" panose="02020603050405020304"/>
              <a:ea typeface="Times New Roman" panose="02020603050405020304"/>
              <a:cs typeface="Times New Roman" panose="02020603050405020304"/>
            </a:endParaRPr>
          </a:p>
        </p:txBody>
      </p:sp>
      <p:sp>
        <p:nvSpPr>
          <p:cNvPr id="202" name="text-201-Minimal sufficient coding"/>
          <p:cNvSpPr>
            <a:spLocks noGrp="1"/>
          </p:cNvSpPr>
          <p:nvPr/>
        </p:nvSpPr>
        <p:spPr>
          <a:xfrm>
            <a:off x="5773420" y="4476357"/>
            <a:ext cx="818515" cy="162560"/>
          </a:xfrm>
          <a:prstGeom prst="rect">
            <a:avLst/>
          </a:prstGeom>
          <a:noFill/>
          <a:ln w="0">
            <a:noFill/>
          </a:ln>
        </p:spPr>
        <p:txBody>
          <a:bodyPr wrap="none" lIns="0" tIns="0" rIns="0" bIns="0" anchor="ctr">
            <a:noAutofit/>
          </a:bodyPr>
          <a:lstStyle/>
          <a:p>
            <a:pPr algn="l">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Minimal sufficient coding</a:t>
            </a:r>
            <a:endParaRPr sz="630" b="0">
              <a:solidFill>
                <a:srgbClr val="080967"/>
              </a:solidFill>
              <a:latin typeface="Times New Roman" panose="02020603050405020304"/>
              <a:ea typeface="Times New Roman" panose="02020603050405020304"/>
              <a:cs typeface="Times New Roman" panose="02020603050405020304"/>
            </a:endParaRPr>
          </a:p>
        </p:txBody>
      </p:sp>
      <p:sp>
        <p:nvSpPr>
          <p:cNvPr id="204" name="text-203-No external knowledge"/>
          <p:cNvSpPr>
            <a:spLocks noGrp="1"/>
          </p:cNvSpPr>
          <p:nvPr/>
        </p:nvSpPr>
        <p:spPr>
          <a:xfrm>
            <a:off x="5773420" y="4665587"/>
            <a:ext cx="818515" cy="168910"/>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No external knowledge</a:t>
            </a:r>
            <a:endParaRPr sz="650" b="0">
              <a:solidFill>
                <a:srgbClr val="080967"/>
              </a:solidFill>
              <a:latin typeface="Times New Roman" panose="02020603050405020304"/>
              <a:ea typeface="Times New Roman" panose="02020603050405020304"/>
              <a:cs typeface="Times New Roman" panose="02020603050405020304"/>
            </a:endParaRPr>
          </a:p>
        </p:txBody>
      </p:sp>
      <p:sp>
        <p:nvSpPr>
          <p:cNvPr id="206" name="text-205-No agency/country/&#10;language-based inference"/>
          <p:cNvSpPr>
            <a:spLocks noGrp="1"/>
          </p:cNvSpPr>
          <p:nvPr/>
        </p:nvSpPr>
        <p:spPr>
          <a:xfrm>
            <a:off x="5773420" y="4847832"/>
            <a:ext cx="818515" cy="229870"/>
          </a:xfrm>
          <a:prstGeom prst="rect">
            <a:avLst/>
          </a:prstGeom>
          <a:noFill/>
          <a:ln w="0">
            <a:noFill/>
          </a:ln>
        </p:spPr>
        <p:txBody>
          <a:bodyPr wrap="none" lIns="0" tIns="0" rIns="0" bIns="0" anchor="ctr">
            <a:noAutofit/>
          </a:bodyPr>
          <a:lstStyle/>
          <a:p>
            <a:pPr algn="l">
              <a:defRPr sz="905" b="0">
                <a:solidFill>
                  <a:srgbClr val="080967"/>
                </a:solidFill>
                <a:latin typeface="Times New Roman" panose="02020603050405020304"/>
                <a:ea typeface="Times New Roman" panose="02020603050405020304"/>
                <a:cs typeface="Times New Roman" panose="02020603050405020304"/>
              </a:defRPr>
            </a:pPr>
            <a:r>
              <a:rPr sz="645" b="0">
                <a:solidFill>
                  <a:srgbClr val="080967"/>
                </a:solidFill>
                <a:latin typeface="Times New Roman" panose="02020603050405020304"/>
                <a:ea typeface="Times New Roman" panose="02020603050405020304"/>
                <a:cs typeface="Times New Roman" panose="02020603050405020304"/>
              </a:rPr>
              <a:t>No agency/country/</a:t>
            </a:r>
            <a:endParaRPr sz="645" b="0">
              <a:solidFill>
                <a:srgbClr val="080967"/>
              </a:solidFill>
              <a:latin typeface="Times New Roman" panose="02020603050405020304"/>
              <a:ea typeface="Times New Roman" panose="02020603050405020304"/>
              <a:cs typeface="Times New Roman" panose="02020603050405020304"/>
            </a:endParaRPr>
          </a:p>
          <a:p>
            <a:pPr algn="l">
              <a:defRPr sz="905" b="0">
                <a:solidFill>
                  <a:srgbClr val="080967"/>
                </a:solidFill>
                <a:latin typeface="Times New Roman" panose="02020603050405020304"/>
                <a:ea typeface="Times New Roman" panose="02020603050405020304"/>
                <a:cs typeface="Times New Roman" panose="02020603050405020304"/>
              </a:defRPr>
            </a:pPr>
            <a:r>
              <a:rPr sz="645" b="0">
                <a:solidFill>
                  <a:srgbClr val="080967"/>
                </a:solidFill>
                <a:latin typeface="Times New Roman" panose="02020603050405020304"/>
                <a:ea typeface="Times New Roman" panose="02020603050405020304"/>
                <a:cs typeface="Times New Roman" panose="02020603050405020304"/>
              </a:rPr>
              <a:t>language-based inference</a:t>
            </a:r>
            <a:endParaRPr sz="645" b="0">
              <a:solidFill>
                <a:srgbClr val="080967"/>
              </a:solidFill>
              <a:latin typeface="Times New Roman" panose="02020603050405020304"/>
              <a:ea typeface="Times New Roman" panose="02020603050405020304"/>
              <a:cs typeface="Times New Roman" panose="02020603050405020304"/>
            </a:endParaRPr>
          </a:p>
        </p:txBody>
      </p:sp>
      <p:sp>
        <p:nvSpPr>
          <p:cNvPr id="208" name="text-207-Each field judged&#10;independently"/>
          <p:cNvSpPr>
            <a:spLocks noGrp="1"/>
          </p:cNvSpPr>
          <p:nvPr/>
        </p:nvSpPr>
        <p:spPr>
          <a:xfrm>
            <a:off x="5773420" y="5118342"/>
            <a:ext cx="818515" cy="209550"/>
          </a:xfrm>
          <a:prstGeom prst="rect">
            <a:avLst/>
          </a:prstGeom>
          <a:noFill/>
          <a:ln w="0">
            <a:noFill/>
          </a:ln>
        </p:spPr>
        <p:txBody>
          <a:bodyPr wrap="none" lIns="0" tIns="0" rIns="0" bIns="0" anchor="ctr">
            <a:noAutofit/>
          </a:bodyPr>
          <a:lstStyle/>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Each field judged</a:t>
            </a:r>
            <a:endParaRPr sz="650" b="0">
              <a:solidFill>
                <a:srgbClr val="080967"/>
              </a:solidFill>
              <a:latin typeface="Times New Roman" panose="02020603050405020304"/>
              <a:ea typeface="Times New Roman" panose="02020603050405020304"/>
              <a:cs typeface="Times New Roman" panose="02020603050405020304"/>
            </a:endParaRPr>
          </a:p>
          <a:p>
            <a:pPr algn="l">
              <a:defRPr sz="915" b="0">
                <a:solidFill>
                  <a:srgbClr val="080967"/>
                </a:solidFill>
                <a:latin typeface="Times New Roman" panose="02020603050405020304"/>
                <a:ea typeface="Times New Roman" panose="02020603050405020304"/>
                <a:cs typeface="Times New Roman" panose="02020603050405020304"/>
              </a:defRPr>
            </a:pPr>
            <a:r>
              <a:rPr sz="650" b="0">
                <a:solidFill>
                  <a:srgbClr val="080967"/>
                </a:solidFill>
                <a:latin typeface="Times New Roman" panose="02020603050405020304"/>
                <a:ea typeface="Times New Roman" panose="02020603050405020304"/>
                <a:cs typeface="Times New Roman" panose="02020603050405020304"/>
              </a:rPr>
              <a:t>independently</a:t>
            </a:r>
            <a:endParaRPr sz="650" b="0">
              <a:solidFill>
                <a:srgbClr val="080967"/>
              </a:solidFill>
              <a:latin typeface="Times New Roman" panose="02020603050405020304"/>
              <a:ea typeface="Times New Roman" panose="02020603050405020304"/>
              <a:cs typeface="Times New Roman" panose="02020603050405020304"/>
            </a:endParaRPr>
          </a:p>
        </p:txBody>
      </p:sp>
      <p:sp>
        <p:nvSpPr>
          <p:cNvPr id="210" name="shape-209-"/>
          <p:cNvSpPr>
            <a:spLocks noGrp="1"/>
          </p:cNvSpPr>
          <p:nvPr/>
        </p:nvSpPr>
        <p:spPr>
          <a:xfrm>
            <a:off x="73025" y="5477752"/>
            <a:ext cx="6714490" cy="23685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211" name="path-210-"/>
          <p:cNvSpPr>
            <a:spLocks noGrp="1"/>
          </p:cNvSpPr>
          <p:nvPr/>
        </p:nvSpPr>
        <p:spPr>
          <a:xfrm flipV="1">
            <a:off x="42545" y="5575542"/>
            <a:ext cx="6744970" cy="139065"/>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214" name="text-213-Pilot refinement and full-corpus coding"/>
          <p:cNvSpPr>
            <a:spLocks noGrp="1"/>
          </p:cNvSpPr>
          <p:nvPr/>
        </p:nvSpPr>
        <p:spPr>
          <a:xfrm>
            <a:off x="343793" y="5484569"/>
            <a:ext cx="6152148" cy="223100"/>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lang="en-US" altLang="zh-CN" sz="1330" b="1">
                <a:solidFill>
                  <a:srgbClr val="334B5C"/>
                </a:solidFill>
                <a:latin typeface="Times New Roman" panose="02020603050405020304"/>
                <a:ea typeface="Times New Roman" panose="02020603050405020304"/>
                <a:cs typeface="Times New Roman" panose="02020603050405020304"/>
              </a:rPr>
              <a:t>Small-Sample Iteration</a:t>
            </a:r>
            <a:r>
              <a:rPr sz="1330" b="1">
                <a:solidFill>
                  <a:srgbClr val="334B5C"/>
                </a:solidFill>
                <a:latin typeface="Times New Roman" panose="02020603050405020304"/>
                <a:ea typeface="Times New Roman" panose="02020603050405020304"/>
                <a:cs typeface="Times New Roman" panose="02020603050405020304"/>
              </a:rPr>
              <a:t> and full-corpus coding</a:t>
            </a:r>
            <a:endParaRPr sz="1330" b="1">
              <a:solidFill>
                <a:srgbClr val="334B5C"/>
              </a:solidFill>
              <a:latin typeface="Times New Roman" panose="02020603050405020304"/>
              <a:ea typeface="Times New Roman" panose="02020603050405020304"/>
              <a:cs typeface="Times New Roman" panose="02020603050405020304"/>
            </a:endParaRPr>
          </a:p>
        </p:txBody>
      </p:sp>
      <p:sp>
        <p:nvSpPr>
          <p:cNvPr id="215" name="shape-214-"/>
          <p:cNvSpPr>
            <a:spLocks noGrp="1"/>
          </p:cNvSpPr>
          <p:nvPr/>
        </p:nvSpPr>
        <p:spPr>
          <a:xfrm>
            <a:off x="94615" y="5741277"/>
            <a:ext cx="2608580" cy="1636395"/>
          </a:xfrm>
          <a:prstGeom prst="roundRect">
            <a:avLst>
              <a:gd name="adj" fmla="val 2344"/>
            </a:avLst>
          </a:prstGeom>
          <a:solidFill>
            <a:srgbClr val="FFFFFF"/>
          </a:solidFill>
          <a:ln w="6668">
            <a:solidFill>
              <a:srgbClr val="CBD4DA"/>
            </a:solidFill>
            <a:prstDash val="dash"/>
          </a:ln>
        </p:spPr>
        <p:txBody>
          <a:bodyPr/>
          <a:lstStyle/>
          <a:p>
            <a:endParaRPr lang="zh-CN" altLang="en-US"/>
          </a:p>
        </p:txBody>
      </p:sp>
      <p:sp>
        <p:nvSpPr>
          <p:cNvPr id="216" name="shape-215-"/>
          <p:cNvSpPr>
            <a:spLocks noGrp="1"/>
          </p:cNvSpPr>
          <p:nvPr/>
        </p:nvSpPr>
        <p:spPr>
          <a:xfrm>
            <a:off x="107950" y="5747627"/>
            <a:ext cx="2592705" cy="162560"/>
          </a:xfrm>
          <a:prstGeom prst="roundRect">
            <a:avLst>
              <a:gd name="adj" fmla="val 24000"/>
            </a:avLst>
          </a:prstGeom>
          <a:solidFill>
            <a:srgbClr val="E8EEF2"/>
          </a:solidFill>
          <a:ln w="6668">
            <a:noFill/>
            <a:prstDash val="solid"/>
          </a:ln>
        </p:spPr>
        <p:txBody>
          <a:bodyPr/>
          <a:lstStyle/>
          <a:p>
            <a:endParaRPr lang="zh-CN" altLang="en-US"/>
          </a:p>
        </p:txBody>
      </p:sp>
      <p:sp>
        <p:nvSpPr>
          <p:cNvPr id="217" name="text-216-a. Pilot refinement (both agencies)"/>
          <p:cNvSpPr>
            <a:spLocks noGrp="1"/>
          </p:cNvSpPr>
          <p:nvPr/>
        </p:nvSpPr>
        <p:spPr>
          <a:xfrm>
            <a:off x="129206" y="5741472"/>
            <a:ext cx="2366211" cy="162254"/>
          </a:xfrm>
          <a:prstGeom prst="rect">
            <a:avLst/>
          </a:prstGeom>
          <a:noFill/>
          <a:ln w="0">
            <a:noFill/>
          </a:ln>
        </p:spPr>
        <p:txBody>
          <a:bodyPr wrap="none" lIns="0" tIns="0" rIns="0" bIns="0" anchor="ctr">
            <a:noAutofit/>
          </a:bodyPr>
          <a:lstStyle/>
          <a:p>
            <a:pPr algn="l">
              <a:defRPr sz="1350" b="1">
                <a:solidFill>
                  <a:srgbClr val="334B5C"/>
                </a:solidFill>
                <a:latin typeface="Times New Roman" panose="02020603050405020304"/>
                <a:ea typeface="Times New Roman" panose="02020603050405020304"/>
                <a:cs typeface="Times New Roman" panose="02020603050405020304"/>
              </a:defRPr>
            </a:pPr>
            <a:r>
              <a:rPr sz="955" b="1">
                <a:solidFill>
                  <a:srgbClr val="334B5C"/>
                </a:solidFill>
                <a:latin typeface="Times New Roman" panose="02020603050405020304"/>
                <a:ea typeface="Times New Roman" panose="02020603050405020304"/>
                <a:cs typeface="Times New Roman" panose="02020603050405020304"/>
              </a:rPr>
              <a:t>a. Pilot refinement</a:t>
            </a:r>
            <a:endParaRPr lang="en-US" sz="955" b="1">
              <a:solidFill>
                <a:srgbClr val="334B5C"/>
              </a:solidFill>
              <a:latin typeface="Times New Roman" panose="02020603050405020304"/>
              <a:ea typeface="Times New Roman" panose="02020603050405020304"/>
              <a:cs typeface="Times New Roman" panose="02020603050405020304"/>
            </a:endParaRPr>
          </a:p>
        </p:txBody>
      </p:sp>
      <p:sp>
        <p:nvSpPr>
          <p:cNvPr id="218" name="shape-217-"/>
          <p:cNvSpPr>
            <a:spLocks noGrp="1"/>
          </p:cNvSpPr>
          <p:nvPr/>
        </p:nvSpPr>
        <p:spPr>
          <a:xfrm>
            <a:off x="127453" y="5951050"/>
            <a:ext cx="723384" cy="520566"/>
          </a:xfrm>
          <a:prstGeom prst="roundRect">
            <a:avLst>
              <a:gd name="adj" fmla="val 7792"/>
            </a:avLst>
          </a:prstGeom>
          <a:solidFill>
            <a:srgbClr val="F5F7F8"/>
          </a:solidFill>
          <a:ln w="6668">
            <a:solidFill>
              <a:srgbClr val="CBD4DA"/>
            </a:solidFill>
            <a:prstDash val="solid"/>
          </a:ln>
        </p:spPr>
        <p:txBody>
          <a:bodyPr/>
          <a:lstStyle/>
          <a:p>
            <a:endParaRPr lang="zh-CN" altLang="en-US"/>
          </a:p>
        </p:txBody>
      </p:sp>
      <p:sp>
        <p:nvSpPr>
          <p:cNvPr id="219" name="shape-218-"/>
          <p:cNvSpPr>
            <a:spLocks noGrp="1"/>
          </p:cNvSpPr>
          <p:nvPr/>
        </p:nvSpPr>
        <p:spPr>
          <a:xfrm>
            <a:off x="1006332" y="5951050"/>
            <a:ext cx="736906" cy="520566"/>
          </a:xfrm>
          <a:prstGeom prst="roundRect">
            <a:avLst>
              <a:gd name="adj" fmla="val 7792"/>
            </a:avLst>
          </a:prstGeom>
          <a:solidFill>
            <a:srgbClr val="F5F7F8"/>
          </a:solidFill>
          <a:ln w="6668">
            <a:solidFill>
              <a:srgbClr val="CBD4DA"/>
            </a:solidFill>
            <a:prstDash val="solid"/>
          </a:ln>
        </p:spPr>
        <p:txBody>
          <a:bodyPr/>
          <a:lstStyle/>
          <a:p>
            <a:endParaRPr lang="zh-CN" altLang="en-US"/>
          </a:p>
        </p:txBody>
      </p:sp>
      <p:sp>
        <p:nvSpPr>
          <p:cNvPr id="220" name="shape-219-"/>
          <p:cNvSpPr>
            <a:spLocks noGrp="1"/>
          </p:cNvSpPr>
          <p:nvPr/>
        </p:nvSpPr>
        <p:spPr>
          <a:xfrm>
            <a:off x="1898731" y="5951050"/>
            <a:ext cx="689581" cy="520566"/>
          </a:xfrm>
          <a:prstGeom prst="roundRect">
            <a:avLst>
              <a:gd name="adj" fmla="val 7792"/>
            </a:avLst>
          </a:prstGeom>
          <a:solidFill>
            <a:srgbClr val="F5F7F8"/>
          </a:solidFill>
          <a:ln w="6668">
            <a:solidFill>
              <a:srgbClr val="CBD4DA"/>
            </a:solidFill>
            <a:prstDash val="solid"/>
          </a:ln>
        </p:spPr>
        <p:txBody>
          <a:bodyPr/>
          <a:lstStyle/>
          <a:p>
            <a:endParaRPr lang="zh-CN" altLang="en-US"/>
          </a:p>
        </p:txBody>
      </p:sp>
      <p:sp>
        <p:nvSpPr>
          <p:cNvPr id="221" name="polygon-220-"/>
          <p:cNvSpPr>
            <a:spLocks noGrp="1"/>
          </p:cNvSpPr>
          <p:nvPr/>
        </p:nvSpPr>
        <p:spPr>
          <a:xfrm>
            <a:off x="384356" y="6005135"/>
            <a:ext cx="189297" cy="209579"/>
          </a:xfrm>
          <a:custGeom>
            <a:avLst/>
            <a:gdLst/>
            <a:ahLst/>
            <a:cxnLst/>
            <a:rect l="0" t="0" r="0" b="0"/>
            <a:pathLst>
              <a:path w="266700" h="295275">
                <a:moveTo>
                  <a:pt x="0" y="0"/>
                </a:moveTo>
                <a:lnTo>
                  <a:pt x="180975" y="0"/>
                </a:lnTo>
                <a:lnTo>
                  <a:pt x="266700" y="85725"/>
                </a:lnTo>
                <a:lnTo>
                  <a:pt x="266700" y="295275"/>
                </a:lnTo>
                <a:lnTo>
                  <a:pt x="0" y="295275"/>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222" name="path-221-"/>
          <p:cNvSpPr>
            <a:spLocks noGrp="1"/>
          </p:cNvSpPr>
          <p:nvPr/>
        </p:nvSpPr>
        <p:spPr>
          <a:xfrm>
            <a:off x="512808" y="6005135"/>
            <a:ext cx="60845" cy="60845"/>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223" name="path-222-"/>
          <p:cNvSpPr>
            <a:spLocks noGrp="1"/>
          </p:cNvSpPr>
          <p:nvPr/>
        </p:nvSpPr>
        <p:spPr>
          <a:xfrm>
            <a:off x="424920" y="6086262"/>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224" name="path-223-"/>
          <p:cNvSpPr>
            <a:spLocks noGrp="1"/>
          </p:cNvSpPr>
          <p:nvPr/>
        </p:nvSpPr>
        <p:spPr>
          <a:xfrm>
            <a:off x="424920" y="6126826"/>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225" name="path-224-"/>
          <p:cNvSpPr>
            <a:spLocks noGrp="1"/>
          </p:cNvSpPr>
          <p:nvPr/>
        </p:nvSpPr>
        <p:spPr>
          <a:xfrm>
            <a:off x="424920" y="6167390"/>
            <a:ext cx="108170" cy="67"/>
          </a:xfrm>
          <a:custGeom>
            <a:avLst/>
            <a:gdLst/>
            <a:ahLst/>
            <a:cxnLst/>
            <a:rect l="0" t="0" r="0" b="0"/>
            <a:pathLst>
              <a:path w="152400" h="95">
                <a:moveTo>
                  <a:pt x="0" y="0"/>
                </a:moveTo>
                <a:lnTo>
                  <a:pt x="152400" y="0"/>
                </a:lnTo>
              </a:path>
            </a:pathLst>
          </a:custGeom>
          <a:noFill/>
          <a:ln w="17145">
            <a:solidFill>
              <a:srgbClr val="0076D9"/>
            </a:solidFill>
            <a:prstDash val="solid"/>
          </a:ln>
        </p:spPr>
        <p:txBody>
          <a:bodyPr/>
          <a:lstStyle/>
          <a:p>
            <a:endParaRPr lang="zh-CN" altLang="en-US"/>
          </a:p>
        </p:txBody>
      </p:sp>
      <p:sp>
        <p:nvSpPr>
          <p:cNvPr id="228" name="text-227-Stratified&#10;pilot coding"/>
          <p:cNvSpPr>
            <a:spLocks noGrp="1"/>
          </p:cNvSpPr>
          <p:nvPr/>
        </p:nvSpPr>
        <p:spPr>
          <a:xfrm>
            <a:off x="147735" y="6228235"/>
            <a:ext cx="676060"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Stratified</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pilot coding</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229" name="text-228-Error and&#10;evidence review"/>
          <p:cNvSpPr>
            <a:spLocks noGrp="1"/>
          </p:cNvSpPr>
          <p:nvPr/>
        </p:nvSpPr>
        <p:spPr>
          <a:xfrm>
            <a:off x="1026614" y="6228235"/>
            <a:ext cx="696342"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Error and</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evidence review</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230" name="text-229-Prompt&#10;revision"/>
          <p:cNvSpPr>
            <a:spLocks noGrp="1"/>
          </p:cNvSpPr>
          <p:nvPr/>
        </p:nvSpPr>
        <p:spPr>
          <a:xfrm>
            <a:off x="1919013" y="6228235"/>
            <a:ext cx="649018" cy="229860"/>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Prompt</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revision</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231" name="path-230-"/>
          <p:cNvSpPr>
            <a:spLocks noGrp="1"/>
          </p:cNvSpPr>
          <p:nvPr/>
        </p:nvSpPr>
        <p:spPr>
          <a:xfrm>
            <a:off x="853440" y="6180697"/>
            <a:ext cx="85725" cy="76200"/>
          </a:xfrm>
          <a:custGeom>
            <a:avLst/>
            <a:gdLst/>
            <a:ahLst/>
            <a:cxnLst/>
            <a:rect l="0" t="0" r="0" b="0"/>
            <a:pathLst>
              <a:path w="161925" h="95">
                <a:moveTo>
                  <a:pt x="0" y="0"/>
                </a:moveTo>
                <a:lnTo>
                  <a:pt x="161925"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32" name="polygon-231-"/>
          <p:cNvSpPr>
            <a:spLocks noGrp="1"/>
          </p:cNvSpPr>
          <p:nvPr/>
        </p:nvSpPr>
        <p:spPr>
          <a:xfrm>
            <a:off x="939399" y="6142376"/>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33" name="path-232-"/>
          <p:cNvSpPr>
            <a:spLocks noGrp="1"/>
          </p:cNvSpPr>
          <p:nvPr/>
        </p:nvSpPr>
        <p:spPr>
          <a:xfrm>
            <a:off x="1741294" y="6180911"/>
            <a:ext cx="114930" cy="67"/>
          </a:xfrm>
          <a:custGeom>
            <a:avLst/>
            <a:gdLst/>
            <a:ahLst/>
            <a:cxnLst/>
            <a:rect l="0" t="0" r="0" b="0"/>
            <a:pathLst>
              <a:path w="161925" h="95">
                <a:moveTo>
                  <a:pt x="0" y="0"/>
                </a:moveTo>
                <a:lnTo>
                  <a:pt x="161925"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34" name="polygon-233-"/>
          <p:cNvSpPr>
            <a:spLocks noGrp="1"/>
          </p:cNvSpPr>
          <p:nvPr/>
        </p:nvSpPr>
        <p:spPr>
          <a:xfrm>
            <a:off x="1831163" y="6142376"/>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35" name="path-234-"/>
          <p:cNvSpPr>
            <a:spLocks noGrp="1"/>
          </p:cNvSpPr>
          <p:nvPr/>
        </p:nvSpPr>
        <p:spPr>
          <a:xfrm>
            <a:off x="424920" y="6505420"/>
            <a:ext cx="1825362" cy="128451"/>
          </a:xfrm>
          <a:custGeom>
            <a:avLst/>
            <a:gdLst/>
            <a:ahLst/>
            <a:cxnLst/>
            <a:rect l="0" t="0" r="0" b="0"/>
            <a:pathLst>
              <a:path w="2571750" h="180975">
                <a:moveTo>
                  <a:pt x="2571750" y="0"/>
                </a:moveTo>
                <a:lnTo>
                  <a:pt x="2571750" y="180975"/>
                </a:lnTo>
                <a:lnTo>
                  <a:pt x="0" y="180975"/>
                </a:lnTo>
                <a:lnTo>
                  <a:pt x="0" y="28575"/>
                </a:lnTo>
              </a:path>
            </a:pathLst>
          </a:custGeom>
          <a:noFill/>
          <a:ln w="22860">
            <a:solidFill>
              <a:schemeClr val="bg1">
                <a:lumMod val="85000"/>
              </a:schemeClr>
            </a:solidFill>
            <a:prstDash val="dash"/>
          </a:ln>
        </p:spPr>
        <p:txBody>
          <a:bodyPr/>
          <a:lstStyle/>
          <a:p>
            <a:endParaRPr lang="zh-CN" altLang="en-US"/>
          </a:p>
        </p:txBody>
      </p:sp>
      <p:sp>
        <p:nvSpPr>
          <p:cNvPr id="236" name="path-235-"/>
          <p:cNvSpPr>
            <a:spLocks noGrp="1"/>
          </p:cNvSpPr>
          <p:nvPr/>
        </p:nvSpPr>
        <p:spPr>
          <a:xfrm>
            <a:off x="424920" y="6491898"/>
            <a:ext cx="67" cy="128451"/>
          </a:xfrm>
          <a:custGeom>
            <a:avLst/>
            <a:gdLst/>
            <a:ahLst/>
            <a:cxnLst/>
            <a:rect l="0" t="0" r="0" b="0"/>
            <a:pathLst>
              <a:path w="95" h="180975">
                <a:moveTo>
                  <a:pt x="0" y="180975"/>
                </a:moveTo>
                <a:lnTo>
                  <a:pt x="0" y="0"/>
                </a:lnTo>
              </a:path>
            </a:pathLst>
          </a:custGeom>
          <a:noFill/>
          <a:ln w="22860">
            <a:solidFill>
              <a:schemeClr val="bg1">
                <a:lumMod val="85000"/>
              </a:schemeClr>
            </a:solidFill>
            <a:prstDash val="solid"/>
          </a:ln>
        </p:spPr>
        <p:txBody>
          <a:bodyPr/>
          <a:lstStyle/>
          <a:p>
            <a:endParaRPr lang="zh-CN" altLang="en-US"/>
          </a:p>
        </p:txBody>
      </p:sp>
      <p:sp>
        <p:nvSpPr>
          <p:cNvPr id="237" name="polygon-236-"/>
          <p:cNvSpPr>
            <a:spLocks noGrp="1"/>
          </p:cNvSpPr>
          <p:nvPr/>
        </p:nvSpPr>
        <p:spPr>
          <a:xfrm>
            <a:off x="386385" y="6458243"/>
            <a:ext cx="77071" cy="67606"/>
          </a:xfrm>
          <a:custGeom>
            <a:avLst/>
            <a:gdLst/>
            <a:ahLst/>
            <a:cxnLst/>
            <a:rect l="0" t="0" r="0" b="0"/>
            <a:pathLst>
              <a:path w="108585" h="95250">
                <a:moveTo>
                  <a:pt x="54293" y="0"/>
                </a:moveTo>
                <a:lnTo>
                  <a:pt x="0" y="95250"/>
                </a:lnTo>
                <a:lnTo>
                  <a:pt x="108585" y="95250"/>
                </a:lnTo>
                <a:close/>
              </a:path>
            </a:pathLst>
          </a:custGeom>
          <a:solidFill>
            <a:schemeClr val="bg1">
              <a:lumMod val="85000"/>
            </a:schemeClr>
          </a:solidFill>
          <a:ln w="0">
            <a:solidFill>
              <a:schemeClr val="bg1">
                <a:lumMod val="85000"/>
              </a:schemeClr>
            </a:solidFill>
            <a:prstDash val="solid"/>
          </a:ln>
        </p:spPr>
        <p:txBody>
          <a:bodyPr/>
          <a:lstStyle/>
          <a:p>
            <a:endParaRPr lang="zh-CN" altLang="en-US"/>
          </a:p>
        </p:txBody>
      </p:sp>
      <p:sp>
        <p:nvSpPr>
          <p:cNvPr id="238" name="text-237-Iterative refinement (multiple rounds)"/>
          <p:cNvSpPr>
            <a:spLocks noGrp="1"/>
          </p:cNvSpPr>
          <p:nvPr/>
        </p:nvSpPr>
        <p:spPr>
          <a:xfrm>
            <a:off x="275881" y="6471683"/>
            <a:ext cx="2014659" cy="128451"/>
          </a:xfrm>
          <a:prstGeom prst="rect">
            <a:avLst/>
          </a:prstGeom>
          <a:noFill/>
          <a:ln w="0">
            <a:noFill/>
          </a:ln>
          <a:extLst>
            <a:ext uri="{909E8E84-426E-40DD-AFC4-6F175D3DCCD1}">
              <a14:hiddenFill xmlns:a14="http://schemas.microsoft.com/office/drawing/2010/main">
                <a:solidFill>
                  <a:schemeClr val="bg1">
                    <a:lumMod val="75000"/>
                  </a:schemeClr>
                </a:solidFill>
              </a14:hiddenFill>
            </a:ext>
          </a:extLst>
        </p:spPr>
        <p:txBody>
          <a:bodyPr wrap="none" lIns="0" tIns="0" rIns="0" bIns="0" anchor="ctr">
            <a:noAutofit/>
          </a:bodyPr>
          <a:lstStyle/>
          <a:p>
            <a:pPr algn="ctr">
              <a:defRPr sz="1015" b="0">
                <a:solidFill>
                  <a:srgbClr val="E54410"/>
                </a:solidFill>
                <a:latin typeface="Times New Roman" panose="02020603050405020304"/>
                <a:ea typeface="Times New Roman" panose="02020603050405020304"/>
                <a:cs typeface="Times New Roman" panose="02020603050405020304"/>
              </a:defRPr>
            </a:pPr>
            <a:r>
              <a:rPr sz="725" b="0">
                <a:solidFill>
                  <a:schemeClr val="bg1">
                    <a:lumMod val="50000"/>
                  </a:schemeClr>
                </a:solidFill>
                <a:latin typeface="Times New Roman" panose="02020603050405020304"/>
                <a:ea typeface="Times New Roman" panose="02020603050405020304"/>
                <a:cs typeface="Times New Roman" panose="02020603050405020304"/>
              </a:rPr>
              <a:t>Iterative refinement (multiple rounds)</a:t>
            </a:r>
            <a:endParaRPr sz="725" b="0">
              <a:solidFill>
                <a:schemeClr val="bg1">
                  <a:lumMod val="50000"/>
                </a:schemeClr>
              </a:solidFill>
              <a:latin typeface="Times New Roman" panose="02020603050405020304"/>
              <a:ea typeface="Times New Roman" panose="02020603050405020304"/>
              <a:cs typeface="Times New Roman" panose="02020603050405020304"/>
            </a:endParaRPr>
          </a:p>
        </p:txBody>
      </p:sp>
      <p:sp>
        <p:nvSpPr>
          <p:cNvPr id="239" name="shape-238-"/>
          <p:cNvSpPr>
            <a:spLocks noGrp="1"/>
          </p:cNvSpPr>
          <p:nvPr/>
        </p:nvSpPr>
        <p:spPr>
          <a:xfrm>
            <a:off x="128499" y="6695122"/>
            <a:ext cx="2460859" cy="317748"/>
          </a:xfrm>
          <a:prstGeom prst="roundRect">
            <a:avLst>
              <a:gd name="adj" fmla="val 12766"/>
            </a:avLst>
          </a:prstGeom>
          <a:solidFill>
            <a:srgbClr val="F5F7F8"/>
          </a:solidFill>
          <a:ln w="6668">
            <a:noFill/>
            <a:prstDash val="solid"/>
          </a:ln>
        </p:spPr>
        <p:txBody>
          <a:bodyPr/>
          <a:lstStyle/>
          <a:p>
            <a:endParaRPr lang="zh-CN" altLang="en-US"/>
          </a:p>
        </p:txBody>
      </p:sp>
      <p:sp>
        <p:nvSpPr>
          <p:cNvPr id="241" name="text-240-Pilot includes NSF and NSFC"/>
          <p:cNvSpPr>
            <a:spLocks noGrp="1"/>
          </p:cNvSpPr>
          <p:nvPr/>
        </p:nvSpPr>
        <p:spPr>
          <a:xfrm>
            <a:off x="858520" y="6701397"/>
            <a:ext cx="1210310" cy="142240"/>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Pilot includes NSF and NSFC</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242" name="text-241-Stratified by award year and within-agency text length"/>
          <p:cNvSpPr>
            <a:spLocks noGrp="1"/>
          </p:cNvSpPr>
          <p:nvPr/>
        </p:nvSpPr>
        <p:spPr>
          <a:xfrm>
            <a:off x="595687" y="6843593"/>
            <a:ext cx="1879447" cy="128451"/>
          </a:xfrm>
          <a:prstGeom prst="rect">
            <a:avLst/>
          </a:prstGeom>
          <a:noFill/>
          <a:ln w="0">
            <a:noFill/>
          </a:ln>
        </p:spPr>
        <p:txBody>
          <a:bodyPr wrap="none" lIns="0" tIns="0" rIns="0" bIns="0" anchor="ctr">
            <a:noAutofit/>
          </a:bodyPr>
          <a:lstStyle/>
          <a:p>
            <a:pPr algn="l">
              <a:defRPr sz="925" b="0">
                <a:solidFill>
                  <a:srgbClr val="080967"/>
                </a:solidFill>
                <a:latin typeface="Times New Roman" panose="02020603050405020304"/>
                <a:ea typeface="Times New Roman" panose="02020603050405020304"/>
                <a:cs typeface="Times New Roman" panose="02020603050405020304"/>
              </a:defRPr>
            </a:pPr>
            <a:r>
              <a:rPr sz="655" b="0">
                <a:solidFill>
                  <a:srgbClr val="080967"/>
                </a:solidFill>
                <a:latin typeface="Times New Roman" panose="02020603050405020304"/>
                <a:ea typeface="Times New Roman" panose="02020603050405020304"/>
                <a:cs typeface="Times New Roman" panose="02020603050405020304"/>
              </a:rPr>
              <a:t>Stratified by award year and within-agency text length</a:t>
            </a:r>
            <a:endParaRPr sz="655" b="0">
              <a:solidFill>
                <a:srgbClr val="080967"/>
              </a:solidFill>
              <a:latin typeface="Times New Roman" panose="02020603050405020304"/>
              <a:ea typeface="Times New Roman" panose="02020603050405020304"/>
              <a:cs typeface="Times New Roman" panose="02020603050405020304"/>
            </a:endParaRPr>
          </a:p>
        </p:txBody>
      </p:sp>
      <p:sp>
        <p:nvSpPr>
          <p:cNvPr id="243" name="path-242-"/>
          <p:cNvSpPr>
            <a:spLocks noGrp="1"/>
          </p:cNvSpPr>
          <p:nvPr/>
        </p:nvSpPr>
        <p:spPr>
          <a:xfrm>
            <a:off x="1274287" y="6985566"/>
            <a:ext cx="67" cy="60845"/>
          </a:xfrm>
          <a:custGeom>
            <a:avLst/>
            <a:gdLst/>
            <a:ahLst/>
            <a:cxnLst/>
            <a:rect l="0" t="0" r="0" b="0"/>
            <a:pathLst>
              <a:path w="95" h="85725">
                <a:moveTo>
                  <a:pt x="0" y="0"/>
                </a:moveTo>
                <a:lnTo>
                  <a:pt x="0" y="85725"/>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44" name="polygon-243-"/>
          <p:cNvSpPr>
            <a:spLocks noGrp="1"/>
          </p:cNvSpPr>
          <p:nvPr/>
        </p:nvSpPr>
        <p:spPr>
          <a:xfrm>
            <a:off x="1237022" y="7046750"/>
            <a:ext cx="77071" cy="67606"/>
          </a:xfrm>
          <a:custGeom>
            <a:avLst/>
            <a:gdLst/>
            <a:ahLst/>
            <a:cxnLst/>
            <a:rect l="0" t="0" r="0" b="0"/>
            <a:pathLst>
              <a:path w="108585" h="95250">
                <a:moveTo>
                  <a:pt x="54292" y="95250"/>
                </a:moveTo>
                <a:lnTo>
                  <a:pt x="108585" y="0"/>
                </a:lnTo>
                <a:lnTo>
                  <a:pt x="0" y="0"/>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45" name="shape-244-"/>
          <p:cNvSpPr>
            <a:spLocks noGrp="1"/>
          </p:cNvSpPr>
          <p:nvPr/>
        </p:nvSpPr>
        <p:spPr>
          <a:xfrm>
            <a:off x="134620" y="7114147"/>
            <a:ext cx="2460625" cy="186055"/>
          </a:xfrm>
          <a:prstGeom prst="roundRect">
            <a:avLst>
              <a:gd name="adj" fmla="val 16667"/>
            </a:avLst>
          </a:prstGeom>
          <a:solidFill>
            <a:srgbClr val="E5EDF3"/>
          </a:solidFill>
          <a:ln w="6668">
            <a:noFill/>
            <a:prstDash val="solid"/>
          </a:ln>
        </p:spPr>
        <p:txBody>
          <a:bodyPr/>
          <a:lstStyle/>
          <a:p>
            <a:endParaRPr lang="zh-CN" altLang="en-US"/>
          </a:p>
        </p:txBody>
      </p:sp>
      <p:sp>
        <p:nvSpPr>
          <p:cNvPr id="247" name="text-246-Finalized codebook and prompt"/>
          <p:cNvSpPr>
            <a:spLocks noGrp="1"/>
          </p:cNvSpPr>
          <p:nvPr/>
        </p:nvSpPr>
        <p:spPr>
          <a:xfrm>
            <a:off x="649170" y="7120181"/>
            <a:ext cx="1723953" cy="148733"/>
          </a:xfrm>
          <a:prstGeom prst="rect">
            <a:avLst/>
          </a:prstGeom>
          <a:noFill/>
          <a:ln w="0">
            <a:noFill/>
          </a:ln>
        </p:spPr>
        <p:txBody>
          <a:bodyPr wrap="none" lIns="0" tIns="0" rIns="0" bIns="0" anchor="ctr">
            <a:noAutofit/>
          </a:bodyPr>
          <a:lstStyle/>
          <a:p>
            <a:pPr algn="l">
              <a:defRPr sz="1165" b="1">
                <a:solidFill>
                  <a:srgbClr val="334B5C"/>
                </a:solidFill>
                <a:latin typeface="Times New Roman" panose="02020603050405020304"/>
                <a:ea typeface="Times New Roman" panose="02020603050405020304"/>
                <a:cs typeface="Times New Roman" panose="02020603050405020304"/>
              </a:defRPr>
            </a:pPr>
            <a:r>
              <a:rPr sz="825" b="1">
                <a:solidFill>
                  <a:srgbClr val="334B5C"/>
                </a:solidFill>
                <a:latin typeface="Times New Roman" panose="02020603050405020304"/>
                <a:ea typeface="Times New Roman" panose="02020603050405020304"/>
                <a:cs typeface="Times New Roman" panose="02020603050405020304"/>
              </a:rPr>
              <a:t>Finalized codebook and prompt</a:t>
            </a:r>
            <a:endParaRPr sz="825" b="1">
              <a:solidFill>
                <a:srgbClr val="334B5C"/>
              </a:solidFill>
              <a:latin typeface="Times New Roman" panose="02020603050405020304"/>
              <a:ea typeface="Times New Roman" panose="02020603050405020304"/>
              <a:cs typeface="Times New Roman" panose="02020603050405020304"/>
            </a:endParaRPr>
          </a:p>
        </p:txBody>
      </p:sp>
      <p:sp>
        <p:nvSpPr>
          <p:cNvPr id="248" name="shape-247-"/>
          <p:cNvSpPr>
            <a:spLocks noGrp="1"/>
          </p:cNvSpPr>
          <p:nvPr/>
        </p:nvSpPr>
        <p:spPr>
          <a:xfrm>
            <a:off x="2757170" y="5741277"/>
            <a:ext cx="4030345" cy="168910"/>
          </a:xfrm>
          <a:prstGeom prst="roundRect">
            <a:avLst>
              <a:gd name="adj" fmla="val 24000"/>
            </a:avLst>
          </a:prstGeom>
          <a:solidFill>
            <a:srgbClr val="E8EEF2"/>
          </a:solidFill>
          <a:ln w="6668">
            <a:noFill/>
            <a:prstDash val="solid"/>
          </a:ln>
        </p:spPr>
        <p:txBody>
          <a:bodyPr/>
          <a:lstStyle/>
          <a:p>
            <a:endParaRPr lang="zh-CN" altLang="en-US"/>
          </a:p>
        </p:txBody>
      </p:sp>
      <p:sp>
        <p:nvSpPr>
          <p:cNvPr id="249" name="text-248-b. Full-corpus coding"/>
          <p:cNvSpPr>
            <a:spLocks noGrp="1"/>
          </p:cNvSpPr>
          <p:nvPr/>
        </p:nvSpPr>
        <p:spPr>
          <a:xfrm>
            <a:off x="2865497" y="5741472"/>
            <a:ext cx="3731852" cy="162254"/>
          </a:xfrm>
          <a:prstGeom prst="rect">
            <a:avLst/>
          </a:prstGeom>
          <a:noFill/>
          <a:ln w="0">
            <a:noFill/>
          </a:ln>
        </p:spPr>
        <p:txBody>
          <a:bodyPr wrap="none" lIns="0" tIns="0" rIns="0" bIns="0" anchor="ctr">
            <a:noAutofit/>
          </a:bodyPr>
          <a:lstStyle/>
          <a:p>
            <a:pPr algn="l">
              <a:defRPr sz="1350" b="1">
                <a:solidFill>
                  <a:srgbClr val="334B5C"/>
                </a:solidFill>
                <a:latin typeface="Times New Roman" panose="02020603050405020304"/>
                <a:ea typeface="Times New Roman" panose="02020603050405020304"/>
                <a:cs typeface="Times New Roman" panose="02020603050405020304"/>
              </a:defRPr>
            </a:pPr>
            <a:r>
              <a:rPr sz="955" b="1">
                <a:solidFill>
                  <a:srgbClr val="334B5C"/>
                </a:solidFill>
                <a:latin typeface="Times New Roman" panose="02020603050405020304"/>
                <a:ea typeface="Times New Roman" panose="02020603050405020304"/>
                <a:cs typeface="Times New Roman" panose="02020603050405020304"/>
              </a:rPr>
              <a:t>b. Full-corpus coding</a:t>
            </a:r>
            <a:endParaRPr sz="955" b="1">
              <a:solidFill>
                <a:srgbClr val="334B5C"/>
              </a:solidFill>
              <a:latin typeface="Times New Roman" panose="02020603050405020304"/>
              <a:ea typeface="Times New Roman" panose="02020603050405020304"/>
              <a:cs typeface="Times New Roman" panose="02020603050405020304"/>
            </a:endParaRPr>
          </a:p>
        </p:txBody>
      </p:sp>
      <p:sp>
        <p:nvSpPr>
          <p:cNvPr id="250" name="text-249-Input project records&#10;(both agencies)"/>
          <p:cNvSpPr>
            <a:spLocks noGrp="1"/>
          </p:cNvSpPr>
          <p:nvPr/>
        </p:nvSpPr>
        <p:spPr>
          <a:xfrm>
            <a:off x="2738120" y="5991467"/>
            <a:ext cx="797560" cy="135255"/>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Input project records</a:t>
            </a:r>
            <a:endParaRPr sz="725" b="0">
              <a:solidFill>
                <a:srgbClr val="080967"/>
              </a:solidFill>
              <a:latin typeface="Times New Roman" panose="02020603050405020304"/>
              <a:ea typeface="Times New Roman" panose="02020603050405020304"/>
              <a:cs typeface="Times New Roman" panose="02020603050405020304"/>
            </a:endParaRPr>
          </a:p>
          <a:p>
            <a:pPr algn="ctr">
              <a:defRPr sz="1015" b="0">
                <a:solidFill>
                  <a:srgbClr val="080967"/>
                </a:solidFill>
                <a:latin typeface="Times New Roman" panose="02020603050405020304"/>
                <a:ea typeface="Times New Roman" panose="02020603050405020304"/>
                <a:cs typeface="Times New Roman" panose="02020603050405020304"/>
              </a:defRPr>
            </a:pP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52" name="path-251-"/>
          <p:cNvSpPr>
            <a:spLocks noGrp="1"/>
          </p:cNvSpPr>
          <p:nvPr/>
        </p:nvSpPr>
        <p:spPr>
          <a:xfrm>
            <a:off x="3399585" y="6383729"/>
            <a:ext cx="182536" cy="67"/>
          </a:xfrm>
          <a:custGeom>
            <a:avLst/>
            <a:gdLst/>
            <a:ahLst/>
            <a:cxnLst/>
            <a:rect l="0" t="0" r="0" b="0"/>
            <a:pathLst>
              <a:path w="257175" h="95">
                <a:moveTo>
                  <a:pt x="0" y="0"/>
                </a:moveTo>
                <a:lnTo>
                  <a:pt x="257175" y="0"/>
                </a:lnTo>
              </a:path>
            </a:pathLst>
          </a:custGeom>
          <a:noFill/>
          <a:ln w="23813">
            <a:solidFill>
              <a:schemeClr val="bg2">
                <a:lumMod val="50000"/>
              </a:schemeClr>
            </a:solidFill>
            <a:prstDash val="solid"/>
          </a:ln>
        </p:spPr>
        <p:txBody>
          <a:bodyPr/>
          <a:lstStyle/>
          <a:p>
            <a:endParaRPr lang="zh-CN" altLang="en-US"/>
          </a:p>
        </p:txBody>
      </p:sp>
      <p:sp>
        <p:nvSpPr>
          <p:cNvPr id="253" name="polygon-252-"/>
          <p:cNvSpPr>
            <a:spLocks noGrp="1"/>
          </p:cNvSpPr>
          <p:nvPr/>
        </p:nvSpPr>
        <p:spPr>
          <a:xfrm>
            <a:off x="3541820" y="6342019"/>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54" name="shape-253-"/>
          <p:cNvSpPr>
            <a:spLocks noGrp="1"/>
          </p:cNvSpPr>
          <p:nvPr/>
        </p:nvSpPr>
        <p:spPr>
          <a:xfrm>
            <a:off x="3609163" y="5984853"/>
            <a:ext cx="1061414" cy="770709"/>
          </a:xfrm>
          <a:prstGeom prst="roundRect">
            <a:avLst>
              <a:gd name="adj" fmla="val 5263"/>
            </a:avLst>
          </a:prstGeom>
          <a:solidFill>
            <a:srgbClr val="E5EDF3"/>
          </a:solidFill>
          <a:ln w="6668">
            <a:solidFill>
              <a:srgbClr val="CBD4DA"/>
            </a:solidFill>
            <a:prstDash val="solid"/>
          </a:ln>
        </p:spPr>
        <p:txBody>
          <a:bodyPr/>
          <a:lstStyle/>
          <a:p>
            <a:endParaRPr lang="zh-CN" altLang="en-US"/>
          </a:p>
        </p:txBody>
      </p:sp>
      <p:sp>
        <p:nvSpPr>
          <p:cNvPr id="255" name="text-254-DeepSeek-V4-Flash"/>
          <p:cNvSpPr>
            <a:spLocks noGrp="1"/>
          </p:cNvSpPr>
          <p:nvPr/>
        </p:nvSpPr>
        <p:spPr>
          <a:xfrm>
            <a:off x="3636206" y="6011896"/>
            <a:ext cx="1007330" cy="175776"/>
          </a:xfrm>
          <a:prstGeom prst="rect">
            <a:avLst/>
          </a:prstGeom>
          <a:noFill/>
          <a:ln w="0">
            <a:noFill/>
          </a:ln>
        </p:spPr>
        <p:txBody>
          <a:bodyPr wrap="none" lIns="0" tIns="0" rIns="0" bIns="0" anchor="ctr">
            <a:noAutofit/>
          </a:bodyPr>
          <a:lstStyle/>
          <a:p>
            <a:pPr algn="ctr">
              <a:defRPr sz="1305" b="1">
                <a:solidFill>
                  <a:srgbClr val="080967"/>
                </a:solidFill>
                <a:latin typeface="Times New Roman" panose="02020603050405020304"/>
                <a:ea typeface="Times New Roman" panose="02020603050405020304"/>
                <a:cs typeface="Times New Roman" panose="02020603050405020304"/>
              </a:defRPr>
            </a:pPr>
            <a:r>
              <a:rPr sz="925" b="1">
                <a:solidFill>
                  <a:srgbClr val="080967"/>
                </a:solidFill>
                <a:latin typeface="Times New Roman" panose="02020603050405020304"/>
                <a:ea typeface="Times New Roman" panose="02020603050405020304"/>
                <a:cs typeface="Times New Roman" panose="02020603050405020304"/>
              </a:rPr>
              <a:t>DeepSeek-V4-</a:t>
            </a:r>
            <a:r>
              <a:rPr lang="en-US" sz="925" b="1">
                <a:solidFill>
                  <a:srgbClr val="080967"/>
                </a:solidFill>
                <a:latin typeface="Times New Roman" panose="02020603050405020304"/>
                <a:ea typeface="Times New Roman" panose="02020603050405020304"/>
                <a:cs typeface="Times New Roman" panose="02020603050405020304"/>
              </a:rPr>
              <a:t>pro</a:t>
            </a:r>
            <a:endParaRPr lang="en-US" sz="925" b="1">
              <a:solidFill>
                <a:srgbClr val="080967"/>
              </a:solidFill>
              <a:latin typeface="Times New Roman" panose="02020603050405020304"/>
              <a:ea typeface="Times New Roman" panose="02020603050405020304"/>
              <a:cs typeface="Times New Roman" panose="02020603050405020304"/>
            </a:endParaRPr>
          </a:p>
        </p:txBody>
      </p:sp>
      <p:sp>
        <p:nvSpPr>
          <p:cNvPr id="257" name="text-256-Codebook v3.5.2"/>
          <p:cNvSpPr>
            <a:spLocks noGrp="1"/>
          </p:cNvSpPr>
          <p:nvPr/>
        </p:nvSpPr>
        <p:spPr>
          <a:xfrm>
            <a:off x="3636206" y="6471617"/>
            <a:ext cx="1007330" cy="148733"/>
          </a:xfrm>
          <a:prstGeom prst="rect">
            <a:avLst/>
          </a:prstGeom>
          <a:noFill/>
          <a:ln w="0">
            <a:noFill/>
          </a:ln>
        </p:spPr>
        <p:txBody>
          <a:bodyPr wrap="none" lIns="0" tIns="0" rIns="0" bIns="0" anchor="ctr">
            <a:noAutofit/>
          </a:bodyPr>
          <a:lstStyle/>
          <a:p>
            <a:pPr algn="ctr">
              <a:defRPr sz="1200" b="1">
                <a:solidFill>
                  <a:srgbClr val="080967"/>
                </a:solidFill>
                <a:latin typeface="Times New Roman" panose="02020603050405020304"/>
                <a:ea typeface="Times New Roman" panose="02020603050405020304"/>
                <a:cs typeface="Times New Roman" panose="02020603050405020304"/>
              </a:defRPr>
            </a:pPr>
            <a:r>
              <a:rPr sz="855" b="1">
                <a:solidFill>
                  <a:srgbClr val="080967"/>
                </a:solidFill>
                <a:latin typeface="Times New Roman" panose="02020603050405020304"/>
                <a:ea typeface="Times New Roman" panose="02020603050405020304"/>
                <a:cs typeface="Times New Roman" panose="02020603050405020304"/>
              </a:rPr>
              <a:t>Codebook </a:t>
            </a:r>
            <a:endParaRPr sz="855" b="1">
              <a:solidFill>
                <a:srgbClr val="080967"/>
              </a:solidFill>
              <a:latin typeface="Times New Roman" panose="02020603050405020304"/>
              <a:ea typeface="Times New Roman" panose="02020603050405020304"/>
              <a:cs typeface="Times New Roman" panose="02020603050405020304"/>
            </a:endParaRPr>
          </a:p>
        </p:txBody>
      </p:sp>
      <p:sp>
        <p:nvSpPr>
          <p:cNvPr id="258" name="text-257-High reasoning configuration"/>
          <p:cNvSpPr>
            <a:spLocks noGrp="1"/>
          </p:cNvSpPr>
          <p:nvPr/>
        </p:nvSpPr>
        <p:spPr>
          <a:xfrm>
            <a:off x="3636206" y="6620350"/>
            <a:ext cx="1007330" cy="114930"/>
          </a:xfrm>
          <a:prstGeom prst="rect">
            <a:avLst/>
          </a:prstGeom>
          <a:noFill/>
          <a:ln w="0">
            <a:noFill/>
          </a:ln>
        </p:spPr>
        <p:txBody>
          <a:bodyPr wrap="none" lIns="0" tIns="0" rIns="0" bIns="0" anchor="ctr">
            <a:noAutofit/>
          </a:bodyPr>
          <a:lstStyle/>
          <a:p>
            <a:pPr algn="ctr">
              <a:defRPr sz="930" b="0">
                <a:solidFill>
                  <a:srgbClr val="080967"/>
                </a:solidFill>
                <a:latin typeface="Times New Roman" panose="02020603050405020304"/>
                <a:ea typeface="Times New Roman" panose="02020603050405020304"/>
                <a:cs typeface="Times New Roman" panose="02020603050405020304"/>
              </a:defRPr>
            </a:pPr>
            <a:r>
              <a:rPr sz="660" b="0">
                <a:solidFill>
                  <a:srgbClr val="080967"/>
                </a:solidFill>
                <a:latin typeface="Times New Roman" panose="02020603050405020304"/>
                <a:ea typeface="Times New Roman" panose="02020603050405020304"/>
                <a:cs typeface="Times New Roman" panose="02020603050405020304"/>
              </a:rPr>
              <a:t>High reasoning configuration</a:t>
            </a:r>
            <a:endParaRPr sz="660" b="0">
              <a:solidFill>
                <a:srgbClr val="080967"/>
              </a:solidFill>
              <a:latin typeface="Times New Roman" panose="02020603050405020304"/>
              <a:ea typeface="Times New Roman" panose="02020603050405020304"/>
              <a:cs typeface="Times New Roman" panose="02020603050405020304"/>
            </a:endParaRPr>
          </a:p>
        </p:txBody>
      </p:sp>
      <p:sp>
        <p:nvSpPr>
          <p:cNvPr id="259" name="path-258-"/>
          <p:cNvSpPr>
            <a:spLocks noGrp="1"/>
          </p:cNvSpPr>
          <p:nvPr/>
        </p:nvSpPr>
        <p:spPr>
          <a:xfrm>
            <a:off x="4680251" y="6383729"/>
            <a:ext cx="121691" cy="67"/>
          </a:xfrm>
          <a:custGeom>
            <a:avLst/>
            <a:gdLst/>
            <a:ahLst/>
            <a:cxnLst/>
            <a:rect l="0" t="0" r="0" b="0"/>
            <a:pathLst>
              <a:path w="171450" h="95">
                <a:moveTo>
                  <a:pt x="0" y="0"/>
                </a:moveTo>
                <a:lnTo>
                  <a:pt x="171450" y="0"/>
                </a:lnTo>
              </a:path>
            </a:pathLst>
          </a:custGeom>
          <a:noFill/>
          <a:ln w="23813">
            <a:solidFill>
              <a:schemeClr val="bg2">
                <a:lumMod val="50000"/>
              </a:schemeClr>
            </a:solidFill>
            <a:prstDash val="solid"/>
          </a:ln>
        </p:spPr>
        <p:txBody>
          <a:bodyPr/>
          <a:lstStyle/>
          <a:p>
            <a:endParaRPr lang="zh-CN" altLang="en-US"/>
          </a:p>
        </p:txBody>
      </p:sp>
      <p:sp>
        <p:nvSpPr>
          <p:cNvPr id="260" name="polygon-259-"/>
          <p:cNvSpPr>
            <a:spLocks noGrp="1"/>
          </p:cNvSpPr>
          <p:nvPr/>
        </p:nvSpPr>
        <p:spPr>
          <a:xfrm>
            <a:off x="4766086" y="6345194"/>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61" name="text-260-Project-wise coding"/>
          <p:cNvSpPr>
            <a:spLocks noGrp="1"/>
          </p:cNvSpPr>
          <p:nvPr/>
        </p:nvSpPr>
        <p:spPr>
          <a:xfrm>
            <a:off x="4801607" y="5903726"/>
            <a:ext cx="831554" cy="135212"/>
          </a:xfrm>
          <a:prstGeom prst="rect">
            <a:avLst/>
          </a:prstGeom>
          <a:noFill/>
          <a:ln w="0">
            <a:noFill/>
          </a:ln>
        </p:spPr>
        <p:txBody>
          <a:bodyPr wrap="none" lIns="0" tIns="0" rIns="0" bIns="0" anchor="ctr">
            <a:noAutofit/>
          </a:bodyPr>
          <a:lstStyle/>
          <a:p>
            <a:pPr algn="ctr">
              <a:defRPr sz="1050" b="1">
                <a:solidFill>
                  <a:srgbClr val="334B5C"/>
                </a:solidFill>
                <a:latin typeface="Times New Roman" panose="02020603050405020304"/>
                <a:ea typeface="Times New Roman" panose="02020603050405020304"/>
                <a:cs typeface="Times New Roman" panose="02020603050405020304"/>
              </a:defRPr>
            </a:pPr>
            <a:r>
              <a:rPr sz="745" b="1">
                <a:solidFill>
                  <a:srgbClr val="334B5C"/>
                </a:solidFill>
                <a:latin typeface="Times New Roman" panose="02020603050405020304"/>
                <a:ea typeface="Times New Roman" panose="02020603050405020304"/>
                <a:cs typeface="Times New Roman" panose="02020603050405020304"/>
              </a:rPr>
              <a:t>Project-wise coding</a:t>
            </a:r>
            <a:endParaRPr sz="745" b="1">
              <a:solidFill>
                <a:srgbClr val="334B5C"/>
              </a:solidFill>
              <a:latin typeface="Times New Roman" panose="02020603050405020304"/>
              <a:ea typeface="Times New Roman" panose="02020603050405020304"/>
              <a:cs typeface="Times New Roman" panose="02020603050405020304"/>
            </a:endParaRPr>
          </a:p>
        </p:txBody>
      </p:sp>
      <p:sp>
        <p:nvSpPr>
          <p:cNvPr id="262" name="shape-261-"/>
          <p:cNvSpPr>
            <a:spLocks noGrp="1"/>
          </p:cNvSpPr>
          <p:nvPr/>
        </p:nvSpPr>
        <p:spPr>
          <a:xfrm>
            <a:off x="4853305" y="6045442"/>
            <a:ext cx="730885" cy="743585"/>
          </a:xfrm>
          <a:prstGeom prst="roundRect">
            <a:avLst>
              <a:gd name="adj" fmla="val 5455"/>
            </a:avLst>
          </a:prstGeom>
          <a:solidFill>
            <a:srgbClr val="FFFFFF"/>
          </a:solidFill>
          <a:ln w="6668">
            <a:solidFill>
              <a:srgbClr val="CBD4DA"/>
            </a:solidFill>
            <a:prstDash val="solid"/>
          </a:ln>
        </p:spPr>
        <p:txBody>
          <a:bodyPr/>
          <a:lstStyle/>
          <a:p>
            <a:endParaRPr lang="zh-CN" altLang="en-US"/>
          </a:p>
        </p:txBody>
      </p:sp>
      <p:sp>
        <p:nvSpPr>
          <p:cNvPr id="264" name="text-263-Coded fields +&#10;original-language&#10;evidence excerpts"/>
          <p:cNvSpPr>
            <a:spLocks noGrp="1"/>
          </p:cNvSpPr>
          <p:nvPr/>
        </p:nvSpPr>
        <p:spPr>
          <a:xfrm>
            <a:off x="4880156" y="6451335"/>
            <a:ext cx="703103" cy="317748"/>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Coded fields +</a:t>
            </a:r>
            <a:endParaRPr sz="725" b="0">
              <a:solidFill>
                <a:srgbClr val="080967"/>
              </a:solidFill>
              <a:latin typeface="Times New Roman" panose="02020603050405020304"/>
              <a:ea typeface="Times New Roman" panose="02020603050405020304"/>
              <a:cs typeface="Times New Roman" panose="02020603050405020304"/>
            </a:endParaRP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original-language</a:t>
            </a:r>
            <a:endParaRPr sz="725" b="0">
              <a:solidFill>
                <a:srgbClr val="080967"/>
              </a:solidFill>
              <a:latin typeface="Times New Roman" panose="02020603050405020304"/>
              <a:ea typeface="Times New Roman" panose="02020603050405020304"/>
              <a:cs typeface="Times New Roman" panose="02020603050405020304"/>
            </a:endParaRP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evidence excerpts</a:t>
            </a: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65" name="text-264-Outputs"/>
          <p:cNvSpPr>
            <a:spLocks noGrp="1"/>
          </p:cNvSpPr>
          <p:nvPr/>
        </p:nvSpPr>
        <p:spPr>
          <a:xfrm>
            <a:off x="6205220" y="5917172"/>
            <a:ext cx="441960" cy="128270"/>
          </a:xfrm>
          <a:prstGeom prst="rect">
            <a:avLst/>
          </a:prstGeom>
          <a:noFill/>
          <a:ln w="0">
            <a:noFill/>
          </a:ln>
        </p:spPr>
        <p:txBody>
          <a:bodyPr wrap="none" lIns="0" tIns="0" rIns="0" bIns="0" anchor="ctr">
            <a:noAutofit/>
          </a:bodyPr>
          <a:lstStyle/>
          <a:p>
            <a:pPr algn="l">
              <a:defRPr sz="1050" b="1">
                <a:solidFill>
                  <a:srgbClr val="334B5C"/>
                </a:solidFill>
                <a:latin typeface="Times New Roman" panose="02020603050405020304"/>
                <a:ea typeface="Times New Roman" panose="02020603050405020304"/>
                <a:cs typeface="Times New Roman" panose="02020603050405020304"/>
              </a:defRPr>
            </a:pPr>
            <a:r>
              <a:rPr sz="745" b="1">
                <a:solidFill>
                  <a:srgbClr val="334B5C"/>
                </a:solidFill>
                <a:latin typeface="Times New Roman" panose="02020603050405020304"/>
                <a:ea typeface="Times New Roman" panose="02020603050405020304"/>
                <a:cs typeface="Times New Roman" panose="02020603050405020304"/>
              </a:rPr>
              <a:t>Outputs</a:t>
            </a:r>
            <a:endParaRPr sz="745" b="1">
              <a:solidFill>
                <a:srgbClr val="334B5C"/>
              </a:solidFill>
              <a:latin typeface="Times New Roman" panose="02020603050405020304"/>
              <a:ea typeface="Times New Roman" panose="02020603050405020304"/>
              <a:cs typeface="Times New Roman" panose="02020603050405020304"/>
            </a:endParaRPr>
          </a:p>
        </p:txBody>
      </p:sp>
      <p:sp>
        <p:nvSpPr>
          <p:cNvPr id="266" name="shape-265-"/>
          <p:cNvSpPr>
            <a:spLocks noGrp="1"/>
          </p:cNvSpPr>
          <p:nvPr/>
        </p:nvSpPr>
        <p:spPr>
          <a:xfrm>
            <a:off x="6076950" y="6045442"/>
            <a:ext cx="610235" cy="567690"/>
          </a:xfrm>
          <a:prstGeom prst="roundRect">
            <a:avLst>
              <a:gd name="adj" fmla="val 7143"/>
            </a:avLst>
          </a:prstGeom>
          <a:solidFill>
            <a:srgbClr val="F5F7F8"/>
          </a:solidFill>
          <a:ln w="6668">
            <a:solidFill>
              <a:srgbClr val="CBD4DA"/>
            </a:solidFill>
            <a:prstDash val="solid"/>
          </a:ln>
        </p:spPr>
        <p:txBody>
          <a:bodyPr/>
          <a:lstStyle/>
          <a:p>
            <a:endParaRPr lang="zh-CN" altLang="en-US"/>
          </a:p>
        </p:txBody>
      </p:sp>
      <p:sp>
        <p:nvSpPr>
          <p:cNvPr id="267" name="shape-266-"/>
          <p:cNvSpPr>
            <a:spLocks noGrp="1"/>
          </p:cNvSpPr>
          <p:nvPr/>
        </p:nvSpPr>
        <p:spPr>
          <a:xfrm>
            <a:off x="6089650" y="6794107"/>
            <a:ext cx="610235" cy="581660"/>
          </a:xfrm>
          <a:prstGeom prst="roundRect">
            <a:avLst>
              <a:gd name="adj" fmla="val 6977"/>
            </a:avLst>
          </a:prstGeom>
          <a:solidFill>
            <a:srgbClr val="F5F7F8"/>
          </a:solidFill>
          <a:ln w="6668">
            <a:solidFill>
              <a:srgbClr val="CBD4DA"/>
            </a:solidFill>
            <a:prstDash val="solid"/>
          </a:ln>
        </p:spPr>
        <p:txBody>
          <a:bodyPr/>
          <a:lstStyle/>
          <a:p>
            <a:endParaRPr lang="zh-CN" altLang="en-US"/>
          </a:p>
        </p:txBody>
      </p:sp>
      <p:sp>
        <p:nvSpPr>
          <p:cNvPr id="270" name="text-269-Coding records&#10;(structured table)"/>
          <p:cNvSpPr>
            <a:spLocks noGrp="1"/>
          </p:cNvSpPr>
          <p:nvPr/>
        </p:nvSpPr>
        <p:spPr>
          <a:xfrm>
            <a:off x="6064250" y="6456287"/>
            <a:ext cx="669290" cy="198120"/>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Coding </a:t>
            </a:r>
            <a:endParaRPr sz="725" b="0">
              <a:solidFill>
                <a:srgbClr val="080967"/>
              </a:solidFill>
              <a:latin typeface="Times New Roman" panose="02020603050405020304"/>
              <a:ea typeface="Times New Roman" panose="02020603050405020304"/>
              <a:cs typeface="Times New Roman" panose="02020603050405020304"/>
            </a:endParaRP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records</a:t>
            </a:r>
            <a:endParaRPr sz="725" b="0">
              <a:solidFill>
                <a:srgbClr val="080967"/>
              </a:solidFill>
              <a:latin typeface="Times New Roman" panose="02020603050405020304"/>
              <a:ea typeface="Times New Roman" panose="02020603050405020304"/>
              <a:cs typeface="Times New Roman" panose="02020603050405020304"/>
            </a:endParaRPr>
          </a:p>
          <a:p>
            <a:pPr algn="ctr">
              <a:defRPr sz="1015" b="0">
                <a:solidFill>
                  <a:srgbClr val="080967"/>
                </a:solidFill>
                <a:latin typeface="Times New Roman" panose="02020603050405020304"/>
                <a:ea typeface="Times New Roman" panose="02020603050405020304"/>
                <a:cs typeface="Times New Roman" panose="02020603050405020304"/>
              </a:defRPr>
            </a:pP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71" name="text-270-Evidence records&#10;(text excerpts)"/>
          <p:cNvSpPr>
            <a:spLocks noGrp="1"/>
          </p:cNvSpPr>
          <p:nvPr/>
        </p:nvSpPr>
        <p:spPr>
          <a:xfrm>
            <a:off x="6083935" y="7207492"/>
            <a:ext cx="669290" cy="137795"/>
          </a:xfrm>
          <a:prstGeom prst="rect">
            <a:avLst/>
          </a:prstGeom>
          <a:noFill/>
          <a:ln w="0">
            <a:noFill/>
          </a:ln>
        </p:spPr>
        <p:txBody>
          <a:bodyPr wrap="none" lIns="0" tIns="0" rIns="0" bIns="0" anchor="ctr">
            <a:noAutofit/>
          </a:bodyPr>
          <a:lstStyle/>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Evidence </a:t>
            </a:r>
            <a:endParaRPr sz="725" b="0">
              <a:solidFill>
                <a:srgbClr val="080967"/>
              </a:solidFill>
              <a:latin typeface="Times New Roman" panose="02020603050405020304"/>
              <a:ea typeface="Times New Roman" panose="02020603050405020304"/>
              <a:cs typeface="Times New Roman" panose="02020603050405020304"/>
            </a:endParaRPr>
          </a:p>
          <a:p>
            <a:pPr algn="ctr">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records</a:t>
            </a:r>
            <a:endParaRPr sz="725" b="0">
              <a:solidFill>
                <a:srgbClr val="080967"/>
              </a:solidFill>
              <a:latin typeface="Times New Roman" panose="02020603050405020304"/>
              <a:ea typeface="Times New Roman" panose="02020603050405020304"/>
              <a:cs typeface="Times New Roman" panose="02020603050405020304"/>
            </a:endParaRPr>
          </a:p>
          <a:p>
            <a:pPr algn="ctr">
              <a:defRPr sz="1015" b="0">
                <a:solidFill>
                  <a:srgbClr val="080967"/>
                </a:solidFill>
                <a:latin typeface="Times New Roman" panose="02020603050405020304"/>
                <a:ea typeface="Times New Roman" panose="02020603050405020304"/>
                <a:cs typeface="Times New Roman" panose="02020603050405020304"/>
              </a:defRPr>
            </a:pP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72" name="shape-271-"/>
          <p:cNvSpPr>
            <a:spLocks noGrp="1"/>
          </p:cNvSpPr>
          <p:nvPr/>
        </p:nvSpPr>
        <p:spPr>
          <a:xfrm>
            <a:off x="2764790" y="6843395"/>
            <a:ext cx="2312670" cy="534035"/>
          </a:xfrm>
          <a:prstGeom prst="roundRect">
            <a:avLst>
              <a:gd name="adj" fmla="val 7595"/>
            </a:avLst>
          </a:prstGeom>
          <a:solidFill>
            <a:srgbClr val="FFFFFF"/>
          </a:solidFill>
          <a:ln w="6668">
            <a:solidFill>
              <a:srgbClr val="CBD4DA"/>
            </a:solidFill>
            <a:prstDash val="solid"/>
          </a:ln>
        </p:spPr>
        <p:txBody>
          <a:bodyPr/>
          <a:lstStyle/>
          <a:p>
            <a:endParaRPr lang="zh-CN" altLang="en-US"/>
          </a:p>
        </p:txBody>
      </p:sp>
      <p:sp>
        <p:nvSpPr>
          <p:cNvPr id="273" name="shape-272-"/>
          <p:cNvSpPr>
            <a:spLocks noGrp="1"/>
          </p:cNvSpPr>
          <p:nvPr/>
        </p:nvSpPr>
        <p:spPr>
          <a:xfrm>
            <a:off x="2797810" y="6849987"/>
            <a:ext cx="2279650" cy="168910"/>
          </a:xfrm>
          <a:prstGeom prst="roundRect">
            <a:avLst>
              <a:gd name="adj" fmla="val 20000"/>
            </a:avLst>
          </a:prstGeom>
          <a:solidFill>
            <a:srgbClr val="E8EEF2"/>
          </a:solidFill>
          <a:ln w="6668">
            <a:noFill/>
            <a:prstDash val="solid"/>
          </a:ln>
        </p:spPr>
        <p:txBody>
          <a:bodyPr/>
          <a:lstStyle/>
          <a:p>
            <a:endParaRPr lang="zh-CN" altLang="en-US"/>
          </a:p>
        </p:txBody>
      </p:sp>
      <p:sp>
        <p:nvSpPr>
          <p:cNvPr id="274" name="text-273-Automatic checks"/>
          <p:cNvSpPr>
            <a:spLocks noGrp="1"/>
          </p:cNvSpPr>
          <p:nvPr/>
        </p:nvSpPr>
        <p:spPr>
          <a:xfrm>
            <a:off x="2845215" y="6870492"/>
            <a:ext cx="838315" cy="141973"/>
          </a:xfrm>
          <a:prstGeom prst="rect">
            <a:avLst/>
          </a:prstGeom>
          <a:noFill/>
          <a:ln w="0">
            <a:noFill/>
          </a:ln>
        </p:spPr>
        <p:txBody>
          <a:bodyPr wrap="none" lIns="0" tIns="0" rIns="0" bIns="0" anchor="ctr">
            <a:noAutofit/>
          </a:bodyPr>
          <a:lstStyle/>
          <a:p>
            <a:pPr algn="l">
              <a:defRPr sz="1195" b="1">
                <a:solidFill>
                  <a:srgbClr val="334B5C"/>
                </a:solidFill>
                <a:latin typeface="Times New Roman" panose="02020603050405020304"/>
                <a:ea typeface="Times New Roman" panose="02020603050405020304"/>
                <a:cs typeface="Times New Roman" panose="02020603050405020304"/>
              </a:defRPr>
            </a:pPr>
            <a:r>
              <a:rPr sz="850" b="1">
                <a:solidFill>
                  <a:srgbClr val="334B5C"/>
                </a:solidFill>
                <a:latin typeface="Times New Roman" panose="02020603050405020304"/>
                <a:ea typeface="Times New Roman" panose="02020603050405020304"/>
                <a:cs typeface="Times New Roman" panose="02020603050405020304"/>
              </a:rPr>
              <a:t>Automatic checks</a:t>
            </a:r>
            <a:endParaRPr sz="850" b="1">
              <a:solidFill>
                <a:srgbClr val="334B5C"/>
              </a:solidFill>
              <a:latin typeface="Times New Roman" panose="02020603050405020304"/>
              <a:ea typeface="Times New Roman" panose="02020603050405020304"/>
              <a:cs typeface="Times New Roman" panose="02020603050405020304"/>
            </a:endParaRPr>
          </a:p>
        </p:txBody>
      </p:sp>
      <p:sp>
        <p:nvSpPr>
          <p:cNvPr id="275" name="text-274-(format and logic)"/>
          <p:cNvSpPr>
            <a:spLocks noGrp="1"/>
          </p:cNvSpPr>
          <p:nvPr/>
        </p:nvSpPr>
        <p:spPr>
          <a:xfrm>
            <a:off x="3744375" y="6877253"/>
            <a:ext cx="1237190" cy="135212"/>
          </a:xfrm>
          <a:prstGeom prst="rect">
            <a:avLst/>
          </a:prstGeom>
          <a:noFill/>
          <a:ln w="0">
            <a:noFill/>
          </a:ln>
        </p:spPr>
        <p:txBody>
          <a:bodyPr wrap="none" lIns="0" tIns="0" rIns="0" bIns="0" anchor="ctr">
            <a:noAutofit/>
          </a:bodyPr>
          <a:lstStyle/>
          <a:p>
            <a:pPr algn="l">
              <a:defRPr sz="1015" b="0">
                <a:solidFill>
                  <a:srgbClr val="080967"/>
                </a:solidFill>
                <a:latin typeface="Times New Roman" panose="02020603050405020304"/>
                <a:ea typeface="Times New Roman" panose="02020603050405020304"/>
                <a:cs typeface="Times New Roman" panose="02020603050405020304"/>
              </a:defRPr>
            </a:pPr>
            <a:r>
              <a:rPr sz="725" b="0">
                <a:solidFill>
                  <a:srgbClr val="080967"/>
                </a:solidFill>
                <a:latin typeface="Times New Roman" panose="02020603050405020304"/>
                <a:ea typeface="Times New Roman" panose="02020603050405020304"/>
                <a:cs typeface="Times New Roman" panose="02020603050405020304"/>
              </a:rPr>
              <a:t>(format and logic)</a:t>
            </a:r>
            <a:endParaRPr sz="725" b="0">
              <a:solidFill>
                <a:srgbClr val="080967"/>
              </a:solidFill>
              <a:latin typeface="Times New Roman" panose="02020603050405020304"/>
              <a:ea typeface="Times New Roman" panose="02020603050405020304"/>
              <a:cs typeface="Times New Roman" panose="02020603050405020304"/>
            </a:endParaRPr>
          </a:p>
        </p:txBody>
      </p:sp>
      <p:sp>
        <p:nvSpPr>
          <p:cNvPr id="276" name="shape-275-"/>
          <p:cNvSpPr>
            <a:spLocks noGrp="1"/>
          </p:cNvSpPr>
          <p:nvPr/>
        </p:nvSpPr>
        <p:spPr>
          <a:xfrm>
            <a:off x="2855151" y="7094265"/>
            <a:ext cx="189297" cy="189297"/>
          </a:xfrm>
          <a:prstGeom prst="ellipse">
            <a:avLst/>
          </a:prstGeom>
          <a:solidFill>
            <a:schemeClr val="tx2">
              <a:lumMod val="50000"/>
              <a:lumOff val="50000"/>
            </a:schemeClr>
          </a:solidFill>
          <a:ln w="0">
            <a:solidFill>
              <a:schemeClr val="tx2">
                <a:lumMod val="50000"/>
                <a:lumOff val="50000"/>
              </a:schemeClr>
            </a:solidFill>
            <a:prstDash val="solid"/>
          </a:ln>
        </p:spPr>
        <p:txBody>
          <a:bodyPr/>
          <a:lstStyle/>
          <a:p>
            <a:endParaRPr lang="zh-CN" altLang="en-US"/>
          </a:p>
        </p:txBody>
      </p:sp>
      <p:sp>
        <p:nvSpPr>
          <p:cNvPr id="277" name="path-276-"/>
          <p:cNvSpPr>
            <a:spLocks noGrp="1"/>
          </p:cNvSpPr>
          <p:nvPr/>
        </p:nvSpPr>
        <p:spPr>
          <a:xfrm>
            <a:off x="2902475" y="7151054"/>
            <a:ext cx="94648" cy="70987"/>
          </a:xfrm>
          <a:custGeom>
            <a:avLst/>
            <a:gdLst/>
            <a:ahLst/>
            <a:cxnLst/>
            <a:rect l="0" t="0" r="0" b="0"/>
            <a:pathLst>
              <a:path w="133350" h="100013">
                <a:moveTo>
                  <a:pt x="0" y="53340"/>
                </a:moveTo>
                <a:lnTo>
                  <a:pt x="46672" y="100013"/>
                </a:lnTo>
                <a:lnTo>
                  <a:pt x="133350" y="0"/>
                </a:lnTo>
              </a:path>
            </a:pathLst>
          </a:custGeom>
          <a:noFill/>
          <a:ln w="26670">
            <a:solidFill>
              <a:srgbClr val="FFFFFF"/>
            </a:solidFill>
            <a:prstDash val="solid"/>
          </a:ln>
        </p:spPr>
        <p:txBody>
          <a:bodyPr/>
          <a:lstStyle/>
          <a:p>
            <a:endParaRPr lang="zh-CN" altLang="en-US"/>
          </a:p>
        </p:txBody>
      </p:sp>
      <p:sp>
        <p:nvSpPr>
          <p:cNvPr id="278" name="shape-277-"/>
          <p:cNvSpPr>
            <a:spLocks noGrp="1"/>
          </p:cNvSpPr>
          <p:nvPr/>
        </p:nvSpPr>
        <p:spPr>
          <a:xfrm>
            <a:off x="3588882" y="7094265"/>
            <a:ext cx="189297" cy="189297"/>
          </a:xfrm>
          <a:prstGeom prst="ellipse">
            <a:avLst/>
          </a:prstGeom>
          <a:solidFill>
            <a:schemeClr val="tx2">
              <a:lumMod val="50000"/>
              <a:lumOff val="50000"/>
            </a:schemeClr>
          </a:solidFill>
          <a:ln w="0">
            <a:solidFill>
              <a:schemeClr val="tx2">
                <a:lumMod val="50000"/>
                <a:lumOff val="50000"/>
              </a:schemeClr>
            </a:solidFill>
            <a:prstDash val="solid"/>
          </a:ln>
        </p:spPr>
        <p:txBody>
          <a:bodyPr/>
          <a:lstStyle/>
          <a:p>
            <a:endParaRPr lang="zh-CN" altLang="en-US"/>
          </a:p>
        </p:txBody>
      </p:sp>
      <p:sp>
        <p:nvSpPr>
          <p:cNvPr id="279" name="path-278-"/>
          <p:cNvSpPr>
            <a:spLocks noGrp="1"/>
          </p:cNvSpPr>
          <p:nvPr/>
        </p:nvSpPr>
        <p:spPr>
          <a:xfrm>
            <a:off x="3636206" y="7152324"/>
            <a:ext cx="94648" cy="70987"/>
          </a:xfrm>
          <a:custGeom>
            <a:avLst/>
            <a:gdLst/>
            <a:ahLst/>
            <a:cxnLst/>
            <a:rect l="0" t="0" r="0" b="0"/>
            <a:pathLst>
              <a:path w="133350" h="100013">
                <a:moveTo>
                  <a:pt x="0" y="53340"/>
                </a:moveTo>
                <a:lnTo>
                  <a:pt x="46672" y="100013"/>
                </a:lnTo>
                <a:lnTo>
                  <a:pt x="133350" y="0"/>
                </a:lnTo>
              </a:path>
            </a:pathLst>
          </a:custGeom>
          <a:noFill/>
          <a:ln w="26670">
            <a:solidFill>
              <a:srgbClr val="FFFFFF"/>
            </a:solidFill>
            <a:prstDash val="solid"/>
          </a:ln>
        </p:spPr>
        <p:txBody>
          <a:bodyPr/>
          <a:lstStyle/>
          <a:p>
            <a:endParaRPr lang="zh-CN" altLang="en-US"/>
          </a:p>
        </p:txBody>
      </p:sp>
      <p:sp>
        <p:nvSpPr>
          <p:cNvPr id="280" name="shape-279-"/>
          <p:cNvSpPr>
            <a:spLocks noGrp="1"/>
          </p:cNvSpPr>
          <p:nvPr/>
        </p:nvSpPr>
        <p:spPr>
          <a:xfrm>
            <a:off x="4299380" y="7079660"/>
            <a:ext cx="189297" cy="189297"/>
          </a:xfrm>
          <a:prstGeom prst="ellipse">
            <a:avLst/>
          </a:prstGeom>
          <a:solidFill>
            <a:schemeClr val="tx2">
              <a:lumMod val="50000"/>
              <a:lumOff val="50000"/>
            </a:schemeClr>
          </a:solidFill>
          <a:ln w="0">
            <a:solidFill>
              <a:schemeClr val="tx2">
                <a:lumMod val="50000"/>
                <a:lumOff val="50000"/>
              </a:schemeClr>
            </a:solidFill>
            <a:prstDash val="solid"/>
          </a:ln>
        </p:spPr>
        <p:txBody>
          <a:bodyPr/>
          <a:lstStyle/>
          <a:p>
            <a:endParaRPr lang="zh-CN" altLang="en-US"/>
          </a:p>
        </p:txBody>
      </p:sp>
      <p:sp>
        <p:nvSpPr>
          <p:cNvPr id="281" name="path-280-"/>
          <p:cNvSpPr>
            <a:spLocks noGrp="1"/>
          </p:cNvSpPr>
          <p:nvPr/>
        </p:nvSpPr>
        <p:spPr>
          <a:xfrm>
            <a:off x="4346704" y="7136449"/>
            <a:ext cx="94648" cy="70987"/>
          </a:xfrm>
          <a:custGeom>
            <a:avLst/>
            <a:gdLst/>
            <a:ahLst/>
            <a:cxnLst/>
            <a:rect l="0" t="0" r="0" b="0"/>
            <a:pathLst>
              <a:path w="133350" h="100013">
                <a:moveTo>
                  <a:pt x="0" y="53340"/>
                </a:moveTo>
                <a:lnTo>
                  <a:pt x="46672" y="100013"/>
                </a:lnTo>
                <a:lnTo>
                  <a:pt x="133350" y="0"/>
                </a:lnTo>
              </a:path>
            </a:pathLst>
          </a:custGeom>
          <a:noFill/>
          <a:ln w="26670">
            <a:solidFill>
              <a:srgbClr val="FFFFFF"/>
            </a:solidFill>
            <a:prstDash val="solid"/>
          </a:ln>
        </p:spPr>
        <p:txBody>
          <a:bodyPr/>
          <a:lstStyle/>
          <a:p>
            <a:endParaRPr lang="zh-CN" altLang="en-US"/>
          </a:p>
        </p:txBody>
      </p:sp>
      <p:sp>
        <p:nvSpPr>
          <p:cNvPr id="282" name="text-281-Fields and&#10;allowed labels"/>
          <p:cNvSpPr>
            <a:spLocks noGrp="1"/>
          </p:cNvSpPr>
          <p:nvPr/>
        </p:nvSpPr>
        <p:spPr>
          <a:xfrm>
            <a:off x="3095358" y="7061470"/>
            <a:ext cx="480003" cy="263663"/>
          </a:xfrm>
          <a:prstGeom prst="rect">
            <a:avLst/>
          </a:prstGeom>
          <a:noFill/>
          <a:ln w="0">
            <a:noFill/>
          </a:ln>
        </p:spPr>
        <p:txBody>
          <a:bodyPr wrap="none" lIns="0" tIns="0" rIns="0" bIns="0" anchor="ctr">
            <a:noAutofit/>
          </a:bodyPr>
          <a:lstStyle/>
          <a:p>
            <a:pPr algn="l">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Fields and</a:t>
            </a:r>
            <a:endParaRPr sz="630" b="0">
              <a:solidFill>
                <a:srgbClr val="080967"/>
              </a:solidFill>
              <a:latin typeface="Times New Roman" panose="02020603050405020304"/>
              <a:ea typeface="Times New Roman" panose="02020603050405020304"/>
              <a:cs typeface="Times New Roman" panose="02020603050405020304"/>
            </a:endParaRPr>
          </a:p>
          <a:p>
            <a:pPr algn="l">
              <a:defRPr sz="885" b="0">
                <a:solidFill>
                  <a:srgbClr val="080967"/>
                </a:solidFill>
                <a:latin typeface="Times New Roman" panose="02020603050405020304"/>
                <a:ea typeface="Times New Roman" panose="02020603050405020304"/>
                <a:cs typeface="Times New Roman" panose="02020603050405020304"/>
              </a:defRPr>
            </a:pPr>
            <a:r>
              <a:rPr sz="630" b="0">
                <a:solidFill>
                  <a:srgbClr val="080967"/>
                </a:solidFill>
                <a:latin typeface="Times New Roman" panose="02020603050405020304"/>
                <a:ea typeface="Times New Roman" panose="02020603050405020304"/>
                <a:cs typeface="Times New Roman" panose="02020603050405020304"/>
              </a:rPr>
              <a:t>allowed labels</a:t>
            </a:r>
            <a:endParaRPr sz="630" b="0">
              <a:solidFill>
                <a:srgbClr val="080967"/>
              </a:solidFill>
              <a:latin typeface="Times New Roman" panose="02020603050405020304"/>
              <a:ea typeface="Times New Roman" panose="02020603050405020304"/>
              <a:cs typeface="Times New Roman" panose="02020603050405020304"/>
            </a:endParaRPr>
          </a:p>
        </p:txBody>
      </p:sp>
      <p:sp>
        <p:nvSpPr>
          <p:cNvPr id="283" name="text-282-Parent-child&#10;consistency"/>
          <p:cNvSpPr>
            <a:spLocks noGrp="1"/>
          </p:cNvSpPr>
          <p:nvPr/>
        </p:nvSpPr>
        <p:spPr>
          <a:xfrm>
            <a:off x="3832263" y="7046865"/>
            <a:ext cx="466482" cy="263663"/>
          </a:xfrm>
          <a:prstGeom prst="rect">
            <a:avLst/>
          </a:prstGeom>
          <a:noFill/>
          <a:ln w="0">
            <a:noFill/>
          </a:ln>
        </p:spPr>
        <p:txBody>
          <a:bodyPr wrap="none" lIns="0" tIns="0" rIns="0" bIns="0" anchor="ctr">
            <a:noAutofit/>
          </a:bodyPr>
          <a:lstStyle/>
          <a:p>
            <a:pPr algn="l">
              <a:defRPr sz="940"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Parent-child</a:t>
            </a:r>
            <a:endParaRPr sz="665" b="0">
              <a:solidFill>
                <a:srgbClr val="080967"/>
              </a:solidFill>
              <a:latin typeface="Times New Roman" panose="02020603050405020304"/>
              <a:ea typeface="Times New Roman" panose="02020603050405020304"/>
              <a:cs typeface="Times New Roman" panose="02020603050405020304"/>
            </a:endParaRPr>
          </a:p>
          <a:p>
            <a:pPr algn="l">
              <a:defRPr sz="940" b="0">
                <a:solidFill>
                  <a:srgbClr val="080967"/>
                </a:solidFill>
                <a:latin typeface="Times New Roman" panose="02020603050405020304"/>
                <a:ea typeface="Times New Roman" panose="02020603050405020304"/>
                <a:cs typeface="Times New Roman" panose="02020603050405020304"/>
              </a:defRPr>
            </a:pPr>
            <a:r>
              <a:rPr sz="665" b="0">
                <a:solidFill>
                  <a:srgbClr val="080967"/>
                </a:solidFill>
                <a:latin typeface="Times New Roman" panose="02020603050405020304"/>
                <a:ea typeface="Times New Roman" panose="02020603050405020304"/>
                <a:cs typeface="Times New Roman" panose="02020603050405020304"/>
              </a:rPr>
              <a:t>consistency</a:t>
            </a:r>
            <a:endParaRPr sz="665" b="0">
              <a:solidFill>
                <a:srgbClr val="080967"/>
              </a:solidFill>
              <a:latin typeface="Times New Roman" panose="02020603050405020304"/>
              <a:ea typeface="Times New Roman" panose="02020603050405020304"/>
              <a:cs typeface="Times New Roman" panose="02020603050405020304"/>
            </a:endParaRPr>
          </a:p>
        </p:txBody>
      </p:sp>
      <p:sp>
        <p:nvSpPr>
          <p:cNvPr id="284" name="text-283-Source-evidence&#10;matching"/>
          <p:cNvSpPr>
            <a:spLocks noGrp="1"/>
          </p:cNvSpPr>
          <p:nvPr/>
        </p:nvSpPr>
        <p:spPr>
          <a:xfrm>
            <a:off x="4509106" y="7046865"/>
            <a:ext cx="547609" cy="263663"/>
          </a:xfrm>
          <a:prstGeom prst="rect">
            <a:avLst/>
          </a:prstGeom>
          <a:noFill/>
          <a:ln w="0">
            <a:noFill/>
          </a:ln>
        </p:spPr>
        <p:txBody>
          <a:bodyPr wrap="none" lIns="0" tIns="0" rIns="0" bIns="0" anchor="ctr">
            <a:noAutofit/>
          </a:bodyPr>
          <a:lstStyle/>
          <a:p>
            <a:pPr algn="l">
              <a:defRPr sz="880" b="0">
                <a:solidFill>
                  <a:srgbClr val="080967"/>
                </a:solidFill>
                <a:latin typeface="Times New Roman" panose="02020603050405020304"/>
                <a:ea typeface="Times New Roman" panose="02020603050405020304"/>
                <a:cs typeface="Times New Roman" panose="02020603050405020304"/>
              </a:defRPr>
            </a:pPr>
            <a:r>
              <a:rPr sz="625" b="0">
                <a:solidFill>
                  <a:srgbClr val="080967"/>
                </a:solidFill>
                <a:latin typeface="Times New Roman" panose="02020603050405020304"/>
                <a:ea typeface="Times New Roman" panose="02020603050405020304"/>
                <a:cs typeface="Times New Roman" panose="02020603050405020304"/>
              </a:rPr>
              <a:t>Source-evidence</a:t>
            </a:r>
            <a:endParaRPr sz="625" b="0">
              <a:solidFill>
                <a:srgbClr val="080967"/>
              </a:solidFill>
              <a:latin typeface="Times New Roman" panose="02020603050405020304"/>
              <a:ea typeface="Times New Roman" panose="02020603050405020304"/>
              <a:cs typeface="Times New Roman" panose="02020603050405020304"/>
            </a:endParaRPr>
          </a:p>
          <a:p>
            <a:pPr algn="l">
              <a:defRPr sz="880" b="0">
                <a:solidFill>
                  <a:srgbClr val="080967"/>
                </a:solidFill>
                <a:latin typeface="Times New Roman" panose="02020603050405020304"/>
                <a:ea typeface="Times New Roman" panose="02020603050405020304"/>
                <a:cs typeface="Times New Roman" panose="02020603050405020304"/>
              </a:defRPr>
            </a:pPr>
            <a:r>
              <a:rPr sz="625" b="0">
                <a:solidFill>
                  <a:srgbClr val="080967"/>
                </a:solidFill>
                <a:latin typeface="Times New Roman" panose="02020603050405020304"/>
                <a:ea typeface="Times New Roman" panose="02020603050405020304"/>
                <a:cs typeface="Times New Roman" panose="02020603050405020304"/>
              </a:rPr>
              <a:t>matching</a:t>
            </a:r>
            <a:endParaRPr sz="625" b="0">
              <a:solidFill>
                <a:srgbClr val="080967"/>
              </a:solidFill>
              <a:latin typeface="Times New Roman" panose="02020603050405020304"/>
              <a:ea typeface="Times New Roman" panose="02020603050405020304"/>
              <a:cs typeface="Times New Roman" panose="02020603050405020304"/>
            </a:endParaRPr>
          </a:p>
        </p:txBody>
      </p:sp>
      <p:sp>
        <p:nvSpPr>
          <p:cNvPr id="285" name="path-284-"/>
          <p:cNvSpPr>
            <a:spLocks noGrp="1"/>
          </p:cNvSpPr>
          <p:nvPr/>
        </p:nvSpPr>
        <p:spPr>
          <a:xfrm>
            <a:off x="5084765" y="7113874"/>
            <a:ext cx="141973" cy="67"/>
          </a:xfrm>
          <a:custGeom>
            <a:avLst/>
            <a:gdLst/>
            <a:ahLst/>
            <a:cxnLst/>
            <a:rect l="0" t="0" r="0" b="0"/>
            <a:pathLst>
              <a:path w="200025" h="95">
                <a:moveTo>
                  <a:pt x="0" y="0"/>
                </a:moveTo>
                <a:lnTo>
                  <a:pt x="200025" y="0"/>
                </a:lnTo>
              </a:path>
            </a:pathLst>
          </a:custGeom>
          <a:noFill/>
          <a:ln w="23813">
            <a:solidFill>
              <a:schemeClr val="bg2">
                <a:lumMod val="50000"/>
              </a:schemeClr>
            </a:solidFill>
            <a:prstDash val="solid"/>
          </a:ln>
        </p:spPr>
        <p:txBody>
          <a:bodyPr/>
          <a:lstStyle/>
          <a:p>
            <a:endParaRPr lang="zh-CN" altLang="en-US"/>
          </a:p>
        </p:txBody>
      </p:sp>
      <p:sp>
        <p:nvSpPr>
          <p:cNvPr id="286" name="polygon-285-"/>
          <p:cNvSpPr>
            <a:spLocks noGrp="1"/>
          </p:cNvSpPr>
          <p:nvPr/>
        </p:nvSpPr>
        <p:spPr>
          <a:xfrm>
            <a:off x="5225172" y="7075339"/>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87" name="shape-286-"/>
          <p:cNvSpPr>
            <a:spLocks noGrp="1"/>
          </p:cNvSpPr>
          <p:nvPr/>
        </p:nvSpPr>
        <p:spPr>
          <a:xfrm>
            <a:off x="5292725" y="6845542"/>
            <a:ext cx="608330" cy="532130"/>
          </a:xfrm>
          <a:prstGeom prst="roundRect">
            <a:avLst>
              <a:gd name="adj" fmla="val 7500"/>
            </a:avLst>
          </a:prstGeom>
          <a:solidFill>
            <a:srgbClr val="F5F7F8"/>
          </a:solidFill>
          <a:ln w="6668">
            <a:solidFill>
              <a:srgbClr val="CBD4DA"/>
            </a:solidFill>
            <a:prstDash val="solid"/>
          </a:ln>
        </p:spPr>
        <p:txBody>
          <a:bodyPr/>
          <a:lstStyle/>
          <a:p>
            <a:endParaRPr lang="zh-CN" altLang="en-US"/>
          </a:p>
        </p:txBody>
      </p:sp>
      <p:sp>
        <p:nvSpPr>
          <p:cNvPr id="289" name="text-288-Retry or flag&#10;for review"/>
          <p:cNvSpPr>
            <a:spLocks noGrp="1"/>
          </p:cNvSpPr>
          <p:nvPr/>
        </p:nvSpPr>
        <p:spPr>
          <a:xfrm>
            <a:off x="5307344" y="7139011"/>
            <a:ext cx="581412" cy="236621"/>
          </a:xfrm>
          <a:prstGeom prst="rect">
            <a:avLst/>
          </a:prstGeom>
          <a:noFill/>
          <a:ln w="0">
            <a:noFill/>
          </a:ln>
        </p:spPr>
        <p:txBody>
          <a:bodyPr wrap="none" lIns="0" tIns="0" rIns="0" bIns="0" anchor="ctr">
            <a:noAutofit/>
          </a:bodyPr>
          <a:lstStyle/>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Retry or flag</a:t>
            </a:r>
            <a:endParaRPr sz="745" b="0">
              <a:solidFill>
                <a:srgbClr val="080967"/>
              </a:solidFill>
              <a:latin typeface="Times New Roman" panose="02020603050405020304"/>
              <a:ea typeface="Times New Roman" panose="02020603050405020304"/>
              <a:cs typeface="Times New Roman" panose="02020603050405020304"/>
            </a:endParaRPr>
          </a:p>
          <a:p>
            <a:pPr algn="ctr">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for review</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290" name="path-289-"/>
          <p:cNvSpPr>
            <a:spLocks noGrp="1"/>
          </p:cNvSpPr>
          <p:nvPr/>
        </p:nvSpPr>
        <p:spPr>
          <a:xfrm>
            <a:off x="5591175" y="6345797"/>
            <a:ext cx="167640" cy="437515"/>
          </a:xfrm>
          <a:custGeom>
            <a:avLst/>
            <a:gdLst/>
            <a:ahLst/>
            <a:cxnLst/>
            <a:rect l="0" t="0" r="0" b="0"/>
            <a:pathLst>
              <a:path w="161925" h="676275">
                <a:moveTo>
                  <a:pt x="0" y="0"/>
                </a:moveTo>
                <a:lnTo>
                  <a:pt x="161925" y="0"/>
                </a:lnTo>
                <a:lnTo>
                  <a:pt x="161925" y="676275"/>
                </a:lnTo>
              </a:path>
            </a:pathLst>
          </a:custGeom>
          <a:noFill/>
          <a:ln w="23813">
            <a:solidFill>
              <a:schemeClr val="bg2">
                <a:lumMod val="50000"/>
              </a:schemeClr>
            </a:solidFill>
            <a:prstDash val="solid"/>
          </a:ln>
        </p:spPr>
        <p:txBody>
          <a:bodyPr/>
          <a:lstStyle/>
          <a:p>
            <a:endParaRPr lang="zh-CN" altLang="en-US"/>
          </a:p>
        </p:txBody>
      </p:sp>
      <p:sp>
        <p:nvSpPr>
          <p:cNvPr id="292" name="polygon-291-"/>
          <p:cNvSpPr>
            <a:spLocks noGrp="1"/>
          </p:cNvSpPr>
          <p:nvPr/>
        </p:nvSpPr>
        <p:spPr>
          <a:xfrm>
            <a:off x="5726215" y="6783464"/>
            <a:ext cx="77071" cy="67606"/>
          </a:xfrm>
          <a:custGeom>
            <a:avLst/>
            <a:gdLst/>
            <a:ahLst/>
            <a:cxnLst/>
            <a:rect l="0" t="0" r="0" b="0"/>
            <a:pathLst>
              <a:path w="108585" h="95250">
                <a:moveTo>
                  <a:pt x="54293" y="95250"/>
                </a:moveTo>
                <a:lnTo>
                  <a:pt x="108585" y="0"/>
                </a:lnTo>
                <a:lnTo>
                  <a:pt x="0" y="0"/>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95" name="path-294-"/>
          <p:cNvSpPr>
            <a:spLocks noGrp="1"/>
          </p:cNvSpPr>
          <p:nvPr/>
        </p:nvSpPr>
        <p:spPr>
          <a:xfrm>
            <a:off x="5914390" y="6376912"/>
            <a:ext cx="128270" cy="744855"/>
          </a:xfrm>
          <a:custGeom>
            <a:avLst/>
            <a:gdLst/>
            <a:ahLst/>
            <a:cxnLst/>
            <a:rect l="0" t="0" r="0" b="0"/>
            <a:pathLst>
              <a:path w="180975" h="1019175">
                <a:moveTo>
                  <a:pt x="0" y="1019175"/>
                </a:moveTo>
                <a:lnTo>
                  <a:pt x="57150" y="1019175"/>
                </a:lnTo>
                <a:lnTo>
                  <a:pt x="57150" y="0"/>
                </a:lnTo>
                <a:lnTo>
                  <a:pt x="180975" y="0"/>
                </a:lnTo>
              </a:path>
            </a:pathLst>
          </a:custGeom>
          <a:noFill/>
          <a:ln w="23813">
            <a:solidFill>
              <a:schemeClr val="bg2">
                <a:lumMod val="50000"/>
              </a:schemeClr>
            </a:solidFill>
            <a:prstDash val="solid"/>
          </a:ln>
        </p:spPr>
        <p:txBody>
          <a:bodyPr/>
          <a:lstStyle/>
          <a:p>
            <a:endParaRPr lang="zh-CN" altLang="en-US"/>
          </a:p>
        </p:txBody>
      </p:sp>
      <p:sp>
        <p:nvSpPr>
          <p:cNvPr id="296" name="path-295-"/>
          <p:cNvSpPr>
            <a:spLocks noGrp="1"/>
          </p:cNvSpPr>
          <p:nvPr/>
        </p:nvSpPr>
        <p:spPr>
          <a:xfrm>
            <a:off x="5968613" y="6376968"/>
            <a:ext cx="81127" cy="67"/>
          </a:xfrm>
          <a:custGeom>
            <a:avLst/>
            <a:gdLst/>
            <a:ahLst/>
            <a:cxnLst/>
            <a:rect l="0" t="0" r="0" b="0"/>
            <a:pathLst>
              <a:path w="114300" h="95">
                <a:moveTo>
                  <a:pt x="0" y="0"/>
                </a:moveTo>
                <a:lnTo>
                  <a:pt x="114300"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97" name="polygon-296-"/>
          <p:cNvSpPr>
            <a:spLocks noGrp="1"/>
          </p:cNvSpPr>
          <p:nvPr/>
        </p:nvSpPr>
        <p:spPr>
          <a:xfrm>
            <a:off x="6029760" y="6341608"/>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298" name="path-297-"/>
          <p:cNvSpPr>
            <a:spLocks noGrp="1"/>
          </p:cNvSpPr>
          <p:nvPr/>
        </p:nvSpPr>
        <p:spPr>
          <a:xfrm flipV="1">
            <a:off x="5901055" y="7045567"/>
            <a:ext cx="141605" cy="76200"/>
          </a:xfrm>
          <a:custGeom>
            <a:avLst/>
            <a:gdLst/>
            <a:ahLst/>
            <a:cxnLst/>
            <a:rect l="0" t="0" r="0" b="0"/>
            <a:pathLst>
              <a:path w="123825" h="95">
                <a:moveTo>
                  <a:pt x="0" y="0"/>
                </a:moveTo>
                <a:lnTo>
                  <a:pt x="123825" y="0"/>
                </a:lnTo>
              </a:path>
            </a:pathLst>
          </a:custGeom>
          <a:solidFill>
            <a:schemeClr val="bg2">
              <a:lumMod val="50000"/>
            </a:schemeClr>
          </a:solidFill>
          <a:ln w="23813">
            <a:solidFill>
              <a:schemeClr val="bg2">
                <a:lumMod val="50000"/>
              </a:schemeClr>
            </a:solidFill>
            <a:prstDash val="solid"/>
          </a:ln>
        </p:spPr>
        <p:txBody>
          <a:bodyPr/>
          <a:lstStyle/>
          <a:p>
            <a:endParaRPr lang="zh-CN" altLang="en-US"/>
          </a:p>
        </p:txBody>
      </p:sp>
      <p:sp>
        <p:nvSpPr>
          <p:cNvPr id="299" name="polygon-298-"/>
          <p:cNvSpPr>
            <a:spLocks noGrp="1"/>
          </p:cNvSpPr>
          <p:nvPr/>
        </p:nvSpPr>
        <p:spPr>
          <a:xfrm>
            <a:off x="6042460" y="7079979"/>
            <a:ext cx="67606" cy="77071"/>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01" name="shape-300-"/>
          <p:cNvSpPr>
            <a:spLocks noGrp="1"/>
          </p:cNvSpPr>
          <p:nvPr/>
        </p:nvSpPr>
        <p:spPr>
          <a:xfrm>
            <a:off x="76200" y="7487920"/>
            <a:ext cx="6734810" cy="254635"/>
          </a:xfrm>
          <a:prstGeom prst="roundRect">
            <a:avLst>
              <a:gd name="adj" fmla="val 11429"/>
            </a:avLst>
          </a:prstGeom>
          <a:solidFill>
            <a:schemeClr val="bg1">
              <a:lumMod val="95000"/>
            </a:schemeClr>
          </a:solidFill>
          <a:ln w="6668">
            <a:noFill/>
            <a:prstDash val="solid"/>
          </a:ln>
        </p:spPr>
        <p:txBody>
          <a:bodyPr/>
          <a:lstStyle/>
          <a:p>
            <a:endParaRPr lang="zh-CN" altLang="en-US"/>
          </a:p>
        </p:txBody>
      </p:sp>
      <p:sp>
        <p:nvSpPr>
          <p:cNvPr id="302" name="path-301-"/>
          <p:cNvSpPr>
            <a:spLocks noGrp="1"/>
          </p:cNvSpPr>
          <p:nvPr/>
        </p:nvSpPr>
        <p:spPr>
          <a:xfrm>
            <a:off x="84455" y="7737082"/>
            <a:ext cx="6702425" cy="76200"/>
          </a:xfrm>
          <a:custGeom>
            <a:avLst/>
            <a:gdLst/>
            <a:ahLst/>
            <a:cxnLst/>
            <a:rect l="0" t="0" r="0" b="0"/>
            <a:pathLst>
              <a:path w="9620250" h="95">
                <a:moveTo>
                  <a:pt x="0" y="0"/>
                </a:moveTo>
                <a:lnTo>
                  <a:pt x="9620250" y="0"/>
                </a:lnTo>
              </a:path>
            </a:pathLst>
          </a:custGeom>
          <a:noFill/>
          <a:ln w="5715">
            <a:solidFill>
              <a:srgbClr val="9AAEBB"/>
            </a:solidFill>
            <a:prstDash val="dash"/>
          </a:ln>
        </p:spPr>
        <p:txBody>
          <a:bodyPr/>
          <a:lstStyle/>
          <a:p>
            <a:endParaRPr lang="zh-CN" altLang="en-US"/>
          </a:p>
        </p:txBody>
      </p:sp>
      <p:sp>
        <p:nvSpPr>
          <p:cNvPr id="305" name="text-304-Independent human validation"/>
          <p:cNvSpPr>
            <a:spLocks noGrp="1"/>
          </p:cNvSpPr>
          <p:nvPr/>
        </p:nvSpPr>
        <p:spPr>
          <a:xfrm>
            <a:off x="361950" y="7493877"/>
            <a:ext cx="5937250" cy="222885"/>
          </a:xfrm>
          <a:prstGeom prst="rect">
            <a:avLst/>
          </a:prstGeom>
          <a:noFill/>
          <a:ln w="0">
            <a:noFill/>
          </a:ln>
        </p:spPr>
        <p:txBody>
          <a:bodyPr wrap="none" lIns="0" tIns="0" rIns="0" bIns="0" anchor="ctr">
            <a:noAutofit/>
          </a:bodyPr>
          <a:lstStyle/>
          <a:p>
            <a:pPr algn="l">
              <a:defRPr sz="1875" b="1">
                <a:solidFill>
                  <a:srgbClr val="334B5C"/>
                </a:solidFill>
                <a:latin typeface="Times New Roman" panose="02020603050405020304"/>
                <a:ea typeface="Times New Roman" panose="02020603050405020304"/>
                <a:cs typeface="Times New Roman" panose="02020603050405020304"/>
              </a:defRPr>
            </a:pPr>
            <a:r>
              <a:rPr sz="1330" b="1">
                <a:solidFill>
                  <a:srgbClr val="334B5C"/>
                </a:solidFill>
                <a:latin typeface="Times New Roman" panose="02020603050405020304"/>
                <a:ea typeface="Times New Roman" panose="02020603050405020304"/>
                <a:cs typeface="Times New Roman" panose="02020603050405020304"/>
              </a:rPr>
              <a:t>Independent human validation</a:t>
            </a:r>
            <a:endParaRPr sz="1330" b="1">
              <a:solidFill>
                <a:srgbClr val="334B5C"/>
              </a:solidFill>
              <a:latin typeface="Times New Roman" panose="02020603050405020304"/>
              <a:ea typeface="Times New Roman" panose="02020603050405020304"/>
              <a:cs typeface="Times New Roman" panose="02020603050405020304"/>
            </a:endParaRPr>
          </a:p>
        </p:txBody>
      </p:sp>
      <p:sp>
        <p:nvSpPr>
          <p:cNvPr id="308" name="shape-307-"/>
          <p:cNvSpPr>
            <a:spLocks noGrp="1"/>
          </p:cNvSpPr>
          <p:nvPr/>
        </p:nvSpPr>
        <p:spPr>
          <a:xfrm>
            <a:off x="114300" y="7784707"/>
            <a:ext cx="1416050" cy="919480"/>
          </a:xfrm>
          <a:prstGeom prst="roundRect">
            <a:avLst>
              <a:gd name="adj" fmla="val 4412"/>
            </a:avLst>
          </a:prstGeom>
          <a:solidFill>
            <a:srgbClr val="FFFFFF"/>
          </a:solidFill>
          <a:ln w="6668">
            <a:solidFill>
              <a:srgbClr val="CBD4DA"/>
            </a:solidFill>
            <a:prstDash val="solid"/>
          </a:ln>
        </p:spPr>
        <p:txBody>
          <a:bodyPr/>
          <a:lstStyle/>
          <a:p>
            <a:endParaRPr lang="zh-CN" altLang="en-US"/>
          </a:p>
        </p:txBody>
      </p:sp>
      <p:sp>
        <p:nvSpPr>
          <p:cNvPr id="309" name="text-308-Original project texts"/>
          <p:cNvSpPr>
            <a:spLocks noGrp="1"/>
          </p:cNvSpPr>
          <p:nvPr/>
        </p:nvSpPr>
        <p:spPr>
          <a:xfrm>
            <a:off x="146685" y="7784707"/>
            <a:ext cx="1351280" cy="148590"/>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Original project texts</a:t>
            </a:r>
            <a:endParaRPr sz="855" b="1">
              <a:solidFill>
                <a:srgbClr val="334B5C"/>
              </a:solidFill>
              <a:latin typeface="Times New Roman" panose="02020603050405020304"/>
              <a:ea typeface="Times New Roman" panose="02020603050405020304"/>
              <a:cs typeface="Times New Roman" panose="02020603050405020304"/>
            </a:endParaRPr>
          </a:p>
        </p:txBody>
      </p:sp>
      <p:sp>
        <p:nvSpPr>
          <p:cNvPr id="312" name="text-311-600 NSF + 600 NSFC&#10;projects"/>
          <p:cNvSpPr>
            <a:spLocks noGrp="1"/>
          </p:cNvSpPr>
          <p:nvPr/>
        </p:nvSpPr>
        <p:spPr>
          <a:xfrm>
            <a:off x="622935" y="8252702"/>
            <a:ext cx="816610" cy="270510"/>
          </a:xfrm>
          <a:prstGeom prst="rect">
            <a:avLst/>
          </a:prstGeom>
          <a:noFill/>
          <a:ln w="0">
            <a:noFill/>
          </a:ln>
        </p:spPr>
        <p:txBody>
          <a:bodyPr wrap="none" lIns="0" tIns="0" rIns="0" bIns="0" anchor="ctr">
            <a:noAutofit/>
          </a:bodyPr>
          <a:lstStyle/>
          <a:p>
            <a:pPr algn="ctr">
              <a:defRPr sz="1030" b="0">
                <a:solidFill>
                  <a:srgbClr val="080967"/>
                </a:solidFill>
                <a:latin typeface="Times New Roman" panose="02020603050405020304"/>
                <a:ea typeface="Times New Roman" panose="02020603050405020304"/>
                <a:cs typeface="Times New Roman" panose="02020603050405020304"/>
              </a:defRPr>
            </a:pPr>
            <a:r>
              <a:rPr sz="735" b="0">
                <a:solidFill>
                  <a:srgbClr val="080967"/>
                </a:solidFill>
                <a:latin typeface="Times New Roman" panose="02020603050405020304"/>
                <a:ea typeface="Times New Roman" panose="02020603050405020304"/>
                <a:cs typeface="Times New Roman" panose="02020603050405020304"/>
              </a:rPr>
              <a:t>600 NSF + 600 NSFC</a:t>
            </a:r>
            <a:endParaRPr sz="735" b="0">
              <a:solidFill>
                <a:srgbClr val="080967"/>
              </a:solidFill>
              <a:latin typeface="Times New Roman" panose="02020603050405020304"/>
              <a:ea typeface="Times New Roman" panose="02020603050405020304"/>
              <a:cs typeface="Times New Roman" panose="02020603050405020304"/>
            </a:endParaRPr>
          </a:p>
          <a:p>
            <a:pPr algn="ctr">
              <a:defRPr sz="1030" b="0">
                <a:solidFill>
                  <a:srgbClr val="080967"/>
                </a:solidFill>
                <a:latin typeface="Times New Roman" panose="02020603050405020304"/>
                <a:ea typeface="Times New Roman" panose="02020603050405020304"/>
                <a:cs typeface="Times New Roman" panose="02020603050405020304"/>
              </a:defRPr>
            </a:pPr>
            <a:r>
              <a:rPr sz="735" b="0">
                <a:solidFill>
                  <a:srgbClr val="080967"/>
                </a:solidFill>
                <a:latin typeface="Times New Roman" panose="02020603050405020304"/>
                <a:ea typeface="Times New Roman" panose="02020603050405020304"/>
                <a:cs typeface="Times New Roman" panose="02020603050405020304"/>
              </a:rPr>
              <a:t>projects</a:t>
            </a:r>
            <a:endParaRPr sz="735" b="0">
              <a:solidFill>
                <a:srgbClr val="080967"/>
              </a:solidFill>
              <a:latin typeface="Times New Roman" panose="02020603050405020304"/>
              <a:ea typeface="Times New Roman" panose="02020603050405020304"/>
              <a:cs typeface="Times New Roman" panose="02020603050405020304"/>
            </a:endParaRPr>
          </a:p>
        </p:txBody>
      </p:sp>
      <p:sp>
        <p:nvSpPr>
          <p:cNvPr id="313" name="path-312-"/>
          <p:cNvSpPr>
            <a:spLocks noGrp="1"/>
          </p:cNvSpPr>
          <p:nvPr/>
        </p:nvSpPr>
        <p:spPr>
          <a:xfrm>
            <a:off x="1530985" y="8170152"/>
            <a:ext cx="193040" cy="82550"/>
          </a:xfrm>
          <a:custGeom>
            <a:avLst/>
            <a:gdLst/>
            <a:ahLst/>
            <a:cxnLst/>
            <a:rect l="0" t="0" r="0" b="0"/>
            <a:pathLst>
              <a:path w="190500" h="95">
                <a:moveTo>
                  <a:pt x="0" y="0"/>
                </a:moveTo>
                <a:lnTo>
                  <a:pt x="190500" y="0"/>
                </a:lnTo>
              </a:path>
            </a:pathLst>
          </a:custGeom>
          <a:noFill/>
          <a:ln w="23813">
            <a:solidFill>
              <a:schemeClr val="bg2">
                <a:lumMod val="50000"/>
              </a:schemeClr>
            </a:solidFill>
            <a:prstDash val="solid"/>
          </a:ln>
        </p:spPr>
        <p:txBody>
          <a:bodyPr/>
          <a:lstStyle/>
          <a:p>
            <a:endParaRPr lang="zh-CN" altLang="en-US"/>
          </a:p>
        </p:txBody>
      </p:sp>
      <p:sp>
        <p:nvSpPr>
          <p:cNvPr id="314" name="polygon-313-"/>
          <p:cNvSpPr>
            <a:spLocks noGrp="1"/>
          </p:cNvSpPr>
          <p:nvPr/>
        </p:nvSpPr>
        <p:spPr>
          <a:xfrm>
            <a:off x="1710690" y="8133957"/>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15" name="shape-314-"/>
          <p:cNvSpPr>
            <a:spLocks noGrp="1"/>
          </p:cNvSpPr>
          <p:nvPr/>
        </p:nvSpPr>
        <p:spPr>
          <a:xfrm>
            <a:off x="1781175" y="7777722"/>
            <a:ext cx="1624965" cy="892175"/>
          </a:xfrm>
          <a:prstGeom prst="roundRect">
            <a:avLst>
              <a:gd name="adj" fmla="val 4545"/>
            </a:avLst>
          </a:prstGeom>
          <a:solidFill>
            <a:srgbClr val="FFFFFF"/>
          </a:solidFill>
          <a:ln w="6668">
            <a:solidFill>
              <a:srgbClr val="CBD4DA"/>
            </a:solidFill>
            <a:prstDash val="solid"/>
          </a:ln>
        </p:spPr>
        <p:txBody>
          <a:bodyPr/>
          <a:lstStyle/>
          <a:p>
            <a:endParaRPr lang="zh-CN" altLang="en-US"/>
          </a:p>
        </p:txBody>
      </p:sp>
      <p:sp>
        <p:nvSpPr>
          <p:cNvPr id="316" name="text-315-Independent blinded annotation"/>
          <p:cNvSpPr>
            <a:spLocks noGrp="1"/>
          </p:cNvSpPr>
          <p:nvPr/>
        </p:nvSpPr>
        <p:spPr>
          <a:xfrm>
            <a:off x="1820545" y="7784707"/>
            <a:ext cx="1546225" cy="155575"/>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Independent blinded annotation</a:t>
            </a:r>
            <a:endParaRPr sz="855" b="1">
              <a:solidFill>
                <a:srgbClr val="334B5C"/>
              </a:solidFill>
              <a:latin typeface="Times New Roman" panose="02020603050405020304"/>
              <a:ea typeface="Times New Roman" panose="02020603050405020304"/>
              <a:cs typeface="Times New Roman" panose="02020603050405020304"/>
            </a:endParaRPr>
          </a:p>
        </p:txBody>
      </p:sp>
      <p:sp>
        <p:nvSpPr>
          <p:cNvPr id="318" name="text-317-Three independent annotators&#10;(no access to model predictions)"/>
          <p:cNvSpPr>
            <a:spLocks noGrp="1"/>
          </p:cNvSpPr>
          <p:nvPr/>
        </p:nvSpPr>
        <p:spPr>
          <a:xfrm>
            <a:off x="1833245" y="8365732"/>
            <a:ext cx="1513840" cy="277495"/>
          </a:xfrm>
          <a:prstGeom prst="rect">
            <a:avLst/>
          </a:prstGeom>
          <a:noFill/>
          <a:ln w="0">
            <a:noFill/>
          </a:ln>
        </p:spPr>
        <p:txBody>
          <a:bodyPr wrap="none" lIns="0" tIns="0" rIns="0" bIns="0" anchor="ctr">
            <a:noAutofit/>
          </a:bodyPr>
          <a:lstStyle/>
          <a:p>
            <a:pPr algn="ctr">
              <a:defRPr sz="1090" b="0">
                <a:solidFill>
                  <a:srgbClr val="080967"/>
                </a:solidFill>
                <a:latin typeface="Times New Roman" panose="02020603050405020304"/>
                <a:ea typeface="Times New Roman" panose="02020603050405020304"/>
                <a:cs typeface="Times New Roman" panose="02020603050405020304"/>
              </a:defRPr>
            </a:pPr>
            <a:r>
              <a:rPr sz="775" b="0" dirty="0">
                <a:solidFill>
                  <a:srgbClr val="080967"/>
                </a:solidFill>
                <a:latin typeface="Times New Roman" panose="02020603050405020304"/>
                <a:ea typeface="Times New Roman" panose="02020603050405020304"/>
                <a:cs typeface="Times New Roman" panose="02020603050405020304"/>
              </a:rPr>
              <a:t>Three independent annotators</a:t>
            </a:r>
            <a:endParaRPr sz="775" b="0" dirty="0">
              <a:solidFill>
                <a:srgbClr val="080967"/>
              </a:solidFill>
              <a:latin typeface="Times New Roman" panose="02020603050405020304"/>
              <a:ea typeface="Times New Roman" panose="02020603050405020304"/>
              <a:cs typeface="Times New Roman" panose="02020603050405020304"/>
            </a:endParaRPr>
          </a:p>
        </p:txBody>
      </p:sp>
      <p:sp>
        <p:nvSpPr>
          <p:cNvPr id="319" name="path-318-"/>
          <p:cNvSpPr>
            <a:spLocks noGrp="1"/>
          </p:cNvSpPr>
          <p:nvPr/>
        </p:nvSpPr>
        <p:spPr>
          <a:xfrm>
            <a:off x="3413760" y="8161262"/>
            <a:ext cx="135890" cy="76200"/>
          </a:xfrm>
          <a:custGeom>
            <a:avLst/>
            <a:gdLst/>
            <a:ahLst/>
            <a:cxnLst/>
            <a:rect l="0" t="0" r="0" b="0"/>
            <a:pathLst>
              <a:path w="180975" h="95">
                <a:moveTo>
                  <a:pt x="0" y="0"/>
                </a:moveTo>
                <a:lnTo>
                  <a:pt x="180975" y="0"/>
                </a:lnTo>
              </a:path>
            </a:pathLst>
          </a:custGeom>
          <a:noFill/>
          <a:ln w="23813">
            <a:solidFill>
              <a:schemeClr val="bg2">
                <a:lumMod val="50000"/>
              </a:schemeClr>
            </a:solidFill>
            <a:prstDash val="solid"/>
          </a:ln>
        </p:spPr>
        <p:txBody>
          <a:bodyPr/>
          <a:lstStyle/>
          <a:p>
            <a:endParaRPr lang="zh-CN" altLang="en-US"/>
          </a:p>
        </p:txBody>
      </p:sp>
      <p:sp>
        <p:nvSpPr>
          <p:cNvPr id="320" name="polygon-319-"/>
          <p:cNvSpPr>
            <a:spLocks noGrp="1"/>
          </p:cNvSpPr>
          <p:nvPr/>
        </p:nvSpPr>
        <p:spPr>
          <a:xfrm>
            <a:off x="3547745" y="8119352"/>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21" name="shape-320-"/>
          <p:cNvSpPr>
            <a:spLocks noGrp="1"/>
          </p:cNvSpPr>
          <p:nvPr/>
        </p:nvSpPr>
        <p:spPr>
          <a:xfrm>
            <a:off x="3627120" y="7825347"/>
            <a:ext cx="1252855" cy="446405"/>
          </a:xfrm>
          <a:prstGeom prst="roundRect">
            <a:avLst>
              <a:gd name="adj" fmla="val 9091"/>
            </a:avLst>
          </a:prstGeom>
          <a:solidFill>
            <a:srgbClr val="FFFFFF"/>
          </a:solidFill>
          <a:ln w="6668">
            <a:solidFill>
              <a:srgbClr val="CBD4DA"/>
            </a:solidFill>
            <a:prstDash val="solid"/>
          </a:ln>
        </p:spPr>
        <p:txBody>
          <a:bodyPr/>
          <a:lstStyle/>
          <a:p>
            <a:endParaRPr lang="zh-CN" altLang="en-US"/>
          </a:p>
        </p:txBody>
      </p:sp>
      <p:sp>
        <p:nvSpPr>
          <p:cNvPr id="323" name="text-322-Majority-vote&#10;consensus"/>
          <p:cNvSpPr>
            <a:spLocks noGrp="1"/>
          </p:cNvSpPr>
          <p:nvPr/>
        </p:nvSpPr>
        <p:spPr>
          <a:xfrm>
            <a:off x="4137660" y="7936472"/>
            <a:ext cx="646430" cy="277495"/>
          </a:xfrm>
          <a:prstGeom prst="rect">
            <a:avLst/>
          </a:prstGeom>
          <a:noFill/>
          <a:ln w="0">
            <a:noFill/>
          </a:ln>
        </p:spPr>
        <p:txBody>
          <a:bodyPr wrap="none" lIns="0" tIns="0" rIns="0" bIns="0" anchor="ctr">
            <a:noAutofit/>
          </a:bodyPr>
          <a:lstStyle/>
          <a:p>
            <a:pPr algn="ctr">
              <a:defRPr sz="1210" b="1">
                <a:solidFill>
                  <a:srgbClr val="080967"/>
                </a:solidFill>
                <a:latin typeface="Times New Roman" panose="02020603050405020304"/>
                <a:ea typeface="Times New Roman" panose="02020603050405020304"/>
                <a:cs typeface="Times New Roman" panose="02020603050405020304"/>
              </a:defRPr>
            </a:pPr>
            <a:r>
              <a:rPr sz="860" b="1">
                <a:solidFill>
                  <a:srgbClr val="080967"/>
                </a:solidFill>
                <a:latin typeface="Times New Roman" panose="02020603050405020304"/>
                <a:ea typeface="Times New Roman" panose="02020603050405020304"/>
                <a:cs typeface="Times New Roman" panose="02020603050405020304"/>
              </a:rPr>
              <a:t>Majority-vote</a:t>
            </a:r>
            <a:endParaRPr sz="860" b="1">
              <a:solidFill>
                <a:srgbClr val="080967"/>
              </a:solidFill>
              <a:latin typeface="Times New Roman" panose="02020603050405020304"/>
              <a:ea typeface="Times New Roman" panose="02020603050405020304"/>
              <a:cs typeface="Times New Roman" panose="02020603050405020304"/>
            </a:endParaRPr>
          </a:p>
          <a:p>
            <a:pPr algn="ctr">
              <a:defRPr sz="1210" b="1">
                <a:solidFill>
                  <a:srgbClr val="080967"/>
                </a:solidFill>
                <a:latin typeface="Times New Roman" panose="02020603050405020304"/>
                <a:ea typeface="Times New Roman" panose="02020603050405020304"/>
                <a:cs typeface="Times New Roman" panose="02020603050405020304"/>
              </a:defRPr>
            </a:pPr>
            <a:r>
              <a:rPr sz="860" b="1">
                <a:solidFill>
                  <a:srgbClr val="080967"/>
                </a:solidFill>
                <a:latin typeface="Times New Roman" panose="02020603050405020304"/>
                <a:ea typeface="Times New Roman" panose="02020603050405020304"/>
                <a:cs typeface="Times New Roman" panose="02020603050405020304"/>
              </a:rPr>
              <a:t>consensus</a:t>
            </a:r>
            <a:endParaRPr sz="860" b="1">
              <a:solidFill>
                <a:srgbClr val="080967"/>
              </a:solidFill>
              <a:latin typeface="Times New Roman" panose="02020603050405020304"/>
              <a:ea typeface="Times New Roman" panose="02020603050405020304"/>
              <a:cs typeface="Times New Roman" panose="02020603050405020304"/>
            </a:endParaRPr>
          </a:p>
        </p:txBody>
      </p:sp>
      <p:sp>
        <p:nvSpPr>
          <p:cNvPr id="324" name="shape-323-"/>
          <p:cNvSpPr>
            <a:spLocks noGrp="1"/>
          </p:cNvSpPr>
          <p:nvPr/>
        </p:nvSpPr>
        <p:spPr>
          <a:xfrm>
            <a:off x="3625850" y="8339062"/>
            <a:ext cx="1181100" cy="331470"/>
          </a:xfrm>
          <a:prstGeom prst="roundRect">
            <a:avLst>
              <a:gd name="adj" fmla="val 12245"/>
            </a:avLst>
          </a:prstGeom>
          <a:solidFill>
            <a:srgbClr val="F5F7F8"/>
          </a:solidFill>
          <a:ln w="6668">
            <a:solidFill>
              <a:srgbClr val="CBD4DA"/>
            </a:solidFill>
            <a:prstDash val="solid"/>
          </a:ln>
        </p:spPr>
        <p:txBody>
          <a:bodyPr/>
          <a:lstStyle/>
          <a:p>
            <a:endParaRPr lang="zh-CN" altLang="en-US"/>
          </a:p>
        </p:txBody>
      </p:sp>
      <p:sp>
        <p:nvSpPr>
          <p:cNvPr id="325" name="polygon-324-"/>
          <p:cNvSpPr>
            <a:spLocks noGrp="1"/>
          </p:cNvSpPr>
          <p:nvPr/>
        </p:nvSpPr>
        <p:spPr>
          <a:xfrm>
            <a:off x="3682365" y="8379067"/>
            <a:ext cx="163830" cy="229870"/>
          </a:xfrm>
          <a:custGeom>
            <a:avLst/>
            <a:gdLst/>
            <a:ahLst/>
            <a:cxnLst/>
            <a:rect l="0" t="0" r="0" b="0"/>
            <a:pathLst>
              <a:path w="238125" h="323850">
                <a:moveTo>
                  <a:pt x="0" y="0"/>
                </a:moveTo>
                <a:lnTo>
                  <a:pt x="152400" y="0"/>
                </a:lnTo>
                <a:lnTo>
                  <a:pt x="238125" y="85725"/>
                </a:lnTo>
                <a:lnTo>
                  <a:pt x="238125" y="323850"/>
                </a:lnTo>
                <a:lnTo>
                  <a:pt x="0" y="323850"/>
                </a:lnTo>
                <a:lnTo>
                  <a:pt x="0" y="0"/>
                </a:lnTo>
                <a:close/>
              </a:path>
            </a:pathLst>
          </a:custGeom>
          <a:solidFill>
            <a:srgbClr val="FFFFFF"/>
          </a:solidFill>
          <a:ln w="21908">
            <a:solidFill>
              <a:srgbClr val="0076D9"/>
            </a:solidFill>
            <a:prstDash val="solid"/>
          </a:ln>
        </p:spPr>
        <p:txBody>
          <a:bodyPr/>
          <a:lstStyle/>
          <a:p>
            <a:endParaRPr lang="zh-CN" altLang="en-US"/>
          </a:p>
        </p:txBody>
      </p:sp>
      <p:sp>
        <p:nvSpPr>
          <p:cNvPr id="326" name="path-325-"/>
          <p:cNvSpPr>
            <a:spLocks noGrp="1"/>
          </p:cNvSpPr>
          <p:nvPr/>
        </p:nvSpPr>
        <p:spPr>
          <a:xfrm>
            <a:off x="3769995" y="8379067"/>
            <a:ext cx="76200" cy="76200"/>
          </a:xfrm>
          <a:custGeom>
            <a:avLst/>
            <a:gdLst/>
            <a:ahLst/>
            <a:cxnLst/>
            <a:rect l="0" t="0" r="0" b="0"/>
            <a:pathLst>
              <a:path w="85725" h="85725">
                <a:moveTo>
                  <a:pt x="0" y="0"/>
                </a:moveTo>
                <a:lnTo>
                  <a:pt x="0" y="85725"/>
                </a:lnTo>
                <a:lnTo>
                  <a:pt x="85725" y="85725"/>
                </a:lnTo>
              </a:path>
            </a:pathLst>
          </a:custGeom>
          <a:noFill/>
          <a:ln w="15240">
            <a:solidFill>
              <a:srgbClr val="0076D9"/>
            </a:solidFill>
            <a:prstDash val="solid"/>
          </a:ln>
        </p:spPr>
        <p:txBody>
          <a:bodyPr/>
          <a:lstStyle/>
          <a:p>
            <a:endParaRPr lang="zh-CN" altLang="en-US"/>
          </a:p>
        </p:txBody>
      </p:sp>
      <p:sp>
        <p:nvSpPr>
          <p:cNvPr id="328" name="path-327-"/>
          <p:cNvSpPr>
            <a:spLocks noGrp="1"/>
          </p:cNvSpPr>
          <p:nvPr/>
        </p:nvSpPr>
        <p:spPr>
          <a:xfrm>
            <a:off x="3721100" y="8500987"/>
            <a:ext cx="85090" cy="76200"/>
          </a:xfrm>
          <a:custGeom>
            <a:avLst/>
            <a:gdLst/>
            <a:ahLst/>
            <a:cxnLst/>
            <a:rect l="0" t="0" r="0" b="0"/>
            <a:pathLst>
              <a:path w="123825" h="95">
                <a:moveTo>
                  <a:pt x="0" y="0"/>
                </a:moveTo>
                <a:lnTo>
                  <a:pt x="123825" y="0"/>
                </a:lnTo>
              </a:path>
            </a:pathLst>
          </a:custGeom>
          <a:noFill/>
          <a:ln w="17145">
            <a:solidFill>
              <a:srgbClr val="0076D9"/>
            </a:solidFill>
            <a:prstDash val="solid"/>
          </a:ln>
        </p:spPr>
        <p:txBody>
          <a:bodyPr/>
          <a:lstStyle/>
          <a:p>
            <a:endParaRPr lang="zh-CN" altLang="en-US"/>
          </a:p>
        </p:txBody>
      </p:sp>
      <p:sp>
        <p:nvSpPr>
          <p:cNvPr id="329" name="path-328-"/>
          <p:cNvSpPr>
            <a:spLocks noGrp="1"/>
          </p:cNvSpPr>
          <p:nvPr/>
        </p:nvSpPr>
        <p:spPr>
          <a:xfrm>
            <a:off x="3721100" y="8541627"/>
            <a:ext cx="85090" cy="76200"/>
          </a:xfrm>
          <a:custGeom>
            <a:avLst/>
            <a:gdLst/>
            <a:ahLst/>
            <a:cxnLst/>
            <a:rect l="0" t="0" r="0" b="0"/>
            <a:pathLst>
              <a:path w="123825" h="95">
                <a:moveTo>
                  <a:pt x="0" y="0"/>
                </a:moveTo>
                <a:lnTo>
                  <a:pt x="123825" y="0"/>
                </a:lnTo>
              </a:path>
            </a:pathLst>
          </a:custGeom>
          <a:noFill/>
          <a:ln w="17145">
            <a:solidFill>
              <a:srgbClr val="0076D9"/>
            </a:solidFill>
            <a:prstDash val="solid"/>
          </a:ln>
        </p:spPr>
        <p:txBody>
          <a:bodyPr/>
          <a:lstStyle/>
          <a:p>
            <a:endParaRPr lang="zh-CN" altLang="en-US"/>
          </a:p>
        </p:txBody>
      </p:sp>
      <p:sp>
        <p:nvSpPr>
          <p:cNvPr id="330" name="text-329-Corresponding LLM labels"/>
          <p:cNvSpPr>
            <a:spLocks noGrp="1"/>
          </p:cNvSpPr>
          <p:nvPr/>
        </p:nvSpPr>
        <p:spPr>
          <a:xfrm>
            <a:off x="3880485" y="8419707"/>
            <a:ext cx="855345" cy="182245"/>
          </a:xfrm>
          <a:prstGeom prst="rect">
            <a:avLst/>
          </a:prstGeom>
          <a:noFill/>
          <a:ln w="0">
            <a:noFill/>
          </a:ln>
        </p:spPr>
        <p:txBody>
          <a:bodyPr wrap="none" lIns="0" tIns="0" rIns="0" bIns="0" anchor="ctr">
            <a:noAutofit/>
          </a:bodyPr>
          <a:lstStyle/>
          <a:p>
            <a:pPr algn="l">
              <a:defRPr sz="880" b="0">
                <a:solidFill>
                  <a:srgbClr val="080967"/>
                </a:solidFill>
                <a:latin typeface="Times New Roman" panose="02020603050405020304"/>
                <a:ea typeface="Times New Roman" panose="02020603050405020304"/>
                <a:cs typeface="Times New Roman" panose="02020603050405020304"/>
              </a:defRPr>
            </a:pPr>
            <a:r>
              <a:rPr sz="625" b="0">
                <a:solidFill>
                  <a:srgbClr val="080967"/>
                </a:solidFill>
                <a:latin typeface="Times New Roman" panose="02020603050405020304"/>
                <a:ea typeface="Times New Roman" panose="02020603050405020304"/>
                <a:cs typeface="Times New Roman" panose="02020603050405020304"/>
              </a:rPr>
              <a:t>Corresponding LLM labels</a:t>
            </a:r>
            <a:endParaRPr sz="625" b="0">
              <a:solidFill>
                <a:srgbClr val="080967"/>
              </a:solidFill>
              <a:latin typeface="Times New Roman" panose="02020603050405020304"/>
              <a:ea typeface="Times New Roman" panose="02020603050405020304"/>
              <a:cs typeface="Times New Roman" panose="02020603050405020304"/>
            </a:endParaRPr>
          </a:p>
        </p:txBody>
      </p:sp>
      <p:sp>
        <p:nvSpPr>
          <p:cNvPr id="334" name="path-333-"/>
          <p:cNvSpPr>
            <a:spLocks noGrp="1"/>
          </p:cNvSpPr>
          <p:nvPr/>
        </p:nvSpPr>
        <p:spPr>
          <a:xfrm>
            <a:off x="4889500" y="8093952"/>
            <a:ext cx="118110" cy="76200"/>
          </a:xfrm>
          <a:custGeom>
            <a:avLst/>
            <a:gdLst/>
            <a:ahLst/>
            <a:cxnLst/>
            <a:rect l="0" t="0" r="0" b="0"/>
            <a:pathLst>
              <a:path w="171450" h="95">
                <a:moveTo>
                  <a:pt x="0" y="0"/>
                </a:moveTo>
                <a:lnTo>
                  <a:pt x="171450" y="0"/>
                </a:lnTo>
              </a:path>
            </a:pathLst>
          </a:custGeom>
          <a:noFill/>
          <a:ln w="23813">
            <a:solidFill>
              <a:schemeClr val="bg2">
                <a:lumMod val="50000"/>
              </a:schemeClr>
            </a:solidFill>
            <a:prstDash val="solid"/>
          </a:ln>
        </p:spPr>
        <p:txBody>
          <a:bodyPr/>
          <a:lstStyle/>
          <a:p>
            <a:endParaRPr lang="zh-CN" altLang="en-US"/>
          </a:p>
        </p:txBody>
      </p:sp>
      <p:sp>
        <p:nvSpPr>
          <p:cNvPr id="335" name="polygon-334-"/>
          <p:cNvSpPr>
            <a:spLocks noGrp="1"/>
          </p:cNvSpPr>
          <p:nvPr/>
        </p:nvSpPr>
        <p:spPr>
          <a:xfrm>
            <a:off x="4991100" y="8057122"/>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sp>
        <p:nvSpPr>
          <p:cNvPr id="336" name="shape-335-"/>
          <p:cNvSpPr>
            <a:spLocks noGrp="1"/>
          </p:cNvSpPr>
          <p:nvPr/>
        </p:nvSpPr>
        <p:spPr>
          <a:xfrm>
            <a:off x="5069840" y="7764387"/>
            <a:ext cx="1689735" cy="946785"/>
          </a:xfrm>
          <a:prstGeom prst="roundRect">
            <a:avLst>
              <a:gd name="adj" fmla="val 4286"/>
            </a:avLst>
          </a:prstGeom>
          <a:solidFill>
            <a:srgbClr val="FFFFFF"/>
          </a:solidFill>
          <a:ln w="6668">
            <a:solidFill>
              <a:srgbClr val="CBD4DA"/>
            </a:solidFill>
            <a:prstDash val="solid"/>
          </a:ln>
        </p:spPr>
        <p:txBody>
          <a:bodyPr/>
          <a:lstStyle/>
          <a:p>
            <a:endParaRPr lang="zh-CN" altLang="en-US"/>
          </a:p>
        </p:txBody>
      </p:sp>
      <p:sp>
        <p:nvSpPr>
          <p:cNvPr id="337" name="text-336-Comparison and evaluation"/>
          <p:cNvSpPr>
            <a:spLocks noGrp="1"/>
          </p:cNvSpPr>
          <p:nvPr/>
        </p:nvSpPr>
        <p:spPr>
          <a:xfrm>
            <a:off x="5154295" y="7777722"/>
            <a:ext cx="1598930" cy="162560"/>
          </a:xfrm>
          <a:prstGeom prst="rect">
            <a:avLst/>
          </a:prstGeom>
          <a:noFill/>
          <a:ln w="0">
            <a:noFill/>
          </a:ln>
        </p:spPr>
        <p:txBody>
          <a:bodyPr wrap="none" lIns="0" tIns="0" rIns="0" bIns="0" anchor="ctr">
            <a:noAutofit/>
          </a:bodyPr>
          <a:lstStyle/>
          <a:p>
            <a:pPr algn="ctr">
              <a:defRPr sz="1200" b="1">
                <a:solidFill>
                  <a:srgbClr val="334B5C"/>
                </a:solidFill>
                <a:latin typeface="Times New Roman" panose="02020603050405020304"/>
                <a:ea typeface="Times New Roman" panose="02020603050405020304"/>
                <a:cs typeface="Times New Roman" panose="02020603050405020304"/>
              </a:defRPr>
            </a:pPr>
            <a:r>
              <a:rPr sz="855" b="1">
                <a:solidFill>
                  <a:srgbClr val="334B5C"/>
                </a:solidFill>
                <a:latin typeface="Times New Roman" panose="02020603050405020304"/>
                <a:ea typeface="Times New Roman" panose="02020603050405020304"/>
                <a:cs typeface="Times New Roman" panose="02020603050405020304"/>
              </a:rPr>
              <a:t>Comparison and evaluation</a:t>
            </a:r>
            <a:endParaRPr sz="855" b="1">
              <a:solidFill>
                <a:srgbClr val="334B5C"/>
              </a:solidFill>
              <a:latin typeface="Times New Roman" panose="02020603050405020304"/>
              <a:ea typeface="Times New Roman" panose="02020603050405020304"/>
              <a:cs typeface="Times New Roman" panose="02020603050405020304"/>
            </a:endParaRPr>
          </a:p>
        </p:txBody>
      </p:sp>
      <p:sp>
        <p:nvSpPr>
          <p:cNvPr id="338" name="shape-337-"/>
          <p:cNvSpPr>
            <a:spLocks noGrp="1"/>
          </p:cNvSpPr>
          <p:nvPr/>
        </p:nvSpPr>
        <p:spPr>
          <a:xfrm>
            <a:off x="5173980" y="7966952"/>
            <a:ext cx="1491615" cy="696595"/>
          </a:xfrm>
          <a:prstGeom prst="roundRect">
            <a:avLst>
              <a:gd name="adj" fmla="val 5825"/>
            </a:avLst>
          </a:prstGeom>
          <a:solidFill>
            <a:srgbClr val="F5F7F8"/>
          </a:solidFill>
          <a:ln w="6668">
            <a:solidFill>
              <a:srgbClr val="CBD4DA"/>
            </a:solidFill>
            <a:prstDash val="solid"/>
          </a:ln>
        </p:spPr>
        <p:txBody>
          <a:bodyPr/>
          <a:lstStyle/>
          <a:p>
            <a:endParaRPr lang="zh-CN" altLang="en-US"/>
          </a:p>
        </p:txBody>
      </p:sp>
      <p:sp>
        <p:nvSpPr>
          <p:cNvPr id="345" name="text-344-LLM-consensus agreement"/>
          <p:cNvSpPr>
            <a:spLocks noGrp="1"/>
          </p:cNvSpPr>
          <p:nvPr/>
        </p:nvSpPr>
        <p:spPr>
          <a:xfrm>
            <a:off x="5514975" y="8013942"/>
            <a:ext cx="1076960" cy="182245"/>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LLM-consensus agreement</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346" name="text-345-Variable-level performance"/>
          <p:cNvSpPr>
            <a:spLocks noGrp="1"/>
          </p:cNvSpPr>
          <p:nvPr/>
        </p:nvSpPr>
        <p:spPr>
          <a:xfrm>
            <a:off x="5511165" y="8217142"/>
            <a:ext cx="1076960" cy="168910"/>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Variable-level performance</a:t>
            </a:r>
            <a:endParaRPr sz="745" b="0">
              <a:solidFill>
                <a:srgbClr val="080967"/>
              </a:solidFill>
              <a:latin typeface="Times New Roman" panose="02020603050405020304"/>
              <a:ea typeface="Times New Roman" panose="02020603050405020304"/>
              <a:cs typeface="Times New Roman" panose="02020603050405020304"/>
            </a:endParaRPr>
          </a:p>
        </p:txBody>
      </p:sp>
      <p:sp>
        <p:nvSpPr>
          <p:cNvPr id="348" name="text-347-Inter-annotator agreement"/>
          <p:cNvSpPr>
            <a:spLocks noGrp="1"/>
          </p:cNvSpPr>
          <p:nvPr/>
        </p:nvSpPr>
        <p:spPr>
          <a:xfrm>
            <a:off x="5524500" y="8441932"/>
            <a:ext cx="1076960" cy="175895"/>
          </a:xfrm>
          <a:prstGeom prst="rect">
            <a:avLst/>
          </a:prstGeom>
          <a:noFill/>
          <a:ln w="0">
            <a:noFill/>
          </a:ln>
        </p:spPr>
        <p:txBody>
          <a:bodyPr wrap="none" lIns="0" tIns="0" rIns="0" bIns="0" anchor="ctr">
            <a:noAutofit/>
          </a:bodyPr>
          <a:lstStyle/>
          <a:p>
            <a:pPr algn="l">
              <a:defRPr sz="1050" b="0">
                <a:solidFill>
                  <a:srgbClr val="080967"/>
                </a:solidFill>
                <a:latin typeface="Times New Roman" panose="02020603050405020304"/>
                <a:ea typeface="Times New Roman" panose="02020603050405020304"/>
                <a:cs typeface="Times New Roman" panose="02020603050405020304"/>
              </a:defRPr>
            </a:pPr>
            <a:r>
              <a:rPr sz="745" b="0">
                <a:solidFill>
                  <a:srgbClr val="080967"/>
                </a:solidFill>
                <a:latin typeface="Times New Roman" panose="02020603050405020304"/>
                <a:ea typeface="Times New Roman" panose="02020603050405020304"/>
                <a:cs typeface="Times New Roman" panose="02020603050405020304"/>
              </a:rPr>
              <a:t>Inter-annotator agreement</a:t>
            </a:r>
            <a:endParaRPr sz="745" b="0">
              <a:solidFill>
                <a:srgbClr val="080967"/>
              </a:solidFill>
              <a:latin typeface="Times New Roman" panose="02020603050405020304"/>
              <a:ea typeface="Times New Roman" panose="02020603050405020304"/>
              <a:cs typeface="Times New Roman" panose="02020603050405020304"/>
            </a:endParaRPr>
          </a:p>
        </p:txBody>
      </p:sp>
      <p:pic>
        <p:nvPicPr>
          <p:cNvPr id="9" name="图片 8" descr="文本框边框"/>
          <p:cNvPicPr>
            <a:picLocks noChangeAspect="1"/>
          </p:cNvPicPr>
          <p:nvPr/>
        </p:nvPicPr>
        <p:blipFill>
          <a:blip r:embed="rId7">
            <a:extLst>
              <a:ext uri="{96DAC541-7B7A-43D3-8B79-37D633B846F1}">
                <asvg:svgBlip xmlns:asvg="http://schemas.microsoft.com/office/drawing/2016/SVG/main" r:embed="rId8"/>
              </a:ext>
            </a:extLst>
          </a:blip>
          <a:srcRect/>
          <a:stretch>
            <a:fillRect/>
          </a:stretch>
        </p:blipFill>
        <p:spPr>
          <a:xfrm>
            <a:off x="2771775" y="396482"/>
            <a:ext cx="845185" cy="845820"/>
          </a:xfrm>
          <a:prstGeom prst="rect">
            <a:avLst/>
          </a:prstGeom>
        </p:spPr>
      </p:pic>
      <p:sp>
        <p:nvSpPr>
          <p:cNvPr id="10" name="文本框 9"/>
          <p:cNvSpPr txBox="1"/>
          <p:nvPr/>
        </p:nvSpPr>
        <p:spPr>
          <a:xfrm>
            <a:off x="725805" y="396240"/>
            <a:ext cx="620395" cy="275590"/>
          </a:xfrm>
          <a:prstGeom prst="rect">
            <a:avLst/>
          </a:prstGeom>
          <a:noFill/>
        </p:spPr>
        <p:txBody>
          <a:bodyPr wrap="square" rtlCol="0">
            <a:spAutoFit/>
          </a:bodyPr>
          <a:lstStyle/>
          <a:p>
            <a:r>
              <a:rPr lang="en-US" altLang="zh-CN" sz="1200" b="1">
                <a:latin typeface="Times New Roman" panose="02020603050405020304" charset="0"/>
                <a:cs typeface="Times New Roman" panose="02020603050405020304" charset="0"/>
              </a:rPr>
              <a:t>NSF</a:t>
            </a:r>
            <a:endParaRPr lang="en-US" altLang="zh-CN" sz="1200" b="1">
              <a:latin typeface="Times New Roman" panose="02020603050405020304" charset="0"/>
              <a:cs typeface="Times New Roman" panose="02020603050405020304" charset="0"/>
            </a:endParaRPr>
          </a:p>
        </p:txBody>
      </p:sp>
      <p:sp>
        <p:nvSpPr>
          <p:cNvPr id="12" name="文本框 11"/>
          <p:cNvSpPr txBox="1"/>
          <p:nvPr/>
        </p:nvSpPr>
        <p:spPr>
          <a:xfrm>
            <a:off x="737235" y="936625"/>
            <a:ext cx="620395" cy="275590"/>
          </a:xfrm>
          <a:prstGeom prst="rect">
            <a:avLst/>
          </a:prstGeom>
          <a:noFill/>
        </p:spPr>
        <p:txBody>
          <a:bodyPr wrap="square" rtlCol="0">
            <a:spAutoFit/>
          </a:bodyPr>
          <a:lstStyle/>
          <a:p>
            <a:r>
              <a:rPr lang="en-US" altLang="zh-CN" sz="1200" b="1">
                <a:latin typeface="Times New Roman" panose="02020603050405020304" charset="0"/>
                <a:cs typeface="Times New Roman" panose="02020603050405020304" charset="0"/>
              </a:rPr>
              <a:t>NSFC</a:t>
            </a:r>
            <a:endParaRPr lang="en-US" altLang="zh-CN" sz="1200" b="1">
              <a:latin typeface="Times New Roman" panose="02020603050405020304" charset="0"/>
              <a:cs typeface="Times New Roman" panose="02020603050405020304" charset="0"/>
            </a:endParaRPr>
          </a:p>
        </p:txBody>
      </p:sp>
      <p:pic>
        <p:nvPicPr>
          <p:cNvPr id="54" name="图片 53" descr="放大镜"/>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0830" y="1334377"/>
            <a:ext cx="222885" cy="222885"/>
          </a:xfrm>
          <a:prstGeom prst="rect">
            <a:avLst/>
          </a:prstGeom>
        </p:spPr>
      </p:pic>
      <p:pic>
        <p:nvPicPr>
          <p:cNvPr id="82" name="图片 81" descr="标签"/>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016375" y="1212457"/>
            <a:ext cx="270510" cy="270510"/>
          </a:xfrm>
          <a:prstGeom prst="rect">
            <a:avLst/>
          </a:prstGeom>
        </p:spPr>
      </p:pic>
      <p:sp>
        <p:nvSpPr>
          <p:cNvPr id="113" name="右箭头 112"/>
          <p:cNvSpPr/>
          <p:nvPr/>
        </p:nvSpPr>
        <p:spPr>
          <a:xfrm>
            <a:off x="2512695" y="711442"/>
            <a:ext cx="238760" cy="201295"/>
          </a:xfrm>
          <a:prstGeom prst="rightArrow">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4" name="右箭头 113"/>
          <p:cNvSpPr/>
          <p:nvPr/>
        </p:nvSpPr>
        <p:spPr>
          <a:xfrm>
            <a:off x="3664585" y="724777"/>
            <a:ext cx="238760" cy="201295"/>
          </a:xfrm>
          <a:prstGeom prst="rightArrow">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5" name="text-6-1"/>
          <p:cNvSpPr>
            <a:spLocks noGrp="1"/>
          </p:cNvSpPr>
          <p:nvPr/>
        </p:nvSpPr>
        <p:spPr>
          <a:xfrm>
            <a:off x="60960" y="1739507"/>
            <a:ext cx="214630" cy="175895"/>
          </a:xfrm>
          <a:prstGeom prst="rect">
            <a:avLst/>
          </a:prstGeom>
          <a:noFill/>
          <a:ln w="0">
            <a:noFill/>
          </a:ln>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2</a:t>
            </a:r>
            <a:endParaRPr lang="en-US" sz="1600" b="1">
              <a:solidFill>
                <a:srgbClr val="334B5C"/>
              </a:solidFill>
              <a:latin typeface="Times New Roman" panose="02020603050405020304"/>
              <a:ea typeface="Times New Roman" panose="02020603050405020304"/>
              <a:cs typeface="Times New Roman" panose="02020603050405020304"/>
            </a:endParaRPr>
          </a:p>
        </p:txBody>
      </p:sp>
      <p:pic>
        <p:nvPicPr>
          <p:cNvPr id="128" name="图片 127" descr="文档"/>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7945" y="2246237"/>
            <a:ext cx="581025" cy="581025"/>
          </a:xfrm>
          <a:prstGeom prst="rect">
            <a:avLst/>
          </a:prstGeom>
        </p:spPr>
      </p:pic>
      <p:pic>
        <p:nvPicPr>
          <p:cNvPr id="134" name="图片 133" descr="调查表"/>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9160" y="2260842"/>
            <a:ext cx="419100" cy="419100"/>
          </a:xfrm>
          <a:prstGeom prst="rect">
            <a:avLst/>
          </a:prstGeom>
        </p:spPr>
      </p:pic>
      <p:pic>
        <p:nvPicPr>
          <p:cNvPr id="137" name="图片 136" descr="人工智能"/>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925955" y="2265922"/>
            <a:ext cx="386080" cy="386080"/>
          </a:xfrm>
          <a:prstGeom prst="rect">
            <a:avLst/>
          </a:prstGeom>
        </p:spPr>
      </p:pic>
      <p:pic>
        <p:nvPicPr>
          <p:cNvPr id="140" name="图片 139" descr="人"/>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168265" y="2705977"/>
            <a:ext cx="377190" cy="377190"/>
          </a:xfrm>
          <a:prstGeom prst="rect">
            <a:avLst/>
          </a:prstGeom>
        </p:spPr>
      </p:pic>
      <p:pic>
        <p:nvPicPr>
          <p:cNvPr id="143" name="图片 142" descr="人"/>
          <p:cNvPicPr>
            <a:picLocks noChangeAspect="1"/>
          </p:cNvPicPr>
          <p:nvPr/>
        </p:nvPicPr>
        <p:blipFill>
          <a:blip r:embed="rId19">
            <a:extLst>
              <a:ext uri="{96DAC541-7B7A-43D3-8B79-37D633B846F1}">
                <asvg:svgBlip xmlns:asvg="http://schemas.microsoft.com/office/drawing/2016/SVG/main" r:embed="rId21"/>
              </a:ext>
            </a:extLst>
          </a:blip>
          <a:stretch>
            <a:fillRect/>
          </a:stretch>
        </p:blipFill>
        <p:spPr>
          <a:xfrm>
            <a:off x="5962015" y="2705977"/>
            <a:ext cx="377190" cy="377190"/>
          </a:xfrm>
          <a:prstGeom prst="rect">
            <a:avLst/>
          </a:prstGeom>
        </p:spPr>
      </p:pic>
      <p:pic>
        <p:nvPicPr>
          <p:cNvPr id="151" name="图片 150" descr="勾勾"/>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591175" y="2793607"/>
            <a:ext cx="237490" cy="237490"/>
          </a:xfrm>
          <a:prstGeom prst="rect">
            <a:avLst/>
          </a:prstGeom>
        </p:spPr>
      </p:pic>
      <p:pic>
        <p:nvPicPr>
          <p:cNvPr id="158" name="图片 157" descr="勾勾"/>
          <p:cNvPicPr>
            <a:picLocks noChangeAspect="1"/>
          </p:cNvPicPr>
          <p:nvPr/>
        </p:nvPicPr>
        <p:blipFill>
          <a:blip r:embed="rId22">
            <a:extLst>
              <a:ext uri="{96DAC541-7B7A-43D3-8B79-37D633B846F1}">
                <asvg:svgBlip xmlns:asvg="http://schemas.microsoft.com/office/drawing/2016/SVG/main" r:embed="rId24"/>
              </a:ext>
            </a:extLst>
          </a:blip>
          <a:stretch>
            <a:fillRect/>
          </a:stretch>
        </p:blipFill>
        <p:spPr>
          <a:xfrm>
            <a:off x="6400800" y="2793607"/>
            <a:ext cx="237490" cy="237490"/>
          </a:xfrm>
          <a:prstGeom prst="rect">
            <a:avLst/>
          </a:prstGeom>
        </p:spPr>
      </p:pic>
      <p:pic>
        <p:nvPicPr>
          <p:cNvPr id="4" name="图片 3" descr="删除文本"/>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42240" y="3153652"/>
            <a:ext cx="276860" cy="276860"/>
          </a:xfrm>
          <a:prstGeom prst="rect">
            <a:avLst/>
          </a:prstGeom>
        </p:spPr>
      </p:pic>
      <p:pic>
        <p:nvPicPr>
          <p:cNvPr id="6" name="图片 5" descr="纸张"/>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264410" y="3236837"/>
            <a:ext cx="182880" cy="182880"/>
          </a:xfrm>
          <a:prstGeom prst="rect">
            <a:avLst/>
          </a:prstGeom>
        </p:spPr>
      </p:pic>
      <p:pic>
        <p:nvPicPr>
          <p:cNvPr id="13" name="图片 12" descr="纸张"/>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412875" y="3257792"/>
            <a:ext cx="165100" cy="165100"/>
          </a:xfrm>
          <a:prstGeom prst="rect">
            <a:avLst/>
          </a:prstGeom>
        </p:spPr>
      </p:pic>
      <p:pic>
        <p:nvPicPr>
          <p:cNvPr id="28" name="图片 27" descr="纸张"/>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861310" y="3248267"/>
            <a:ext cx="182880" cy="182880"/>
          </a:xfrm>
          <a:prstGeom prst="rect">
            <a:avLst/>
          </a:prstGeom>
        </p:spPr>
      </p:pic>
      <p:pic>
        <p:nvPicPr>
          <p:cNvPr id="30" name="图片 29" descr="纸张"/>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408680" y="3253347"/>
            <a:ext cx="182880" cy="182880"/>
          </a:xfrm>
          <a:prstGeom prst="rect">
            <a:avLst/>
          </a:prstGeom>
        </p:spPr>
      </p:pic>
      <p:pic>
        <p:nvPicPr>
          <p:cNvPr id="31" name="图片 30" descr="纸张"/>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995420" y="3253347"/>
            <a:ext cx="182880" cy="182880"/>
          </a:xfrm>
          <a:prstGeom prst="rect">
            <a:avLst/>
          </a:prstGeom>
        </p:spPr>
      </p:pic>
      <p:pic>
        <p:nvPicPr>
          <p:cNvPr id="45" name="图片 44" descr="纸张"/>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488815" y="3238742"/>
            <a:ext cx="182880" cy="204470"/>
          </a:xfrm>
          <a:prstGeom prst="rect">
            <a:avLst/>
          </a:prstGeom>
        </p:spPr>
      </p:pic>
      <p:sp>
        <p:nvSpPr>
          <p:cNvPr id="50" name="text-6-1"/>
          <p:cNvSpPr>
            <a:spLocks noGrp="1"/>
          </p:cNvSpPr>
          <p:nvPr/>
        </p:nvSpPr>
        <p:spPr>
          <a:xfrm>
            <a:off x="76200" y="3636887"/>
            <a:ext cx="214630" cy="175895"/>
          </a:xfrm>
          <a:prstGeom prst="rect">
            <a:avLst/>
          </a:prstGeom>
          <a:noFill/>
          <a:ln w="0">
            <a:noFill/>
          </a:ln>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3</a:t>
            </a:r>
            <a:endParaRPr lang="en-US" sz="1600" b="1">
              <a:solidFill>
                <a:srgbClr val="334B5C"/>
              </a:solidFill>
              <a:latin typeface="Times New Roman" panose="02020603050405020304"/>
              <a:ea typeface="Times New Roman" panose="02020603050405020304"/>
              <a:cs typeface="Times New Roman" panose="02020603050405020304"/>
            </a:endParaRPr>
          </a:p>
        </p:txBody>
      </p:sp>
      <p:pic>
        <p:nvPicPr>
          <p:cNvPr id="60" name="图片 59" descr="ai_picture_gb_1789288756389_si59oj1j_0"/>
          <p:cNvPicPr>
            <a:picLocks noChangeAspect="1"/>
          </p:cNvPicPr>
          <p:nvPr>
            <p:custDataLst>
              <p:tags r:id="rId29"/>
            </p:custDataLst>
          </p:nvPr>
        </p:nvPicPr>
        <p:blipFill>
          <a:blip r:embed="rId30"/>
          <a:stretch>
            <a:fillRect/>
          </a:stretch>
        </p:blipFill>
        <p:spPr>
          <a:xfrm>
            <a:off x="26035" y="4565257"/>
            <a:ext cx="883920" cy="942340"/>
          </a:xfrm>
          <a:prstGeom prst="rect">
            <a:avLst/>
          </a:prstGeom>
        </p:spPr>
      </p:pic>
      <p:pic>
        <p:nvPicPr>
          <p:cNvPr id="61" name="图片 60" descr="书"/>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6845" y="3869297"/>
            <a:ext cx="598805" cy="598805"/>
          </a:xfrm>
          <a:prstGeom prst="rect">
            <a:avLst/>
          </a:prstGeom>
        </p:spPr>
      </p:pic>
      <p:pic>
        <p:nvPicPr>
          <p:cNvPr id="66" name="图片 65" descr="纸"/>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413510" y="3876917"/>
            <a:ext cx="512445" cy="512445"/>
          </a:xfrm>
          <a:prstGeom prst="rect">
            <a:avLst/>
          </a:prstGeom>
        </p:spPr>
      </p:pic>
      <p:pic>
        <p:nvPicPr>
          <p:cNvPr id="71" name="图片 70" descr="城市"/>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482850" y="4109327"/>
            <a:ext cx="288925" cy="288925"/>
          </a:xfrm>
          <a:prstGeom prst="rect">
            <a:avLst/>
          </a:prstGeom>
        </p:spPr>
      </p:pic>
      <p:pic>
        <p:nvPicPr>
          <p:cNvPr id="76" name="图片 75" descr="柱状图"/>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3069590" y="4139807"/>
            <a:ext cx="290195" cy="290195"/>
          </a:xfrm>
          <a:prstGeom prst="rect">
            <a:avLst/>
          </a:prstGeom>
        </p:spPr>
      </p:pic>
      <p:pic>
        <p:nvPicPr>
          <p:cNvPr id="106" name="图片 105" descr="社群"/>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3684905" y="4103612"/>
            <a:ext cx="331470" cy="331470"/>
          </a:xfrm>
          <a:prstGeom prst="rect">
            <a:avLst/>
          </a:prstGeom>
        </p:spPr>
      </p:pic>
      <p:pic>
        <p:nvPicPr>
          <p:cNvPr id="107" name="图片 106" descr="电灯泡"/>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2461260" y="4726547"/>
            <a:ext cx="302895" cy="302895"/>
          </a:xfrm>
          <a:prstGeom prst="rect">
            <a:avLst/>
          </a:prstGeom>
        </p:spPr>
      </p:pic>
      <p:pic>
        <p:nvPicPr>
          <p:cNvPr id="112" name="图片 111" descr="齿轮"/>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3014980" y="4684002"/>
            <a:ext cx="393065" cy="393065"/>
          </a:xfrm>
          <a:prstGeom prst="rect">
            <a:avLst/>
          </a:prstGeom>
        </p:spPr>
      </p:pic>
      <p:pic>
        <p:nvPicPr>
          <p:cNvPr id="131" name="图片 130" descr="时钟"/>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3692525" y="4726547"/>
            <a:ext cx="323850" cy="323850"/>
          </a:xfrm>
          <a:prstGeom prst="rect">
            <a:avLst/>
          </a:prstGeom>
        </p:spPr>
      </p:pic>
      <p:pic>
        <p:nvPicPr>
          <p:cNvPr id="167" name="图片 166" descr="人-头像"/>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4279265" y="4044557"/>
            <a:ext cx="344805" cy="344805"/>
          </a:xfrm>
          <a:prstGeom prst="rect">
            <a:avLst/>
          </a:prstGeom>
        </p:spPr>
      </p:pic>
      <p:pic>
        <p:nvPicPr>
          <p:cNvPr id="170" name="图片 169" descr="纸张"/>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4334510" y="4468102"/>
            <a:ext cx="182880" cy="182880"/>
          </a:xfrm>
          <a:prstGeom prst="rect">
            <a:avLst/>
          </a:prstGeom>
        </p:spPr>
      </p:pic>
      <p:pic>
        <p:nvPicPr>
          <p:cNvPr id="173" name="图片 172" descr="数据"/>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4333240" y="4666857"/>
            <a:ext cx="196850" cy="196850"/>
          </a:xfrm>
          <a:prstGeom prst="rect">
            <a:avLst/>
          </a:prstGeom>
        </p:spPr>
      </p:pic>
      <p:pic>
        <p:nvPicPr>
          <p:cNvPr id="176" name="图片 175" descr="放大镜"/>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4359910" y="4875772"/>
            <a:ext cx="149225" cy="149225"/>
          </a:xfrm>
          <a:prstGeom prst="rect">
            <a:avLst/>
          </a:prstGeom>
        </p:spPr>
      </p:pic>
      <p:pic>
        <p:nvPicPr>
          <p:cNvPr id="179" name="图片 178" descr="大括号"/>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4359910" y="5045317"/>
            <a:ext cx="135255" cy="135255"/>
          </a:xfrm>
          <a:prstGeom prst="rect">
            <a:avLst/>
          </a:prstGeom>
        </p:spPr>
      </p:pic>
      <p:pic>
        <p:nvPicPr>
          <p:cNvPr id="182" name="图片 181" descr="正方形"/>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4359910" y="5189462"/>
            <a:ext cx="151765" cy="151765"/>
          </a:xfrm>
          <a:prstGeom prst="rect">
            <a:avLst/>
          </a:prstGeom>
        </p:spPr>
      </p:pic>
      <p:pic>
        <p:nvPicPr>
          <p:cNvPr id="187" name="图片 186" descr="纸张"/>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5557520" y="4468102"/>
            <a:ext cx="182880" cy="182880"/>
          </a:xfrm>
          <a:prstGeom prst="rect">
            <a:avLst/>
          </a:prstGeom>
        </p:spPr>
      </p:pic>
      <p:pic>
        <p:nvPicPr>
          <p:cNvPr id="191" name="图片 190" descr="禁止"/>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5557520" y="4666857"/>
            <a:ext cx="190500" cy="190500"/>
          </a:xfrm>
          <a:prstGeom prst="rect">
            <a:avLst/>
          </a:prstGeom>
        </p:spPr>
      </p:pic>
      <p:pic>
        <p:nvPicPr>
          <p:cNvPr id="193" name="图片 192" descr="网络"/>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5539105" y="4863707"/>
            <a:ext cx="213995" cy="213995"/>
          </a:xfrm>
          <a:prstGeom prst="rect">
            <a:avLst/>
          </a:prstGeom>
        </p:spPr>
      </p:pic>
      <p:pic>
        <p:nvPicPr>
          <p:cNvPr id="195" name="图片 194" descr="勾标"/>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5532120" y="5106912"/>
            <a:ext cx="220980" cy="220980"/>
          </a:xfrm>
          <a:prstGeom prst="rect">
            <a:avLst/>
          </a:prstGeom>
        </p:spPr>
      </p:pic>
      <p:sp>
        <p:nvSpPr>
          <p:cNvPr id="197" name="text-6-1"/>
          <p:cNvSpPr>
            <a:spLocks noGrp="1"/>
          </p:cNvSpPr>
          <p:nvPr/>
        </p:nvSpPr>
        <p:spPr>
          <a:xfrm>
            <a:off x="94615" y="5508232"/>
            <a:ext cx="214630" cy="175895"/>
          </a:xfrm>
          <a:prstGeom prst="rect">
            <a:avLst/>
          </a:prstGeom>
          <a:noFill/>
          <a:ln w="0">
            <a:noFill/>
          </a:ln>
          <a:extLst>
            <a:ext uri="{909E8E84-426E-40DD-AFC4-6F175D3DCCD1}">
              <a14:hiddenFill xmlns:a14="http://schemas.microsoft.com/office/drawing/2010/main">
                <a:solidFill>
                  <a:schemeClr val="accent2">
                    <a:lumMod val="50000"/>
                  </a:schemeClr>
                </a:solidFill>
              </a14:hiddenFill>
            </a:ext>
          </a:extLst>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4</a:t>
            </a:r>
            <a:endParaRPr lang="en-US" sz="1600" b="1">
              <a:solidFill>
                <a:srgbClr val="334B5C"/>
              </a:solidFill>
              <a:latin typeface="Times New Roman" panose="02020603050405020304"/>
              <a:ea typeface="Times New Roman" panose="02020603050405020304"/>
              <a:cs typeface="Times New Roman" panose="02020603050405020304"/>
            </a:endParaRPr>
          </a:p>
        </p:txBody>
      </p:sp>
      <p:pic>
        <p:nvPicPr>
          <p:cNvPr id="199" name="图片 198" descr="放大镜"/>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1236980" y="5978767"/>
            <a:ext cx="236220" cy="236220"/>
          </a:xfrm>
          <a:prstGeom prst="rect">
            <a:avLst/>
          </a:prstGeom>
        </p:spPr>
      </p:pic>
      <p:pic>
        <p:nvPicPr>
          <p:cNvPr id="2" name="图片 1" descr="编辑"/>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2125345" y="5964797"/>
            <a:ext cx="270510" cy="270510"/>
          </a:xfrm>
          <a:prstGeom prst="rect">
            <a:avLst/>
          </a:prstGeom>
        </p:spPr>
      </p:pic>
      <p:pic>
        <p:nvPicPr>
          <p:cNvPr id="14" name="图片 13" descr="多人对话"/>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188595" y="6688062"/>
            <a:ext cx="313690" cy="313690"/>
          </a:xfrm>
          <a:prstGeom prst="rect">
            <a:avLst/>
          </a:prstGeom>
        </p:spPr>
      </p:pic>
      <p:pic>
        <p:nvPicPr>
          <p:cNvPr id="15" name="图片 14" descr="锁"/>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248920" y="7120497"/>
            <a:ext cx="175895" cy="175895"/>
          </a:xfrm>
          <a:prstGeom prst="rect">
            <a:avLst/>
          </a:prstGeom>
        </p:spPr>
      </p:pic>
      <p:pic>
        <p:nvPicPr>
          <p:cNvPr id="23" name="图片 22" descr="列表"/>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2784475" y="6065762"/>
            <a:ext cx="598170" cy="598170"/>
          </a:xfrm>
          <a:prstGeom prst="rect">
            <a:avLst/>
          </a:prstGeom>
        </p:spPr>
      </p:pic>
      <p:pic>
        <p:nvPicPr>
          <p:cNvPr id="25" name="图片 24" descr="柱状图"/>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4919345" y="6086082"/>
            <a:ext cx="574675" cy="359410"/>
          </a:xfrm>
          <a:prstGeom prst="rect">
            <a:avLst/>
          </a:prstGeom>
        </p:spPr>
      </p:pic>
      <p:pic>
        <p:nvPicPr>
          <p:cNvPr id="26" name="图片 25" descr="循环"/>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5464810" y="6868402"/>
            <a:ext cx="261620" cy="261620"/>
          </a:xfrm>
          <a:prstGeom prst="rect">
            <a:avLst/>
          </a:prstGeom>
        </p:spPr>
      </p:pic>
      <p:pic>
        <p:nvPicPr>
          <p:cNvPr id="27" name="图片 26" descr="大脑"/>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3973195" y="6180697"/>
            <a:ext cx="351155" cy="290830"/>
          </a:xfrm>
          <a:prstGeom prst="rect">
            <a:avLst/>
          </a:prstGeom>
        </p:spPr>
      </p:pic>
      <p:pic>
        <p:nvPicPr>
          <p:cNvPr id="120" name="图片 119" descr="日历"/>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6253480" y="6096242"/>
            <a:ext cx="302895" cy="302895"/>
          </a:xfrm>
          <a:prstGeom prst="rect">
            <a:avLst/>
          </a:prstGeom>
        </p:spPr>
      </p:pic>
      <p:pic>
        <p:nvPicPr>
          <p:cNvPr id="121" name="图片 120" descr="日历"/>
          <p:cNvPicPr>
            <a:picLocks noChangeAspect="1"/>
          </p:cNvPicPr>
          <p:nvPr/>
        </p:nvPicPr>
        <p:blipFill>
          <a:blip r:embed="rId81">
            <a:extLst>
              <a:ext uri="{96DAC541-7B7A-43D3-8B79-37D633B846F1}">
                <asvg:svgBlip xmlns:asvg="http://schemas.microsoft.com/office/drawing/2016/SVG/main" r:embed="rId83"/>
              </a:ext>
            </a:extLst>
          </a:blip>
          <a:stretch>
            <a:fillRect/>
          </a:stretch>
        </p:blipFill>
        <p:spPr>
          <a:xfrm>
            <a:off x="6253480" y="6811252"/>
            <a:ext cx="302895" cy="302895"/>
          </a:xfrm>
          <a:prstGeom prst="rect">
            <a:avLst/>
          </a:prstGeom>
        </p:spPr>
      </p:pic>
      <p:pic>
        <p:nvPicPr>
          <p:cNvPr id="148" name="图片 147" descr="阶梯"/>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5225415" y="7988542"/>
            <a:ext cx="187960" cy="187960"/>
          </a:xfrm>
          <a:prstGeom prst="rect">
            <a:avLst/>
          </a:prstGeom>
        </p:spPr>
      </p:pic>
      <p:pic>
        <p:nvPicPr>
          <p:cNvPr id="149" name="图片 148" descr="阶梯"/>
          <p:cNvPicPr>
            <a:picLocks noChangeAspect="1"/>
          </p:cNvPicPr>
          <p:nvPr/>
        </p:nvPicPr>
        <p:blipFill>
          <a:blip r:embed="rId84">
            <a:extLst>
              <a:ext uri="{96DAC541-7B7A-43D3-8B79-37D633B846F1}">
                <asvg:svgBlip xmlns:asvg="http://schemas.microsoft.com/office/drawing/2016/SVG/main" r:embed="rId86"/>
              </a:ext>
            </a:extLst>
          </a:blip>
          <a:stretch>
            <a:fillRect/>
          </a:stretch>
        </p:blipFill>
        <p:spPr>
          <a:xfrm>
            <a:off x="5227320" y="8213967"/>
            <a:ext cx="187960" cy="187960"/>
          </a:xfrm>
          <a:prstGeom prst="rect">
            <a:avLst/>
          </a:prstGeom>
        </p:spPr>
      </p:pic>
      <p:pic>
        <p:nvPicPr>
          <p:cNvPr id="153" name="图片 152" descr="洽谈"/>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5194935" y="8401927"/>
            <a:ext cx="269875" cy="269875"/>
          </a:xfrm>
          <a:prstGeom prst="rect">
            <a:avLst/>
          </a:prstGeom>
        </p:spPr>
      </p:pic>
      <p:sp>
        <p:nvSpPr>
          <p:cNvPr id="161" name="text-6-1"/>
          <p:cNvSpPr>
            <a:spLocks noGrp="1"/>
          </p:cNvSpPr>
          <p:nvPr/>
        </p:nvSpPr>
        <p:spPr>
          <a:xfrm>
            <a:off x="114935" y="7520547"/>
            <a:ext cx="214630" cy="175895"/>
          </a:xfrm>
          <a:prstGeom prst="rect">
            <a:avLst/>
          </a:prstGeom>
          <a:noFill/>
          <a:ln w="0">
            <a:noFill/>
          </a:ln>
          <a:extLst>
            <a:ext uri="{909E8E84-426E-40DD-AFC4-6F175D3DCCD1}">
              <a14:hiddenFill xmlns:a14="http://schemas.microsoft.com/office/drawing/2010/main">
                <a:solidFill>
                  <a:schemeClr val="accent2">
                    <a:lumMod val="50000"/>
                  </a:schemeClr>
                </a:solidFill>
              </a14:hiddenFill>
            </a:ext>
          </a:extLst>
        </p:spPr>
        <p:txBody>
          <a:bodyPr wrap="none" lIns="0" tIns="0" rIns="0" bIns="0" anchor="ctr">
            <a:noAutofit/>
          </a:bodyPr>
          <a:lstStyle/>
          <a:p>
            <a:pPr algn="ctr">
              <a:defRPr sz="2550" b="1">
                <a:solidFill>
                  <a:srgbClr val="334B5C"/>
                </a:solidFill>
                <a:latin typeface="Times New Roman" panose="02020603050405020304"/>
                <a:ea typeface="Times New Roman" panose="02020603050405020304"/>
                <a:cs typeface="Times New Roman" panose="02020603050405020304"/>
              </a:defRPr>
            </a:pPr>
            <a:r>
              <a:rPr lang="en-US" sz="1600" b="1">
                <a:solidFill>
                  <a:srgbClr val="334B5C"/>
                </a:solidFill>
                <a:latin typeface="Times New Roman" panose="02020603050405020304"/>
                <a:ea typeface="Times New Roman" panose="02020603050405020304"/>
                <a:cs typeface="Times New Roman" panose="02020603050405020304"/>
              </a:rPr>
              <a:t>5</a:t>
            </a:r>
            <a:endParaRPr lang="en-US" sz="1600" b="1">
              <a:solidFill>
                <a:srgbClr val="334B5C"/>
              </a:solidFill>
              <a:latin typeface="Times New Roman" panose="02020603050405020304"/>
              <a:ea typeface="Times New Roman" panose="02020603050405020304"/>
              <a:cs typeface="Times New Roman" panose="02020603050405020304"/>
            </a:endParaRPr>
          </a:p>
        </p:txBody>
      </p:sp>
      <p:sp>
        <p:nvSpPr>
          <p:cNvPr id="201" name="path-333-"/>
          <p:cNvSpPr>
            <a:spLocks noGrp="1"/>
          </p:cNvSpPr>
          <p:nvPr/>
        </p:nvSpPr>
        <p:spPr>
          <a:xfrm>
            <a:off x="4818380" y="8501622"/>
            <a:ext cx="173355" cy="76200"/>
          </a:xfrm>
          <a:custGeom>
            <a:avLst/>
            <a:gdLst/>
            <a:ahLst/>
            <a:cxnLst/>
            <a:rect l="0" t="0" r="0" b="0"/>
            <a:pathLst>
              <a:path w="171450" h="95">
                <a:moveTo>
                  <a:pt x="0" y="0"/>
                </a:moveTo>
                <a:lnTo>
                  <a:pt x="171450" y="0"/>
                </a:lnTo>
              </a:path>
            </a:pathLst>
          </a:custGeom>
          <a:noFill/>
          <a:ln w="23813">
            <a:solidFill>
              <a:schemeClr val="bg2">
                <a:lumMod val="50000"/>
              </a:schemeClr>
            </a:solidFill>
            <a:prstDash val="solid"/>
          </a:ln>
        </p:spPr>
        <p:txBody>
          <a:bodyPr/>
          <a:lstStyle/>
          <a:p>
            <a:endParaRPr lang="zh-CN" altLang="en-US"/>
          </a:p>
        </p:txBody>
      </p:sp>
      <p:sp>
        <p:nvSpPr>
          <p:cNvPr id="203" name="polygon-334-"/>
          <p:cNvSpPr>
            <a:spLocks noGrp="1"/>
          </p:cNvSpPr>
          <p:nvPr/>
        </p:nvSpPr>
        <p:spPr>
          <a:xfrm>
            <a:off x="4991735" y="8459712"/>
            <a:ext cx="76200" cy="76835"/>
          </a:xfrm>
          <a:custGeom>
            <a:avLst/>
            <a:gdLst/>
            <a:ahLst/>
            <a:cxnLst/>
            <a:rect l="0" t="0" r="0" b="0"/>
            <a:pathLst>
              <a:path w="95250" h="108585">
                <a:moveTo>
                  <a:pt x="95250" y="54293"/>
                </a:moveTo>
                <a:lnTo>
                  <a:pt x="0" y="0"/>
                </a:lnTo>
                <a:lnTo>
                  <a:pt x="0" y="108585"/>
                </a:lnTo>
                <a:close/>
              </a:path>
            </a:pathLst>
          </a:custGeom>
          <a:solidFill>
            <a:schemeClr val="bg2">
              <a:lumMod val="50000"/>
            </a:schemeClr>
          </a:solidFill>
          <a:ln w="0">
            <a:solidFill>
              <a:schemeClr val="bg2">
                <a:lumMod val="50000"/>
              </a:schemeClr>
            </a:solidFill>
            <a:prstDash val="solid"/>
          </a:ln>
        </p:spPr>
        <p:txBody>
          <a:bodyPr/>
          <a:lstStyle/>
          <a:p>
            <a:endParaRPr lang="zh-CN" altLang="en-US"/>
          </a:p>
        </p:txBody>
      </p:sp>
      <p:pic>
        <p:nvPicPr>
          <p:cNvPr id="205" name="图片 204" descr="复制"/>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107950" y="8009497"/>
            <a:ext cx="568325" cy="568325"/>
          </a:xfrm>
          <a:prstGeom prst="rect">
            <a:avLst/>
          </a:prstGeom>
        </p:spPr>
      </p:pic>
      <p:pic>
        <p:nvPicPr>
          <p:cNvPr id="212" name="图片 211" descr="多人沟通"/>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2322195" y="7933297"/>
            <a:ext cx="468630" cy="468630"/>
          </a:xfrm>
          <a:prstGeom prst="rect">
            <a:avLst/>
          </a:prstGeom>
        </p:spPr>
      </p:pic>
      <p:pic>
        <p:nvPicPr>
          <p:cNvPr id="213" name="图片 212" descr="人"/>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3645535" y="7818997"/>
            <a:ext cx="452755" cy="452755"/>
          </a:xfrm>
          <a:prstGeom prst="rect">
            <a:avLst/>
          </a:prstGeom>
        </p:spPr>
      </p:pic>
      <p:sp>
        <p:nvSpPr>
          <p:cNvPr id="227" name="矩形 226"/>
          <p:cNvSpPr/>
          <p:nvPr/>
        </p:nvSpPr>
        <p:spPr>
          <a:xfrm>
            <a:off x="45085" y="89535"/>
            <a:ext cx="6716395" cy="1583690"/>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46" name="矩形 245"/>
          <p:cNvSpPr/>
          <p:nvPr/>
        </p:nvSpPr>
        <p:spPr>
          <a:xfrm>
            <a:off x="53975" y="1745615"/>
            <a:ext cx="6716395" cy="1791335"/>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256" name="图片 255" descr="美国地图_流程图图标"/>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5173980" y="2317115"/>
            <a:ext cx="678180" cy="474980"/>
          </a:xfrm>
          <a:prstGeom prst="rect">
            <a:avLst/>
          </a:prstGeom>
        </p:spPr>
      </p:pic>
      <p:pic>
        <p:nvPicPr>
          <p:cNvPr id="263" name="图片 262" descr="中国地图_流程图图标"/>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5811520" y="2280285"/>
            <a:ext cx="982980" cy="688340"/>
          </a:xfrm>
          <a:prstGeom prst="rect">
            <a:avLst/>
          </a:prstGeom>
        </p:spPr>
      </p:pic>
      <p:sp>
        <p:nvSpPr>
          <p:cNvPr id="288" name="矩形 287"/>
          <p:cNvSpPr/>
          <p:nvPr/>
        </p:nvSpPr>
        <p:spPr>
          <a:xfrm>
            <a:off x="60960" y="3617595"/>
            <a:ext cx="6716395" cy="1791335"/>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93" name="矩形 292"/>
          <p:cNvSpPr/>
          <p:nvPr/>
        </p:nvSpPr>
        <p:spPr>
          <a:xfrm>
            <a:off x="78105" y="5477510"/>
            <a:ext cx="6716395" cy="1964055"/>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94" name="矩形 293"/>
          <p:cNvSpPr/>
          <p:nvPr/>
        </p:nvSpPr>
        <p:spPr>
          <a:xfrm>
            <a:off x="76200" y="7487285"/>
            <a:ext cx="6734810" cy="1247140"/>
          </a:xfrm>
          <a:prstGeom prst="rect">
            <a:avLst/>
          </a:prstGeom>
          <a:ln w="12700">
            <a:solidFill>
              <a:schemeClr val="bg1">
                <a:lumMod val="65000"/>
              </a:schemeClr>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303" name="图片 302" descr="笔记本"/>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2790825" y="2245995"/>
            <a:ext cx="459740" cy="459740"/>
          </a:xfrm>
          <a:prstGeom prst="rect">
            <a:avLst/>
          </a:prstGeom>
        </p:spPr>
      </p:pic>
      <p:sp>
        <p:nvSpPr>
          <p:cNvPr id="73" name="path-72-"/>
          <p:cNvSpPr>
            <a:spLocks noGrp="1"/>
          </p:cNvSpPr>
          <p:nvPr/>
        </p:nvSpPr>
        <p:spPr>
          <a:xfrm>
            <a:off x="1453353" y="2490047"/>
            <a:ext cx="223100" cy="67"/>
          </a:xfrm>
          <a:custGeom>
            <a:avLst/>
            <a:gdLst/>
            <a:ahLst/>
            <a:cxnLst/>
            <a:rect l="0" t="0" r="0" b="0"/>
            <a:pathLst>
              <a:path w="314325" h="95">
                <a:moveTo>
                  <a:pt x="0" y="0"/>
                </a:moveTo>
                <a:lnTo>
                  <a:pt x="314325" y="0"/>
                </a:lnTo>
              </a:path>
            </a:pathLst>
          </a:custGeom>
          <a:solidFill>
            <a:schemeClr val="bg1">
              <a:lumMod val="50000"/>
            </a:schemeClr>
          </a:solidFill>
          <a:ln w="23813">
            <a:solidFill>
              <a:schemeClr val="bg2">
                <a:lumMod val="50000"/>
              </a:schemeClr>
            </a:solidFill>
            <a:prstDash val="solid"/>
          </a:ln>
        </p:spPr>
        <p:txBody>
          <a:bodyPr/>
          <a:lstStyle/>
          <a:p>
            <a:endParaRPr lang="zh-CN" altLang="en-US"/>
          </a:p>
        </p:txBody>
      </p:sp>
    </p:spTree>
  </p:cSld>
  <p:clrMapOvr>
    <a:masterClrMapping/>
  </p:clrMapOvr>
</p:sld>
</file>

<file path=ppt/tags/tag1.xml><?xml version="1.0" encoding="utf-8"?>
<p:tagLst xmlns:p="http://schemas.openxmlformats.org/presentationml/2006/main">
  <p:tag name="KSO_DOCER_RESOURCE_TRACE_INFO" val="{&quot;id&quot;:&quot;&quot;,&quot;origin&quot;:0,&quot;type&quot;:&quot;pictures&quot;,&quot;user&quot;:&quot;543928486&quot;}"/>
</p:tagLst>
</file>

<file path=ppt/tags/tag2.xml><?xml version="1.0" encoding="utf-8"?>
<p:tagLst xmlns:p="http://schemas.openxmlformats.org/presentationml/2006/main">
  <p:tag name="RESOURCE_RECORD_KEY" val="{&quot;10&quot;:[19983576]}"/>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2348</Words>
  <Application>WPS 演示</Application>
  <PresentationFormat>自定义</PresentationFormat>
  <Paragraphs>259</Paragraphs>
  <Slides>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Times New Roman</vt:lpstr>
      <vt:lpstr>Times New Roman</vt:lpstr>
      <vt:lpstr>Calibri</vt:lpstr>
      <vt:lpstr>微软雅黑</vt:lpstr>
      <vt:lpstr>Arial Unicode MS</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Yuqiao Zhang</cp:lastModifiedBy>
  <cp:revision>14</cp:revision>
  <dcterms:created xsi:type="dcterms:W3CDTF">2026-09-13T07:31:00Z</dcterms:created>
  <dcterms:modified xsi:type="dcterms:W3CDTF">2026-10-30T06:39:38Z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514B82181FF048F3B4BBF1BED7F6DC9E_13</vt:lpwstr>
  </property>
</Properties>
</file>